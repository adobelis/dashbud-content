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embeddedFontLst>
    <p:embeddedFont>
      <p:font typeface="Calibri" panose="020F0502020204030204" pitchFamily="34" charset="0"/>
      <p:regular r:id="rId31"/>
      <p:bold r:id="rId32"/>
      <p:italic r:id="rId33"/>
      <p:boldItalic r:id="rId34"/>
    </p:embeddedFont>
    <p:embeddedFont>
      <p:font typeface="Inter" panose="02000503000000020004" pitchFamily="2" charset="0"/>
      <p:bold r:id="rId35"/>
      <p:italic r:id="rId36"/>
      <p:boldItalic r:id="rId37"/>
    </p:embeddedFont>
    <p:embeddedFont>
      <p:font typeface="Inter ExtraBold" panose="02000503000000020004" pitchFamily="2" charset="0"/>
      <p:bold r:id="rId38"/>
      <p:italic r:id="rId39"/>
      <p:boldItalic r:id="rId40"/>
    </p:embeddedFont>
    <p:embeddedFont>
      <p:font typeface="Inter Medium" panose="02000503000000020004"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B65E0C-8300-4590-BBFE-23C9AD8D2CAE}">
  <a:tblStyle styleId="{A2B65E0C-8300-4590-BBFE-23C9AD8D2CA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94"/>
  </p:normalViewPr>
  <p:slideViewPr>
    <p:cSldViewPr snapToGrid="0">
      <p:cViewPr varScale="1">
        <p:scale>
          <a:sx n="121" d="100"/>
          <a:sy n="121" d="100"/>
        </p:scale>
        <p:origin x="304" y="1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 Id="rId41" Type="http://schemas.openxmlformats.org/officeDocument/2006/relationships/font" Target="fonts/font11.fntdata"/><Relationship Id="rId42" Type="http://schemas.openxmlformats.org/officeDocument/2006/relationships/font" Target="fonts/font12.fntdata"/><Relationship Id="rId43" Type="http://schemas.openxmlformats.org/officeDocument/2006/relationships/font" Target="fonts/font13.fntdata"/><Relationship Id="rId44" Type="http://schemas.openxmlformats.org/officeDocument/2006/relationships/font" Target="fonts/font14.fntdata"/><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6" name="Google Shape;16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7" name="Google Shape;24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3" name="Google Shape;25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7" name="Google Shape;26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4" name="Google Shape;27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1" name="Google Shape;281;p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2" name="Google Shape;302;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3" name="Google Shape;313;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5" name="Google Shape;38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f3bdbf0fdb_0_4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3f3bdbf0fdb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1" name="Google Shape;411;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4" name="Google Shape;42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3" name="Google Shape;23;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5" name="Google Shape;35;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2" name="Google Shape;4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8" name="Google Shape;48;p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9" name="Google Shape;49;p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0" name="Google Shape;50;p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546E"/>
        </a:solidFill>
        <a:effectLst/>
      </p:bgPr>
    </p:bg>
    <p:spTree>
      <p:nvGrpSpPr>
        <p:cNvPr id="1" name="Shape 83"/>
        <p:cNvGrpSpPr/>
        <p:nvPr/>
      </p:nvGrpSpPr>
      <p:grpSpPr>
        <a:xfrm>
          <a:off x="0" y="0"/>
          <a:ext cx="0" cy="0"/>
          <a:chOff x="0" y="0"/>
          <a:chExt cx="0" cy="0"/>
        </a:xfrm>
      </p:grpSpPr>
      <p:sp>
        <p:nvSpPr>
          <p:cNvPr id="84" name="Google Shape;84;p13"/>
          <p:cNvSpPr txBox="1"/>
          <p:nvPr/>
        </p:nvSpPr>
        <p:spPr>
          <a:xfrm>
            <a:off x="1371600" y="1828800"/>
            <a:ext cx="9144000" cy="137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400"/>
              <a:buFont typeface="Arial"/>
              <a:buNone/>
            </a:pPr>
            <a:r>
              <a:rPr lang="en-US" sz="5400" b="1" i="0" u="none" strike="noStrike" cap="none">
                <a:solidFill>
                  <a:srgbClr val="FFFFFF"/>
                </a:solidFill>
                <a:latin typeface="Calibri"/>
                <a:ea typeface="Calibri"/>
                <a:cs typeface="Calibri"/>
                <a:sym typeface="Calibri"/>
              </a:rPr>
              <a:t>Dashbud</a:t>
            </a:r>
            <a:endParaRPr sz="1400" b="0" i="0" u="none" strike="noStrike" cap="none">
              <a:solidFill>
                <a:srgbClr val="000000"/>
              </a:solidFill>
              <a:latin typeface="Arial"/>
              <a:ea typeface="Arial"/>
              <a:cs typeface="Arial"/>
              <a:sym typeface="Arial"/>
            </a:endParaRPr>
          </a:p>
        </p:txBody>
      </p:sp>
      <p:sp>
        <p:nvSpPr>
          <p:cNvPr id="85" name="Google Shape;85;p13"/>
          <p:cNvSpPr txBox="1"/>
          <p:nvPr/>
        </p:nvSpPr>
        <p:spPr>
          <a:xfrm>
            <a:off x="1371600" y="3200400"/>
            <a:ext cx="91440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E0F4F9"/>
                </a:solidFill>
                <a:latin typeface="Calibri"/>
                <a:ea typeface="Calibri"/>
                <a:cs typeface="Calibri"/>
                <a:sym typeface="Calibri"/>
              </a:rPr>
              <a:t>AI-powered analytics for all your data</a:t>
            </a:r>
            <a:endParaRPr sz="1400" b="0" i="0" u="none" strike="noStrike" cap="none">
              <a:solidFill>
                <a:srgbClr val="000000"/>
              </a:solidFill>
              <a:latin typeface="Arial"/>
              <a:ea typeface="Arial"/>
              <a:cs typeface="Arial"/>
              <a:sym typeface="Arial"/>
            </a:endParaRPr>
          </a:p>
        </p:txBody>
      </p:sp>
      <p:sp>
        <p:nvSpPr>
          <p:cNvPr id="86" name="Google Shape;86;p13"/>
          <p:cNvSpPr txBox="1"/>
          <p:nvPr/>
        </p:nvSpPr>
        <p:spPr>
          <a:xfrm>
            <a:off x="1371600" y="5029200"/>
            <a:ext cx="91440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0BBCE"/>
                </a:solidFill>
                <a:latin typeface="Calibri"/>
                <a:ea typeface="Calibri"/>
                <a:cs typeface="Calibri"/>
                <a:sym typeface="Calibri"/>
              </a:rPr>
              <a:t>getdashbud.com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90"/>
        <p:cNvGrpSpPr/>
        <p:nvPr/>
      </p:nvGrpSpPr>
      <p:grpSpPr>
        <a:xfrm>
          <a:off x="0" y="0"/>
          <a:ext cx="0" cy="0"/>
          <a:chOff x="0" y="0"/>
          <a:chExt cx="0" cy="0"/>
        </a:xfrm>
      </p:grpSpPr>
      <p:sp>
        <p:nvSpPr>
          <p:cNvPr id="91" name="Google Shape;91;p14"/>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FFFFFF"/>
                </a:solidFill>
                <a:latin typeface="Calibri"/>
                <a:ea typeface="Calibri"/>
                <a:cs typeface="Calibri"/>
                <a:sym typeface="Calibri"/>
              </a:rPr>
              <a:t>Let's start with you</a:t>
            </a:r>
            <a:endParaRPr sz="1400" b="0" i="0" u="none" strike="noStrike" cap="none">
              <a:solidFill>
                <a:srgbClr val="000000"/>
              </a:solidFill>
              <a:latin typeface="Arial"/>
              <a:ea typeface="Arial"/>
              <a:cs typeface="Arial"/>
              <a:sym typeface="Arial"/>
            </a:endParaRPr>
          </a:p>
        </p:txBody>
      </p:sp>
      <p:sp>
        <p:nvSpPr>
          <p:cNvPr id="92" name="Google Shape;92;p14"/>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E0F4F9"/>
                </a:solidFill>
                <a:latin typeface="Calibri"/>
                <a:ea typeface="Calibri"/>
                <a:cs typeface="Calibri"/>
                <a:sym typeface="Calibri"/>
              </a:rPr>
              <a:t>How do you work with data today?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6"/>
        <p:cNvGrpSpPr/>
        <p:nvPr/>
      </p:nvGrpSpPr>
      <p:grpSpPr>
        <a:xfrm>
          <a:off x="0" y="0"/>
          <a:ext cx="0" cy="0"/>
          <a:chOff x="0" y="0"/>
          <a:chExt cx="0" cy="0"/>
        </a:xfrm>
      </p:grpSpPr>
      <p:grpSp>
        <p:nvGrpSpPr>
          <p:cNvPr id="97" name="Google Shape;97;p15"/>
          <p:cNvGrpSpPr/>
          <p:nvPr/>
        </p:nvGrpSpPr>
        <p:grpSpPr>
          <a:xfrm>
            <a:off x="731520" y="571500"/>
            <a:ext cx="10728900" cy="762000"/>
            <a:chOff x="0" y="0"/>
            <a:chExt cx="10728900" cy="762000"/>
          </a:xfrm>
        </p:grpSpPr>
        <p:sp>
          <p:nvSpPr>
            <p:cNvPr id="98" name="Google Shape;98;p15"/>
            <p:cNvSpPr/>
            <p:nvPr/>
          </p:nvSpPr>
          <p:spPr>
            <a:xfrm>
              <a:off x="0" y="0"/>
              <a:ext cx="10728900" cy="762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9" name="Google Shape;99;p15"/>
            <p:cNvSpPr txBox="1"/>
            <p:nvPr/>
          </p:nvSpPr>
          <p:spPr>
            <a:xfrm>
              <a:off x="0" y="0"/>
              <a:ext cx="107289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111827"/>
                  </a:solidFill>
                  <a:latin typeface="Inter"/>
                  <a:ea typeface="Inter"/>
                  <a:cs typeface="Inter"/>
                  <a:sym typeface="Inter"/>
                </a:rPr>
                <a:t>What data tools do you use?</a:t>
              </a:r>
              <a:endParaRPr sz="3200" b="1">
                <a:solidFill>
                  <a:srgbClr val="111827"/>
                </a:solidFill>
                <a:latin typeface="Inter"/>
                <a:ea typeface="Inter"/>
                <a:cs typeface="Inter"/>
                <a:sym typeface="Inter"/>
              </a:endParaRPr>
            </a:p>
          </p:txBody>
        </p:sp>
      </p:grpSp>
      <p:grpSp>
        <p:nvGrpSpPr>
          <p:cNvPr id="100" name="Google Shape;100;p15"/>
          <p:cNvGrpSpPr/>
          <p:nvPr/>
        </p:nvGrpSpPr>
        <p:grpSpPr>
          <a:xfrm>
            <a:off x="4701097" y="1811495"/>
            <a:ext cx="3018244" cy="1401497"/>
            <a:chOff x="0" y="0"/>
            <a:chExt cx="2667000" cy="1238400"/>
          </a:xfrm>
        </p:grpSpPr>
        <p:sp>
          <p:nvSpPr>
            <p:cNvPr id="101" name="Google Shape;101;p15"/>
            <p:cNvSpPr/>
            <p:nvPr/>
          </p:nvSpPr>
          <p:spPr>
            <a:xfrm>
              <a:off x="0" y="0"/>
              <a:ext cx="2667000" cy="1238400"/>
            </a:xfrm>
            <a:prstGeom prst="roundRect">
              <a:avLst>
                <a:gd name="adj" fmla="val 12307"/>
              </a:avLst>
            </a:prstGeom>
            <a:solidFill>
              <a:srgbClr val="FFFFFF"/>
            </a:solidFill>
            <a:ln w="2155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2" name="Google Shape;102;p15"/>
            <p:cNvSpPr txBox="1"/>
            <p:nvPr/>
          </p:nvSpPr>
          <p:spPr>
            <a:xfrm>
              <a:off x="0" y="0"/>
              <a:ext cx="2667000" cy="1238400"/>
            </a:xfrm>
            <a:prstGeom prst="rect">
              <a:avLst/>
            </a:prstGeom>
            <a:solidFill>
              <a:srgbClr val="000000">
                <a:alpha val="0"/>
              </a:srgbClr>
            </a:solidFill>
            <a:ln>
              <a:noFill/>
            </a:ln>
          </p:spPr>
          <p:txBody>
            <a:bodyPr spcFirstLastPara="1" wrap="square" lIns="172450" tIns="172450" rIns="172450" bIns="172450" anchor="ctr" anchorCtr="0">
              <a:noAutofit/>
            </a:bodyPr>
            <a:lstStyle/>
            <a:p>
              <a:pPr marL="0" lvl="0" indent="0" algn="ctr" rtl="0">
                <a:spcBef>
                  <a:spcPts val="0"/>
                </a:spcBef>
                <a:spcAft>
                  <a:spcPts val="0"/>
                </a:spcAft>
                <a:buNone/>
              </a:pPr>
              <a:r>
                <a:rPr lang="en-US" sz="2411" b="1">
                  <a:solidFill>
                    <a:srgbClr val="111827"/>
                  </a:solidFill>
                  <a:latin typeface="Inter"/>
                  <a:ea typeface="Inter"/>
                  <a:cs typeface="Inter"/>
                  <a:sym typeface="Inter"/>
                </a:rPr>
                <a:t>      Spreadsheets</a:t>
              </a:r>
              <a:endParaRPr sz="2411" b="1">
                <a:solidFill>
                  <a:srgbClr val="111827"/>
                </a:solidFill>
                <a:latin typeface="Inter"/>
                <a:ea typeface="Inter"/>
                <a:cs typeface="Inter"/>
                <a:sym typeface="Inter"/>
              </a:endParaRPr>
            </a:p>
            <a:p>
              <a:pPr marL="0" lvl="0" indent="0" algn="ctr" rtl="0">
                <a:spcBef>
                  <a:spcPts val="679"/>
                </a:spcBef>
                <a:spcAft>
                  <a:spcPts val="679"/>
                </a:spcAft>
                <a:buNone/>
              </a:pPr>
              <a:r>
                <a:rPr lang="en-US" sz="1545" b="0">
                  <a:solidFill>
                    <a:srgbClr val="475569"/>
                  </a:solidFill>
                  <a:latin typeface="Inter"/>
                  <a:ea typeface="Inter"/>
                  <a:cs typeface="Inter"/>
                  <a:sym typeface="Inter"/>
                </a:rPr>
                <a:t>Excel, Google Sheets</a:t>
              </a:r>
              <a:endParaRPr sz="1545" b="1">
                <a:solidFill>
                  <a:srgbClr val="111827"/>
                </a:solidFill>
                <a:latin typeface="Inter"/>
                <a:ea typeface="Inter"/>
                <a:cs typeface="Inter"/>
                <a:sym typeface="Inter"/>
              </a:endParaRPr>
            </a:p>
          </p:txBody>
        </p:sp>
      </p:grpSp>
      <p:grpSp>
        <p:nvGrpSpPr>
          <p:cNvPr id="103" name="Google Shape;103;p15"/>
          <p:cNvGrpSpPr/>
          <p:nvPr/>
        </p:nvGrpSpPr>
        <p:grpSpPr>
          <a:xfrm>
            <a:off x="8150480" y="2769893"/>
            <a:ext cx="3018244" cy="1401497"/>
            <a:chOff x="0" y="0"/>
            <a:chExt cx="2667000" cy="1238400"/>
          </a:xfrm>
        </p:grpSpPr>
        <p:sp>
          <p:nvSpPr>
            <p:cNvPr id="104" name="Google Shape;104;p15"/>
            <p:cNvSpPr/>
            <p:nvPr/>
          </p:nvSpPr>
          <p:spPr>
            <a:xfrm>
              <a:off x="0" y="0"/>
              <a:ext cx="2667000" cy="1238400"/>
            </a:xfrm>
            <a:prstGeom prst="roundRect">
              <a:avLst>
                <a:gd name="adj" fmla="val 12307"/>
              </a:avLst>
            </a:prstGeom>
            <a:solidFill>
              <a:srgbClr val="FFFFFF"/>
            </a:solidFill>
            <a:ln w="2155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5" name="Google Shape;105;p15"/>
            <p:cNvSpPr txBox="1"/>
            <p:nvPr/>
          </p:nvSpPr>
          <p:spPr>
            <a:xfrm>
              <a:off x="0" y="0"/>
              <a:ext cx="2667000" cy="1238400"/>
            </a:xfrm>
            <a:prstGeom prst="rect">
              <a:avLst/>
            </a:prstGeom>
            <a:solidFill>
              <a:srgbClr val="000000">
                <a:alpha val="0"/>
              </a:srgbClr>
            </a:solidFill>
            <a:ln>
              <a:noFill/>
            </a:ln>
          </p:spPr>
          <p:txBody>
            <a:bodyPr spcFirstLastPara="1" wrap="square" lIns="172450" tIns="172450" rIns="172450" bIns="172450" anchor="ctr" anchorCtr="0">
              <a:noAutofit/>
            </a:bodyPr>
            <a:lstStyle/>
            <a:p>
              <a:pPr marL="0" lvl="0" indent="0" algn="ctr" rtl="0">
                <a:spcBef>
                  <a:spcPts val="0"/>
                </a:spcBef>
                <a:spcAft>
                  <a:spcPts val="0"/>
                </a:spcAft>
                <a:buNone/>
              </a:pPr>
              <a:r>
                <a:rPr lang="en-US" sz="2411" b="1">
                  <a:solidFill>
                    <a:srgbClr val="111827"/>
                  </a:solidFill>
                  <a:latin typeface="Inter"/>
                  <a:ea typeface="Inter"/>
                  <a:cs typeface="Inter"/>
                  <a:sym typeface="Inter"/>
                </a:rPr>
                <a:t>      Dashboards</a:t>
              </a:r>
              <a:endParaRPr sz="2411" b="1">
                <a:solidFill>
                  <a:srgbClr val="111827"/>
                </a:solidFill>
                <a:latin typeface="Inter"/>
                <a:ea typeface="Inter"/>
                <a:cs typeface="Inter"/>
                <a:sym typeface="Inter"/>
              </a:endParaRPr>
            </a:p>
            <a:p>
              <a:pPr marL="0" lvl="0" indent="0" algn="ctr" rtl="0">
                <a:spcBef>
                  <a:spcPts val="679"/>
                </a:spcBef>
                <a:spcAft>
                  <a:spcPts val="679"/>
                </a:spcAft>
                <a:buNone/>
              </a:pPr>
              <a:r>
                <a:rPr lang="en-US" sz="1545" b="0">
                  <a:solidFill>
                    <a:srgbClr val="475569"/>
                  </a:solidFill>
                  <a:latin typeface="Inter"/>
                  <a:ea typeface="Inter"/>
                  <a:cs typeface="Inter"/>
                  <a:sym typeface="Inter"/>
                </a:rPr>
                <a:t>QuickBooks, Google Analytics, Meta Ads, Shopify</a:t>
              </a:r>
              <a:endParaRPr sz="1545" b="1">
                <a:solidFill>
                  <a:srgbClr val="111827"/>
                </a:solidFill>
                <a:latin typeface="Inter"/>
                <a:ea typeface="Inter"/>
                <a:cs typeface="Inter"/>
                <a:sym typeface="Inter"/>
              </a:endParaRPr>
            </a:p>
          </p:txBody>
        </p:sp>
      </p:grpSp>
      <p:grpSp>
        <p:nvGrpSpPr>
          <p:cNvPr id="106" name="Google Shape;106;p15"/>
          <p:cNvGrpSpPr/>
          <p:nvPr/>
        </p:nvGrpSpPr>
        <p:grpSpPr>
          <a:xfrm>
            <a:off x="6761213" y="4471098"/>
            <a:ext cx="3018244" cy="1401497"/>
            <a:chOff x="0" y="0"/>
            <a:chExt cx="2667000" cy="1238400"/>
          </a:xfrm>
        </p:grpSpPr>
        <p:sp>
          <p:nvSpPr>
            <p:cNvPr id="107" name="Google Shape;107;p15"/>
            <p:cNvSpPr/>
            <p:nvPr/>
          </p:nvSpPr>
          <p:spPr>
            <a:xfrm>
              <a:off x="0" y="0"/>
              <a:ext cx="2667000" cy="1238400"/>
            </a:xfrm>
            <a:prstGeom prst="roundRect">
              <a:avLst>
                <a:gd name="adj" fmla="val 12307"/>
              </a:avLst>
            </a:prstGeom>
            <a:solidFill>
              <a:srgbClr val="FFFFFF"/>
            </a:solidFill>
            <a:ln w="2155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8" name="Google Shape;108;p15"/>
            <p:cNvSpPr txBox="1"/>
            <p:nvPr/>
          </p:nvSpPr>
          <p:spPr>
            <a:xfrm>
              <a:off x="0" y="0"/>
              <a:ext cx="2667000" cy="1238400"/>
            </a:xfrm>
            <a:prstGeom prst="rect">
              <a:avLst/>
            </a:prstGeom>
            <a:solidFill>
              <a:srgbClr val="000000">
                <a:alpha val="0"/>
              </a:srgbClr>
            </a:solidFill>
            <a:ln>
              <a:noFill/>
            </a:ln>
          </p:spPr>
          <p:txBody>
            <a:bodyPr spcFirstLastPara="1" wrap="square" lIns="172450" tIns="172450" rIns="172450" bIns="172450" anchor="ctr" anchorCtr="0">
              <a:noAutofit/>
            </a:bodyPr>
            <a:lstStyle/>
            <a:p>
              <a:pPr marL="0" lvl="0" indent="0" algn="ctr" rtl="0">
                <a:spcBef>
                  <a:spcPts val="0"/>
                </a:spcBef>
                <a:spcAft>
                  <a:spcPts val="0"/>
                </a:spcAft>
                <a:buNone/>
              </a:pPr>
              <a:r>
                <a:rPr lang="en-US" sz="2411" b="1">
                  <a:solidFill>
                    <a:srgbClr val="111827"/>
                  </a:solidFill>
                  <a:latin typeface="Inter"/>
                  <a:ea typeface="Inter"/>
                  <a:cs typeface="Inter"/>
                  <a:sym typeface="Inter"/>
                </a:rPr>
                <a:t>     BI &amp; Analytics</a:t>
              </a:r>
              <a:endParaRPr sz="2411" b="1">
                <a:solidFill>
                  <a:srgbClr val="111827"/>
                </a:solidFill>
                <a:latin typeface="Inter"/>
                <a:ea typeface="Inter"/>
                <a:cs typeface="Inter"/>
                <a:sym typeface="Inter"/>
              </a:endParaRPr>
            </a:p>
            <a:p>
              <a:pPr marL="0" lvl="0" indent="0" algn="ctr" rtl="0">
                <a:spcBef>
                  <a:spcPts val="679"/>
                </a:spcBef>
                <a:spcAft>
                  <a:spcPts val="679"/>
                </a:spcAft>
                <a:buNone/>
              </a:pPr>
              <a:r>
                <a:rPr lang="en-US" sz="1545" b="0">
                  <a:solidFill>
                    <a:srgbClr val="475569"/>
                  </a:solidFill>
                  <a:latin typeface="Inter"/>
                  <a:ea typeface="Inter"/>
                  <a:cs typeface="Inter"/>
                  <a:sym typeface="Inter"/>
                </a:rPr>
                <a:t>Tableau, Power BI, Looker</a:t>
              </a:r>
              <a:endParaRPr sz="1545" b="1">
                <a:solidFill>
                  <a:srgbClr val="111827"/>
                </a:solidFill>
                <a:latin typeface="Inter"/>
                <a:ea typeface="Inter"/>
                <a:cs typeface="Inter"/>
                <a:sym typeface="Inter"/>
              </a:endParaRPr>
            </a:p>
          </p:txBody>
        </p:sp>
      </p:grpSp>
      <p:grpSp>
        <p:nvGrpSpPr>
          <p:cNvPr id="109" name="Google Shape;109;p15"/>
          <p:cNvGrpSpPr/>
          <p:nvPr/>
        </p:nvGrpSpPr>
        <p:grpSpPr>
          <a:xfrm>
            <a:off x="2640982" y="4471103"/>
            <a:ext cx="3018244" cy="1401497"/>
            <a:chOff x="0" y="0"/>
            <a:chExt cx="2667000" cy="1238400"/>
          </a:xfrm>
        </p:grpSpPr>
        <p:sp>
          <p:nvSpPr>
            <p:cNvPr id="110" name="Google Shape;110;p15"/>
            <p:cNvSpPr/>
            <p:nvPr/>
          </p:nvSpPr>
          <p:spPr>
            <a:xfrm>
              <a:off x="0" y="0"/>
              <a:ext cx="2667000" cy="1238400"/>
            </a:xfrm>
            <a:prstGeom prst="roundRect">
              <a:avLst>
                <a:gd name="adj" fmla="val 12307"/>
              </a:avLst>
            </a:prstGeom>
            <a:solidFill>
              <a:srgbClr val="FFFFFF"/>
            </a:solidFill>
            <a:ln w="2155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1" name="Google Shape;111;p15"/>
            <p:cNvSpPr txBox="1"/>
            <p:nvPr/>
          </p:nvSpPr>
          <p:spPr>
            <a:xfrm>
              <a:off x="0" y="0"/>
              <a:ext cx="2667000" cy="1238400"/>
            </a:xfrm>
            <a:prstGeom prst="rect">
              <a:avLst/>
            </a:prstGeom>
            <a:solidFill>
              <a:srgbClr val="000000">
                <a:alpha val="0"/>
              </a:srgbClr>
            </a:solidFill>
            <a:ln>
              <a:noFill/>
            </a:ln>
          </p:spPr>
          <p:txBody>
            <a:bodyPr spcFirstLastPara="1" wrap="square" lIns="172450" tIns="172450" rIns="172450" bIns="172450" anchor="ctr" anchorCtr="0">
              <a:noAutofit/>
            </a:bodyPr>
            <a:lstStyle/>
            <a:p>
              <a:pPr marL="0" lvl="0" indent="0" algn="ctr" rtl="0">
                <a:spcBef>
                  <a:spcPts val="0"/>
                </a:spcBef>
                <a:spcAft>
                  <a:spcPts val="0"/>
                </a:spcAft>
                <a:buNone/>
              </a:pPr>
              <a:r>
                <a:rPr lang="en-US" sz="2411" b="1">
                  <a:solidFill>
                    <a:srgbClr val="111827"/>
                  </a:solidFill>
                  <a:latin typeface="Inter"/>
                  <a:ea typeface="Inter"/>
                  <a:cs typeface="Inter"/>
                  <a:sym typeface="Inter"/>
                </a:rPr>
                <a:t>      AI Workflows</a:t>
              </a:r>
              <a:endParaRPr sz="2411" b="1">
                <a:solidFill>
                  <a:srgbClr val="111827"/>
                </a:solidFill>
                <a:latin typeface="Inter"/>
                <a:ea typeface="Inter"/>
                <a:cs typeface="Inter"/>
                <a:sym typeface="Inter"/>
              </a:endParaRPr>
            </a:p>
            <a:p>
              <a:pPr marL="0" lvl="0" indent="0" algn="ctr" rtl="0">
                <a:spcBef>
                  <a:spcPts val="679"/>
                </a:spcBef>
                <a:spcAft>
                  <a:spcPts val="679"/>
                </a:spcAft>
                <a:buNone/>
              </a:pPr>
              <a:r>
                <a:rPr lang="en-US" sz="1545" b="0">
                  <a:solidFill>
                    <a:srgbClr val="475569"/>
                  </a:solidFill>
                  <a:latin typeface="Inter"/>
                  <a:ea typeface="Inter"/>
                  <a:cs typeface="Inter"/>
                  <a:sym typeface="Inter"/>
                </a:rPr>
                <a:t>Claude, ChatGPT, Gemini</a:t>
              </a:r>
              <a:endParaRPr sz="1545" b="1">
                <a:solidFill>
                  <a:srgbClr val="111827"/>
                </a:solidFill>
                <a:latin typeface="Inter"/>
                <a:ea typeface="Inter"/>
                <a:cs typeface="Inter"/>
                <a:sym typeface="Inter"/>
              </a:endParaRPr>
            </a:p>
          </p:txBody>
        </p:sp>
      </p:grpSp>
      <p:grpSp>
        <p:nvGrpSpPr>
          <p:cNvPr id="112" name="Google Shape;112;p15"/>
          <p:cNvGrpSpPr/>
          <p:nvPr/>
        </p:nvGrpSpPr>
        <p:grpSpPr>
          <a:xfrm>
            <a:off x="1251715" y="2769893"/>
            <a:ext cx="3018244" cy="1401497"/>
            <a:chOff x="0" y="0"/>
            <a:chExt cx="2667000" cy="1238400"/>
          </a:xfrm>
        </p:grpSpPr>
        <p:sp>
          <p:nvSpPr>
            <p:cNvPr id="113" name="Google Shape;113;p15"/>
            <p:cNvSpPr/>
            <p:nvPr/>
          </p:nvSpPr>
          <p:spPr>
            <a:xfrm>
              <a:off x="0" y="0"/>
              <a:ext cx="2667000" cy="1238400"/>
            </a:xfrm>
            <a:prstGeom prst="roundRect">
              <a:avLst>
                <a:gd name="adj" fmla="val 12307"/>
              </a:avLst>
            </a:prstGeom>
            <a:solidFill>
              <a:srgbClr val="FFFFFF"/>
            </a:solidFill>
            <a:ln w="2155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4" name="Google Shape;114;p15"/>
            <p:cNvSpPr txBox="1"/>
            <p:nvPr/>
          </p:nvSpPr>
          <p:spPr>
            <a:xfrm>
              <a:off x="0" y="0"/>
              <a:ext cx="2667000" cy="1238400"/>
            </a:xfrm>
            <a:prstGeom prst="rect">
              <a:avLst/>
            </a:prstGeom>
            <a:noFill/>
            <a:ln>
              <a:noFill/>
            </a:ln>
          </p:spPr>
          <p:txBody>
            <a:bodyPr spcFirstLastPara="1" wrap="square" lIns="172475" tIns="172475" rIns="172475" bIns="172475" anchor="ctr" anchorCtr="0">
              <a:noAutofit/>
            </a:bodyPr>
            <a:lstStyle/>
            <a:p>
              <a:pPr marL="0" lvl="0" indent="0" algn="ctr" rtl="0">
                <a:spcBef>
                  <a:spcPts val="0"/>
                </a:spcBef>
                <a:spcAft>
                  <a:spcPts val="0"/>
                </a:spcAft>
                <a:buNone/>
              </a:pPr>
              <a:r>
                <a:rPr lang="en-US" sz="2400" b="1">
                  <a:solidFill>
                    <a:srgbClr val="111827"/>
                  </a:solidFill>
                  <a:latin typeface="Inter"/>
                  <a:ea typeface="Inter"/>
                  <a:cs typeface="Inter"/>
                  <a:sym typeface="Inter"/>
                </a:rPr>
                <a:t>  Code</a:t>
              </a:r>
              <a:endParaRPr sz="2400">
                <a:latin typeface="Inter"/>
                <a:ea typeface="Inter"/>
                <a:cs typeface="Inter"/>
                <a:sym typeface="Inter"/>
              </a:endParaRPr>
            </a:p>
            <a:p>
              <a:pPr marL="0" lvl="0" indent="0" algn="ctr" rtl="0">
                <a:spcBef>
                  <a:spcPts val="679"/>
                </a:spcBef>
                <a:spcAft>
                  <a:spcPts val="0"/>
                </a:spcAft>
                <a:buNone/>
              </a:pPr>
              <a:r>
                <a:rPr lang="en-US" sz="1545" b="0">
                  <a:solidFill>
                    <a:srgbClr val="475569"/>
                  </a:solidFill>
                  <a:latin typeface="Inter"/>
                  <a:ea typeface="Inter"/>
                  <a:cs typeface="Inter"/>
                  <a:sym typeface="Inter"/>
                </a:rPr>
                <a:t>Python, Jupyter Notebooks</a:t>
              </a:r>
              <a:endParaRPr sz="1545" b="0">
                <a:solidFill>
                  <a:srgbClr val="475569"/>
                </a:solidFill>
                <a:latin typeface="Inter"/>
                <a:ea typeface="Inter"/>
                <a:cs typeface="Inter"/>
                <a:sym typeface="Inter"/>
              </a:endParaRPr>
            </a:p>
          </p:txBody>
        </p:sp>
      </p:grpSp>
      <p:pic>
        <p:nvPicPr>
          <p:cNvPr id="120" name="Picture 119" descr="code.png"/>
          <p:cNvPicPr>
            <a:picLocks noChangeAspect="1"/>
          </p:cNvPicPr>
          <p:nvPr/>
        </p:nvPicPr>
        <p:blipFill>
          <a:blip r:embed="rId4"/>
          <a:stretch>
            <a:fillRect/>
          </a:stretch>
        </p:blipFill>
        <p:spPr>
          <a:xfrm>
            <a:off x="1884848" y="3047859"/>
            <a:ext cx="602700" cy="602700"/>
          </a:xfrm>
          <a:prstGeom prst="rect">
            <a:avLst/>
          </a:prstGeom>
        </p:spPr>
      </p:pic>
      <p:pic>
        <p:nvPicPr>
          <p:cNvPr id="121" name="Picture 120" descr="grid_on.png"/>
          <p:cNvPicPr>
            <a:picLocks noChangeAspect="1"/>
          </p:cNvPicPr>
          <p:nvPr/>
        </p:nvPicPr>
        <p:blipFill>
          <a:blip r:embed="rId5"/>
          <a:stretch>
            <a:fillRect/>
          </a:stretch>
        </p:blipFill>
        <p:spPr>
          <a:xfrm>
            <a:off x="4855491" y="2113173"/>
            <a:ext cx="602700" cy="602700"/>
          </a:xfrm>
          <a:prstGeom prst="rect">
            <a:avLst/>
          </a:prstGeom>
        </p:spPr>
      </p:pic>
      <p:pic>
        <p:nvPicPr>
          <p:cNvPr id="122" name="Picture 121" descr="dashboard.png"/>
          <p:cNvPicPr>
            <a:picLocks noChangeAspect="1"/>
          </p:cNvPicPr>
          <p:nvPr/>
        </p:nvPicPr>
        <p:blipFill>
          <a:blip r:embed="rId6"/>
          <a:stretch>
            <a:fillRect/>
          </a:stretch>
        </p:blipFill>
        <p:spPr>
          <a:xfrm>
            <a:off x="8416572" y="2943902"/>
            <a:ext cx="602700" cy="602700"/>
          </a:xfrm>
          <a:prstGeom prst="rect">
            <a:avLst/>
          </a:prstGeom>
        </p:spPr>
      </p:pic>
      <p:pic>
        <p:nvPicPr>
          <p:cNvPr id="123" name="Picture 122" descr="bar_chart.png"/>
          <p:cNvPicPr>
            <a:picLocks noChangeAspect="1"/>
          </p:cNvPicPr>
          <p:nvPr/>
        </p:nvPicPr>
        <p:blipFill>
          <a:blip r:embed="rId7"/>
          <a:stretch>
            <a:fillRect/>
          </a:stretch>
        </p:blipFill>
        <p:spPr>
          <a:xfrm>
            <a:off x="6915633" y="4756817"/>
            <a:ext cx="602700" cy="602700"/>
          </a:xfrm>
          <a:prstGeom prst="rect">
            <a:avLst/>
          </a:prstGeom>
        </p:spPr>
      </p:pic>
      <p:pic>
        <p:nvPicPr>
          <p:cNvPr id="124" name="Picture 123" descr="auto_awesome.png"/>
          <p:cNvPicPr>
            <a:picLocks noChangeAspect="1"/>
          </p:cNvPicPr>
          <p:nvPr/>
        </p:nvPicPr>
        <p:blipFill>
          <a:blip r:embed="rId8"/>
          <a:stretch>
            <a:fillRect/>
          </a:stretch>
        </p:blipFill>
        <p:spPr>
          <a:xfrm>
            <a:off x="2843245" y="4772784"/>
            <a:ext cx="602700" cy="6027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3"/>
        <p:cNvGrpSpPr/>
        <p:nvPr/>
      </p:nvGrpSpPr>
      <p:grpSpPr>
        <a:xfrm>
          <a:off x="0" y="0"/>
          <a:ext cx="0" cy="0"/>
          <a:chOff x="0" y="0"/>
          <a:chExt cx="0" cy="0"/>
        </a:xfrm>
      </p:grpSpPr>
      <p:sp>
        <p:nvSpPr>
          <p:cNvPr id="124" name="Google Shape;124;p16"/>
          <p:cNvSpPr txBox="1"/>
          <p:nvPr/>
        </p:nvSpPr>
        <p:spPr>
          <a:xfrm>
            <a:off x="762000" y="571500"/>
            <a:ext cx="10668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a:solidFill>
                  <a:srgbClr val="0F172A"/>
                </a:solidFill>
                <a:latin typeface="Inter"/>
                <a:ea typeface="Inter"/>
                <a:cs typeface="Inter"/>
                <a:sym typeface="Inter"/>
              </a:rPr>
              <a:t>Data Tracking Habits</a:t>
            </a:r>
            <a:endParaRPr sz="3200" b="1">
              <a:solidFill>
                <a:srgbClr val="0F172A"/>
              </a:solidFill>
              <a:latin typeface="Inter"/>
              <a:ea typeface="Inter"/>
              <a:cs typeface="Inter"/>
              <a:sym typeface="Inter"/>
            </a:endParaRPr>
          </a:p>
        </p:txBody>
      </p:sp>
      <p:grpSp>
        <p:nvGrpSpPr>
          <p:cNvPr id="125" name="Google Shape;125;p16"/>
          <p:cNvGrpSpPr/>
          <p:nvPr/>
        </p:nvGrpSpPr>
        <p:grpSpPr>
          <a:xfrm>
            <a:off x="762000" y="1524000"/>
            <a:ext cx="5143500" cy="4667400"/>
            <a:chOff x="0" y="0"/>
            <a:chExt cx="5143500" cy="4667400"/>
          </a:xfrm>
        </p:grpSpPr>
        <p:sp>
          <p:nvSpPr>
            <p:cNvPr id="126" name="Google Shape;126;p16"/>
            <p:cNvSpPr/>
            <p:nvPr/>
          </p:nvSpPr>
          <p:spPr>
            <a:xfrm>
              <a:off x="0" y="0"/>
              <a:ext cx="5143500" cy="4667400"/>
            </a:xfrm>
            <a:prstGeom prst="roundRect">
              <a:avLst>
                <a:gd name="adj" fmla="val 3265"/>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7" name="Google Shape;127;p16"/>
            <p:cNvSpPr txBox="1"/>
            <p:nvPr/>
          </p:nvSpPr>
          <p:spPr>
            <a:xfrm>
              <a:off x="381000" y="333375"/>
              <a:ext cx="43815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0F172A"/>
                  </a:solidFill>
                  <a:latin typeface="Inter"/>
                  <a:ea typeface="Inter"/>
                  <a:cs typeface="Inter"/>
                  <a:sym typeface="Inter"/>
                </a:rPr>
                <a:t>What do you track?</a:t>
              </a:r>
              <a:endParaRPr sz="2000" b="1">
                <a:solidFill>
                  <a:srgbClr val="0F172A"/>
                </a:solidFill>
                <a:latin typeface="Inter"/>
                <a:ea typeface="Inter"/>
                <a:cs typeface="Inter"/>
                <a:sym typeface="Inter"/>
              </a:endParaRPr>
            </a:p>
          </p:txBody>
        </p:sp>
        <p:grpSp>
          <p:nvGrpSpPr>
            <p:cNvPr id="128" name="Google Shape;128;p16"/>
            <p:cNvGrpSpPr/>
            <p:nvPr/>
          </p:nvGrpSpPr>
          <p:grpSpPr>
            <a:xfrm>
              <a:off x="381000" y="1047750"/>
              <a:ext cx="4381500" cy="375031"/>
              <a:chOff x="0" y="0"/>
              <a:chExt cx="4381500" cy="375031"/>
            </a:xfrm>
          </p:grpSpPr>
          <p:sp>
            <p:nvSpPr>
              <p:cNvPr id="129" name="Google Shape;129;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trending_up</a:t>
                </a:r>
                <a:endParaRPr sz="2200">
                  <a:solidFill>
                    <a:srgbClr val="007BA1"/>
                  </a:solidFill>
                  <a:latin typeface="Material Icons"/>
                  <a:ea typeface="Material Icons"/>
                  <a:cs typeface="Material Icons"/>
                  <a:sym typeface="Material Icons"/>
                </a:endParaRPr>
              </a:p>
            </p:txBody>
          </p:sp>
          <p:sp>
            <p:nvSpPr>
              <p:cNvPr id="130" name="Google Shape;130;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Sales, revenue, pipeline</a:t>
                </a:r>
                <a:endParaRPr sz="1400" b="0">
                  <a:solidFill>
                    <a:srgbClr val="334155"/>
                  </a:solidFill>
                  <a:latin typeface="Inter Medium"/>
                  <a:ea typeface="Inter Medium"/>
                  <a:cs typeface="Inter Medium"/>
                  <a:sym typeface="Inter Medium"/>
                </a:endParaRPr>
              </a:p>
            </p:txBody>
          </p:sp>
        </p:grpSp>
        <p:grpSp>
          <p:nvGrpSpPr>
            <p:cNvPr id="131" name="Google Shape;131;p16"/>
            <p:cNvGrpSpPr/>
            <p:nvPr/>
          </p:nvGrpSpPr>
          <p:grpSpPr>
            <a:xfrm>
              <a:off x="381000" y="1619250"/>
              <a:ext cx="4381500" cy="375031"/>
              <a:chOff x="0" y="0"/>
              <a:chExt cx="4381500" cy="375031"/>
            </a:xfrm>
          </p:grpSpPr>
          <p:sp>
            <p:nvSpPr>
              <p:cNvPr id="132" name="Google Shape;132;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account_balance_wallet</a:t>
                </a:r>
                <a:endParaRPr sz="2200">
                  <a:solidFill>
                    <a:srgbClr val="007BA1"/>
                  </a:solidFill>
                  <a:latin typeface="Material Icons"/>
                  <a:ea typeface="Material Icons"/>
                  <a:cs typeface="Material Icons"/>
                  <a:sym typeface="Material Icons"/>
                </a:endParaRPr>
              </a:p>
            </p:txBody>
          </p:sp>
          <p:sp>
            <p:nvSpPr>
              <p:cNvPr id="133" name="Google Shape;133;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Expenses, budgets, profitability</a:t>
                </a:r>
                <a:endParaRPr sz="1400" b="0">
                  <a:solidFill>
                    <a:srgbClr val="334155"/>
                  </a:solidFill>
                  <a:latin typeface="Inter Medium"/>
                  <a:ea typeface="Inter Medium"/>
                  <a:cs typeface="Inter Medium"/>
                  <a:sym typeface="Inter Medium"/>
                </a:endParaRPr>
              </a:p>
            </p:txBody>
          </p:sp>
        </p:grpSp>
        <p:grpSp>
          <p:nvGrpSpPr>
            <p:cNvPr id="134" name="Google Shape;134;p16"/>
            <p:cNvGrpSpPr/>
            <p:nvPr/>
          </p:nvGrpSpPr>
          <p:grpSpPr>
            <a:xfrm>
              <a:off x="381000" y="2190750"/>
              <a:ext cx="4381500" cy="375031"/>
              <a:chOff x="0" y="0"/>
              <a:chExt cx="4381500" cy="375031"/>
            </a:xfrm>
          </p:grpSpPr>
          <p:sp>
            <p:nvSpPr>
              <p:cNvPr id="135" name="Google Shape;135;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campaign</a:t>
                </a:r>
                <a:endParaRPr sz="2200">
                  <a:solidFill>
                    <a:srgbClr val="007BA1"/>
                  </a:solidFill>
                  <a:latin typeface="Material Icons"/>
                  <a:ea typeface="Material Icons"/>
                  <a:cs typeface="Material Icons"/>
                  <a:sym typeface="Material Icons"/>
                </a:endParaRPr>
              </a:p>
            </p:txBody>
          </p:sp>
          <p:sp>
            <p:nvSpPr>
              <p:cNvPr id="136" name="Google Shape;136;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Marketing performance</a:t>
                </a:r>
                <a:endParaRPr sz="1400" b="0">
                  <a:solidFill>
                    <a:srgbClr val="334155"/>
                  </a:solidFill>
                  <a:latin typeface="Inter Medium"/>
                  <a:ea typeface="Inter Medium"/>
                  <a:cs typeface="Inter Medium"/>
                  <a:sym typeface="Inter Medium"/>
                </a:endParaRPr>
              </a:p>
            </p:txBody>
          </p:sp>
        </p:grpSp>
        <p:grpSp>
          <p:nvGrpSpPr>
            <p:cNvPr id="137" name="Google Shape;137;p16"/>
            <p:cNvGrpSpPr/>
            <p:nvPr/>
          </p:nvGrpSpPr>
          <p:grpSpPr>
            <a:xfrm>
              <a:off x="381000" y="2762250"/>
              <a:ext cx="4381500" cy="375031"/>
              <a:chOff x="0" y="0"/>
              <a:chExt cx="4381500" cy="375031"/>
            </a:xfrm>
          </p:grpSpPr>
          <p:sp>
            <p:nvSpPr>
              <p:cNvPr id="138" name="Google Shape;138;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lan</a:t>
                </a:r>
                <a:endParaRPr sz="2200">
                  <a:solidFill>
                    <a:srgbClr val="007BA1"/>
                  </a:solidFill>
                  <a:latin typeface="Material Icons"/>
                  <a:ea typeface="Material Icons"/>
                  <a:cs typeface="Material Icons"/>
                  <a:sym typeface="Material Icons"/>
                </a:endParaRPr>
              </a:p>
            </p:txBody>
          </p:sp>
          <p:sp>
            <p:nvSpPr>
              <p:cNvPr id="139" name="Google Shape;139;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Operations, inventory, fulfillment</a:t>
                </a:r>
                <a:endParaRPr sz="1400" b="0">
                  <a:solidFill>
                    <a:srgbClr val="334155"/>
                  </a:solidFill>
                  <a:latin typeface="Inter Medium"/>
                  <a:ea typeface="Inter Medium"/>
                  <a:cs typeface="Inter Medium"/>
                  <a:sym typeface="Inter Medium"/>
                </a:endParaRPr>
              </a:p>
            </p:txBody>
          </p:sp>
        </p:grpSp>
        <p:grpSp>
          <p:nvGrpSpPr>
            <p:cNvPr id="140" name="Google Shape;140;p16"/>
            <p:cNvGrpSpPr/>
            <p:nvPr/>
          </p:nvGrpSpPr>
          <p:grpSpPr>
            <a:xfrm>
              <a:off x="381000" y="3333750"/>
              <a:ext cx="4381500" cy="375031"/>
              <a:chOff x="0" y="0"/>
              <a:chExt cx="4381500" cy="375031"/>
            </a:xfrm>
          </p:grpSpPr>
          <p:sp>
            <p:nvSpPr>
              <p:cNvPr id="141" name="Google Shape;141;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group</a:t>
                </a:r>
                <a:endParaRPr sz="2200">
                  <a:solidFill>
                    <a:srgbClr val="007BA1"/>
                  </a:solidFill>
                  <a:latin typeface="Material Icons"/>
                  <a:ea typeface="Material Icons"/>
                  <a:cs typeface="Material Icons"/>
                  <a:sym typeface="Material Icons"/>
                </a:endParaRPr>
              </a:p>
            </p:txBody>
          </p:sp>
          <p:sp>
            <p:nvSpPr>
              <p:cNvPr id="142" name="Google Shape;142;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Customer behavior, retention</a:t>
                </a:r>
                <a:endParaRPr sz="1400" b="0">
                  <a:solidFill>
                    <a:srgbClr val="334155"/>
                  </a:solidFill>
                  <a:latin typeface="Inter Medium"/>
                  <a:ea typeface="Inter Medium"/>
                  <a:cs typeface="Inter Medium"/>
                  <a:sym typeface="Inter Medium"/>
                </a:endParaRPr>
              </a:p>
            </p:txBody>
          </p:sp>
        </p:grpSp>
        <p:grpSp>
          <p:nvGrpSpPr>
            <p:cNvPr id="143" name="Google Shape;143;p16"/>
            <p:cNvGrpSpPr/>
            <p:nvPr/>
          </p:nvGrpSpPr>
          <p:grpSpPr>
            <a:xfrm>
              <a:off x="381000" y="3905250"/>
              <a:ext cx="4381500" cy="375031"/>
              <a:chOff x="0" y="0"/>
              <a:chExt cx="4381500" cy="375031"/>
            </a:xfrm>
          </p:grpSpPr>
          <p:sp>
            <p:nvSpPr>
              <p:cNvPr id="144" name="Google Shape;144;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gavel</a:t>
                </a:r>
                <a:endParaRPr sz="2200">
                  <a:solidFill>
                    <a:srgbClr val="007BA1"/>
                  </a:solidFill>
                  <a:latin typeface="Material Icons"/>
                  <a:ea typeface="Material Icons"/>
                  <a:cs typeface="Material Icons"/>
                  <a:sym typeface="Material Icons"/>
                </a:endParaRPr>
              </a:p>
            </p:txBody>
          </p:sp>
          <p:sp>
            <p:nvSpPr>
              <p:cNvPr id="145" name="Google Shape;145;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Compliance, stakeholder reporting</a:t>
                </a:r>
                <a:endParaRPr sz="1400" b="0">
                  <a:solidFill>
                    <a:srgbClr val="334155"/>
                  </a:solidFill>
                  <a:latin typeface="Inter Medium"/>
                  <a:ea typeface="Inter Medium"/>
                  <a:cs typeface="Inter Medium"/>
                  <a:sym typeface="Inter Medium"/>
                </a:endParaRPr>
              </a:p>
            </p:txBody>
          </p:sp>
        </p:grpSp>
      </p:grpSp>
      <p:grpSp>
        <p:nvGrpSpPr>
          <p:cNvPr id="146" name="Google Shape;146;p16"/>
          <p:cNvGrpSpPr/>
          <p:nvPr/>
        </p:nvGrpSpPr>
        <p:grpSpPr>
          <a:xfrm>
            <a:off x="6286500" y="1524000"/>
            <a:ext cx="5143500" cy="4667400"/>
            <a:chOff x="0" y="0"/>
            <a:chExt cx="5143500" cy="4667400"/>
          </a:xfrm>
        </p:grpSpPr>
        <p:sp>
          <p:nvSpPr>
            <p:cNvPr id="147" name="Google Shape;147;p16"/>
            <p:cNvSpPr/>
            <p:nvPr/>
          </p:nvSpPr>
          <p:spPr>
            <a:xfrm>
              <a:off x="0" y="0"/>
              <a:ext cx="5143500" cy="4667400"/>
            </a:xfrm>
            <a:prstGeom prst="roundRect">
              <a:avLst>
                <a:gd name="adj" fmla="val 3265"/>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8" name="Google Shape;148;p16"/>
            <p:cNvSpPr txBox="1"/>
            <p:nvPr/>
          </p:nvSpPr>
          <p:spPr>
            <a:xfrm>
              <a:off x="381000" y="333375"/>
              <a:ext cx="43815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b="1">
                  <a:solidFill>
                    <a:srgbClr val="0F172A"/>
                  </a:solidFill>
                  <a:latin typeface="Inter"/>
                  <a:ea typeface="Inter"/>
                  <a:cs typeface="Inter"/>
                  <a:sym typeface="Inter"/>
                </a:rPr>
                <a:t>How often?</a:t>
              </a:r>
              <a:endParaRPr sz="2000" b="1">
                <a:solidFill>
                  <a:srgbClr val="0F172A"/>
                </a:solidFill>
                <a:latin typeface="Inter"/>
                <a:ea typeface="Inter"/>
                <a:cs typeface="Inter"/>
                <a:sym typeface="Inter"/>
              </a:endParaRPr>
            </a:p>
          </p:txBody>
        </p:sp>
        <p:grpSp>
          <p:nvGrpSpPr>
            <p:cNvPr id="149" name="Google Shape;149;p16"/>
            <p:cNvGrpSpPr/>
            <p:nvPr/>
          </p:nvGrpSpPr>
          <p:grpSpPr>
            <a:xfrm>
              <a:off x="381000" y="1047750"/>
              <a:ext cx="4381500" cy="375031"/>
              <a:chOff x="0" y="0"/>
              <a:chExt cx="4381500" cy="375031"/>
            </a:xfrm>
          </p:grpSpPr>
          <p:sp>
            <p:nvSpPr>
              <p:cNvPr id="150" name="Google Shape;150;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bolt</a:t>
                </a:r>
                <a:endParaRPr sz="2200">
                  <a:solidFill>
                    <a:srgbClr val="007BA1"/>
                  </a:solidFill>
                  <a:latin typeface="Material Icons"/>
                  <a:ea typeface="Material Icons"/>
                  <a:cs typeface="Material Icons"/>
                  <a:sym typeface="Material Icons"/>
                </a:endParaRPr>
              </a:p>
            </p:txBody>
          </p:sp>
          <p:sp>
            <p:nvSpPr>
              <p:cNvPr id="151" name="Google Shape;151;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Multiple times per day</a:t>
                </a:r>
                <a:endParaRPr sz="1400" b="0">
                  <a:solidFill>
                    <a:srgbClr val="334155"/>
                  </a:solidFill>
                  <a:latin typeface="Inter Medium"/>
                  <a:ea typeface="Inter Medium"/>
                  <a:cs typeface="Inter Medium"/>
                  <a:sym typeface="Inter Medium"/>
                </a:endParaRPr>
              </a:p>
            </p:txBody>
          </p:sp>
        </p:grpSp>
        <p:grpSp>
          <p:nvGrpSpPr>
            <p:cNvPr id="152" name="Google Shape;152;p16"/>
            <p:cNvGrpSpPr/>
            <p:nvPr/>
          </p:nvGrpSpPr>
          <p:grpSpPr>
            <a:xfrm>
              <a:off x="381000" y="1619250"/>
              <a:ext cx="4381500" cy="375031"/>
              <a:chOff x="0" y="0"/>
              <a:chExt cx="4381500" cy="375031"/>
            </a:xfrm>
          </p:grpSpPr>
          <p:sp>
            <p:nvSpPr>
              <p:cNvPr id="153" name="Google Shape;153;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today</a:t>
                </a:r>
                <a:endParaRPr sz="2200">
                  <a:solidFill>
                    <a:srgbClr val="007BA1"/>
                  </a:solidFill>
                  <a:latin typeface="Material Icons"/>
                  <a:ea typeface="Material Icons"/>
                  <a:cs typeface="Material Icons"/>
                  <a:sym typeface="Material Icons"/>
                </a:endParaRPr>
              </a:p>
            </p:txBody>
          </p:sp>
          <p:sp>
            <p:nvSpPr>
              <p:cNvPr id="154" name="Google Shape;154;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Daily</a:t>
                </a:r>
                <a:endParaRPr sz="1400" b="0">
                  <a:solidFill>
                    <a:srgbClr val="334155"/>
                  </a:solidFill>
                  <a:latin typeface="Inter Medium"/>
                  <a:ea typeface="Inter Medium"/>
                  <a:cs typeface="Inter Medium"/>
                  <a:sym typeface="Inter Medium"/>
                </a:endParaRPr>
              </a:p>
            </p:txBody>
          </p:sp>
        </p:grpSp>
        <p:grpSp>
          <p:nvGrpSpPr>
            <p:cNvPr id="155" name="Google Shape;155;p16"/>
            <p:cNvGrpSpPr/>
            <p:nvPr/>
          </p:nvGrpSpPr>
          <p:grpSpPr>
            <a:xfrm>
              <a:off x="381000" y="2190750"/>
              <a:ext cx="4381500" cy="375031"/>
              <a:chOff x="0" y="0"/>
              <a:chExt cx="4381500" cy="375031"/>
            </a:xfrm>
          </p:grpSpPr>
          <p:sp>
            <p:nvSpPr>
              <p:cNvPr id="156" name="Google Shape;156;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date_range</a:t>
                </a:r>
                <a:endParaRPr sz="2200">
                  <a:solidFill>
                    <a:srgbClr val="007BA1"/>
                  </a:solidFill>
                  <a:latin typeface="Material Icons"/>
                  <a:ea typeface="Material Icons"/>
                  <a:cs typeface="Material Icons"/>
                  <a:sym typeface="Material Icons"/>
                </a:endParaRPr>
              </a:p>
            </p:txBody>
          </p:sp>
          <p:sp>
            <p:nvSpPr>
              <p:cNvPr id="157" name="Google Shape;157;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Weekly</a:t>
                </a:r>
                <a:endParaRPr sz="1400" b="0">
                  <a:solidFill>
                    <a:srgbClr val="334155"/>
                  </a:solidFill>
                  <a:latin typeface="Inter Medium"/>
                  <a:ea typeface="Inter Medium"/>
                  <a:cs typeface="Inter Medium"/>
                  <a:sym typeface="Inter Medium"/>
                </a:endParaRPr>
              </a:p>
            </p:txBody>
          </p:sp>
        </p:grpSp>
        <p:grpSp>
          <p:nvGrpSpPr>
            <p:cNvPr id="158" name="Google Shape;158;p16"/>
            <p:cNvGrpSpPr/>
            <p:nvPr/>
          </p:nvGrpSpPr>
          <p:grpSpPr>
            <a:xfrm>
              <a:off x="381000" y="2762250"/>
              <a:ext cx="4381500" cy="375031"/>
              <a:chOff x="0" y="0"/>
              <a:chExt cx="4381500" cy="375031"/>
            </a:xfrm>
          </p:grpSpPr>
          <p:sp>
            <p:nvSpPr>
              <p:cNvPr id="159" name="Google Shape;159;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calendar_month</a:t>
                </a:r>
                <a:endParaRPr sz="2200">
                  <a:solidFill>
                    <a:srgbClr val="007BA1"/>
                  </a:solidFill>
                  <a:latin typeface="Material Icons"/>
                  <a:ea typeface="Material Icons"/>
                  <a:cs typeface="Material Icons"/>
                  <a:sym typeface="Material Icons"/>
                </a:endParaRPr>
              </a:p>
            </p:txBody>
          </p:sp>
          <p:sp>
            <p:nvSpPr>
              <p:cNvPr id="160" name="Google Shape;160;p16"/>
              <p:cNvSpPr txBox="1"/>
              <p:nvPr/>
            </p:nvSpPr>
            <p:spPr>
              <a:xfrm>
                <a:off x="495300" y="0"/>
                <a:ext cx="38862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334155"/>
                    </a:solidFill>
                    <a:latin typeface="Inter Medium"/>
                    <a:ea typeface="Inter Medium"/>
                    <a:cs typeface="Inter Medium"/>
                    <a:sym typeface="Inter Medium"/>
                  </a:rPr>
                  <a:t>Monthly / quarterly</a:t>
                </a:r>
                <a:endParaRPr sz="1400" b="0">
                  <a:solidFill>
                    <a:srgbClr val="334155"/>
                  </a:solidFill>
                  <a:latin typeface="Inter Medium"/>
                  <a:ea typeface="Inter Medium"/>
                  <a:cs typeface="Inter Medium"/>
                  <a:sym typeface="Inter Medium"/>
                </a:endParaRPr>
              </a:p>
            </p:txBody>
          </p:sp>
        </p:grpSp>
        <p:grpSp>
          <p:nvGrpSpPr>
            <p:cNvPr id="161" name="Google Shape;161;p16"/>
            <p:cNvGrpSpPr/>
            <p:nvPr/>
          </p:nvGrpSpPr>
          <p:grpSpPr>
            <a:xfrm>
              <a:off x="381000" y="3333750"/>
              <a:ext cx="4381500" cy="476400"/>
              <a:chOff x="0" y="0"/>
              <a:chExt cx="4381500" cy="476400"/>
            </a:xfrm>
          </p:grpSpPr>
          <p:sp>
            <p:nvSpPr>
              <p:cNvPr id="162" name="Google Shape;162;p16"/>
              <p:cNvSpPr txBox="1"/>
              <p:nvPr/>
            </p:nvSpPr>
            <p:spPr>
              <a:xfrm>
                <a:off x="0" y="32131"/>
                <a:ext cx="3429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200">
                    <a:solidFill>
                      <a:srgbClr val="007BA1"/>
                    </a:solidFill>
                    <a:latin typeface="Material Icons"/>
                    <a:ea typeface="Material Icons"/>
                    <a:cs typeface="Material Icons"/>
                    <a:sym typeface="Material Icons"/>
                  </a:rPr>
                  <a:t>pending_actions</a:t>
                </a:r>
                <a:endParaRPr sz="2200">
                  <a:solidFill>
                    <a:srgbClr val="007BA1"/>
                  </a:solidFill>
                  <a:latin typeface="Material Icons"/>
                  <a:ea typeface="Material Icons"/>
                  <a:cs typeface="Material Icons"/>
                  <a:sym typeface="Material Icons"/>
                </a:endParaRPr>
              </a:p>
            </p:txBody>
          </p:sp>
          <p:sp>
            <p:nvSpPr>
              <p:cNvPr id="163" name="Google Shape;163;p16"/>
              <p:cNvSpPr txBox="1"/>
              <p:nvPr/>
            </p:nvSpPr>
            <p:spPr>
              <a:xfrm>
                <a:off x="495300" y="0"/>
                <a:ext cx="38862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400" b="0" i="1">
                    <a:solidFill>
                      <a:srgbClr val="334155"/>
                    </a:solidFill>
                    <a:latin typeface="Inter Medium"/>
                    <a:ea typeface="Inter Medium"/>
                    <a:cs typeface="Inter Medium"/>
                    <a:sym typeface="Inter Medium"/>
                  </a:rPr>
                  <a:t>Ad hoc</a:t>
                </a:r>
                <a:r>
                  <a:rPr lang="en-US" sz="1400" b="0">
                    <a:solidFill>
                      <a:srgbClr val="334155"/>
                    </a:solidFill>
                    <a:latin typeface="Inter Medium"/>
                    <a:ea typeface="Inter Medium"/>
                    <a:cs typeface="Inter Medium"/>
                    <a:sym typeface="Inter Medium"/>
                  </a:rPr>
                  <a:t> – “whenever I need a number”</a:t>
                </a:r>
                <a:endParaRPr sz="1400" b="0">
                  <a:solidFill>
                    <a:srgbClr val="334155"/>
                  </a:solidFill>
                  <a:latin typeface="Inter Medium"/>
                  <a:ea typeface="Inter Medium"/>
                  <a:cs typeface="Inter Medium"/>
                  <a:sym typeface="Inter Medium"/>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167"/>
        <p:cNvGrpSpPr/>
        <p:nvPr/>
      </p:nvGrpSpPr>
      <p:grpSpPr>
        <a:xfrm>
          <a:off x="0" y="0"/>
          <a:ext cx="0" cy="0"/>
          <a:chOff x="0" y="0"/>
          <a:chExt cx="0" cy="0"/>
        </a:xfrm>
      </p:grpSpPr>
      <p:sp>
        <p:nvSpPr>
          <p:cNvPr id="168" name="Google Shape;168;p17"/>
          <p:cNvSpPr txBox="1"/>
          <p:nvPr/>
        </p:nvSpPr>
        <p:spPr>
          <a:xfrm>
            <a:off x="1371600" y="2286000"/>
            <a:ext cx="91440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FFFFFF"/>
                </a:solidFill>
                <a:latin typeface="Calibri"/>
                <a:ea typeface="Calibri"/>
                <a:cs typeface="Calibri"/>
                <a:sym typeface="Calibri"/>
              </a:rPr>
              <a:t>The problem</a:t>
            </a:r>
            <a:endParaRPr sz="1400" b="0" i="0" u="none" strike="noStrike" cap="none">
              <a:solidFill>
                <a:srgbClr val="000000"/>
              </a:solidFill>
              <a:latin typeface="Arial"/>
              <a:ea typeface="Arial"/>
              <a:cs typeface="Arial"/>
              <a:sym typeface="Arial"/>
            </a:endParaRPr>
          </a:p>
        </p:txBody>
      </p:sp>
      <p:sp>
        <p:nvSpPr>
          <p:cNvPr id="169" name="Google Shape;169;p17"/>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E0F4F9"/>
                </a:solidFill>
                <a:latin typeface="Calibri"/>
                <a:ea typeface="Calibri"/>
                <a:cs typeface="Calibri"/>
                <a:sym typeface="Calibri"/>
              </a:rPr>
              <a:t>Data is valuable. Getting answers from it is painful.</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8"/>
          <p:cNvSpPr txBox="1"/>
          <p:nvPr/>
        </p:nvSpPr>
        <p:spPr>
          <a:xfrm>
            <a:off x="731520" y="274320"/>
            <a:ext cx="100584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111827"/>
                </a:solidFill>
                <a:latin typeface="Calibri"/>
                <a:ea typeface="Calibri"/>
                <a:cs typeface="Calibri"/>
                <a:sym typeface="Calibri"/>
              </a:rPr>
              <a:t>Every approach has trade-offs</a:t>
            </a:r>
            <a:endParaRPr sz="1400" b="0" i="0" u="none" strike="noStrike" cap="none">
              <a:solidFill>
                <a:srgbClr val="000000"/>
              </a:solidFill>
              <a:latin typeface="Arial"/>
              <a:ea typeface="Arial"/>
              <a:cs typeface="Arial"/>
              <a:sym typeface="Arial"/>
            </a:endParaRPr>
          </a:p>
        </p:txBody>
      </p:sp>
      <p:graphicFrame>
        <p:nvGraphicFramePr>
          <p:cNvPr id="175" name="Google Shape;175;p18"/>
          <p:cNvGraphicFramePr/>
          <p:nvPr/>
        </p:nvGraphicFramePr>
        <p:xfrm>
          <a:off x="731520" y="1188720"/>
          <a:ext cx="10515600" cy="4964475"/>
        </p:xfrm>
        <a:graphic>
          <a:graphicData uri="http://schemas.openxmlformats.org/drawingml/2006/table">
            <a:tbl>
              <a:tblPr firstRow="1" bandRow="1">
                <a:noFill/>
                <a:tableStyleId>{A2B65E0C-8300-4590-BBFE-23C9AD8D2CAE}</a:tableStyleId>
              </a:tblPr>
              <a:tblGrid>
                <a:gridCol w="2264475">
                  <a:extLst>
                    <a:ext uri="{9D8B030D-6E8A-4147-A177-3AD203B41FA5}">
                      <a16:colId xmlns:a16="http://schemas.microsoft.com/office/drawing/2014/main" val="20000"/>
                    </a:ext>
                  </a:extLst>
                </a:gridCol>
                <a:gridCol w="3222250">
                  <a:extLst>
                    <a:ext uri="{9D8B030D-6E8A-4147-A177-3AD203B41FA5}">
                      <a16:colId xmlns:a16="http://schemas.microsoft.com/office/drawing/2014/main" val="20001"/>
                    </a:ext>
                  </a:extLst>
                </a:gridCol>
                <a:gridCol w="5028875">
                  <a:extLst>
                    <a:ext uri="{9D8B030D-6E8A-4147-A177-3AD203B41FA5}">
                      <a16:colId xmlns:a16="http://schemas.microsoft.com/office/drawing/2014/main" val="20002"/>
                    </a:ext>
                  </a:extLst>
                </a:gridCol>
              </a:tblGrid>
              <a:tr h="473350">
                <a:tc>
                  <a:txBody>
                    <a:bodyPr/>
                    <a:lstStyle/>
                    <a:p>
                      <a:pPr marL="0" marR="0" lvl="0" indent="0" algn="ctr" rtl="0">
                        <a:lnSpc>
                          <a:spcPct val="100000"/>
                        </a:lnSpc>
                        <a:spcBef>
                          <a:spcPts val="0"/>
                        </a:spcBef>
                        <a:spcAft>
                          <a:spcPts val="0"/>
                        </a:spcAft>
                        <a:buClr>
                          <a:srgbClr val="000000"/>
                        </a:buClr>
                        <a:buSzPts val="1500"/>
                        <a:buFont typeface="Arial"/>
                        <a:buNone/>
                      </a:pPr>
                      <a:r>
                        <a:rPr lang="en-US" sz="1700" u="none" strike="noStrike" cap="none">
                          <a:solidFill>
                            <a:srgbClr val="FFFFFF"/>
                          </a:solidFill>
                        </a:rPr>
                        <a:t>Approach</a:t>
                      </a:r>
                      <a:endParaRPr sz="1700" u="none" strike="noStrike" cap="none"/>
                    </a:p>
                  </a:txBody>
                  <a:tcPr marL="91450" marR="91450" marT="45725" marB="45725">
                    <a:solidFill>
                      <a:srgbClr val="007BA1"/>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700" u="none" strike="noStrike" cap="none">
                          <a:solidFill>
                            <a:srgbClr val="FFFFFF"/>
                          </a:solidFill>
                        </a:rPr>
                        <a:t>Positives</a:t>
                      </a:r>
                      <a:endParaRPr sz="1700" u="none" strike="noStrike" cap="none"/>
                    </a:p>
                  </a:txBody>
                  <a:tcPr marL="91450" marR="91450" marT="45725" marB="45725">
                    <a:solidFill>
                      <a:srgbClr val="007BA1"/>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700" u="none" strike="noStrike" cap="none">
                          <a:solidFill>
                            <a:srgbClr val="FFFFFF"/>
                          </a:solidFill>
                        </a:rPr>
                        <a:t>Negatives</a:t>
                      </a:r>
                      <a:endParaRPr sz="1700" u="none" strike="noStrike" cap="none"/>
                    </a:p>
                  </a:txBody>
                  <a:tcPr marL="91450" marR="91450" marT="45725" marB="45725">
                    <a:solidFill>
                      <a:srgbClr val="007BA1"/>
                    </a:solidFill>
                  </a:tcPr>
                </a:tc>
                <a:extLst>
                  <a:ext uri="{0D108BD9-81ED-4DB2-BD59-A6C34878D82A}">
                    <a16:rowId xmlns:a16="http://schemas.microsoft.com/office/drawing/2014/main" val="10000"/>
                  </a:ext>
                </a:extLst>
              </a:tr>
              <a:tr h="110145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111827"/>
                          </a:solidFill>
                        </a:rPr>
                        <a:t>SaaS </a:t>
                      </a:r>
                      <a:r>
                        <a:rPr lang="en-US" sz="1800" b="1">
                          <a:solidFill>
                            <a:srgbClr val="111827"/>
                          </a:solidFill>
                        </a:rPr>
                        <a:t>D</a:t>
                      </a:r>
                      <a:r>
                        <a:rPr lang="en-US" sz="1800" b="1" u="none" strike="noStrike" cap="none">
                          <a:solidFill>
                            <a:srgbClr val="111827"/>
                          </a:solidFill>
                        </a:rPr>
                        <a:t>ashboards</a:t>
                      </a:r>
                      <a:endParaRPr sz="1700" b="1" u="none" strike="noStrike" cap="none"/>
                    </a:p>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111827"/>
                          </a:solidFill>
                        </a:rPr>
                        <a:t>(</a:t>
                      </a:r>
                      <a:r>
                        <a:rPr lang="en-US" sz="1800" b="0" u="none" strike="noStrike" cap="none">
                          <a:solidFill>
                            <a:srgbClr val="111827"/>
                          </a:solidFill>
                          <a:latin typeface="Calibri"/>
                          <a:ea typeface="Calibri"/>
                          <a:cs typeface="Calibri"/>
                          <a:sym typeface="Calibri"/>
                        </a:rPr>
                        <a:t>QuickBooks, G</a:t>
                      </a:r>
                      <a:r>
                        <a:rPr lang="en-US" sz="1800" u="none" strike="noStrike" cap="none">
                          <a:solidFill>
                            <a:srgbClr val="111827"/>
                          </a:solidFill>
                        </a:rPr>
                        <a:t>oogle Analytics</a:t>
                      </a:r>
                      <a:r>
                        <a:rPr lang="en-US" sz="1800" b="0" u="none" strike="noStrike" cap="none">
                          <a:solidFill>
                            <a:srgbClr val="111827"/>
                          </a:solidFill>
                          <a:latin typeface="Calibri"/>
                          <a:ea typeface="Calibri"/>
                          <a:cs typeface="Calibri"/>
                          <a:sym typeface="Calibri"/>
                        </a:rPr>
                        <a:t>, etc.)</a:t>
                      </a:r>
                      <a:endParaRPr sz="1700" u="none" strike="noStrike" cap="none"/>
                    </a:p>
                  </a:txBody>
                  <a:tcPr marL="91450" marR="91450" marT="45725" marB="45725"/>
                </a:tc>
                <a:tc>
                  <a:txBody>
                    <a:bodyPr/>
                    <a:lstStyle/>
                    <a:p>
                      <a:pPr marL="457200" marR="0" lvl="0" indent="-342900" algn="l" rtl="0">
                        <a:lnSpc>
                          <a:spcPct val="100000"/>
                        </a:lnSpc>
                        <a:spcBef>
                          <a:spcPts val="0"/>
                        </a:spcBef>
                        <a:spcAft>
                          <a:spcPts val="0"/>
                        </a:spcAft>
                        <a:buClr>
                          <a:srgbClr val="111827"/>
                        </a:buClr>
                        <a:buSzPts val="1800"/>
                        <a:buFont typeface="Calibri"/>
                        <a:buChar char="●"/>
                      </a:pPr>
                      <a:r>
                        <a:rPr lang="en-US" sz="1800" b="0" u="none" strike="noStrike" cap="none">
                          <a:solidFill>
                            <a:srgbClr val="111827"/>
                          </a:solidFill>
                          <a:latin typeface="Calibri"/>
                          <a:ea typeface="Calibri"/>
                          <a:cs typeface="Calibri"/>
                          <a:sym typeface="Calibri"/>
                        </a:rPr>
                        <a:t>Built in, no setup</a:t>
                      </a:r>
                      <a:endParaRPr sz="1800" u="none" strike="noStrike" cap="none"/>
                    </a:p>
                  </a:txBody>
                  <a:tcPr marL="91450" marR="91450" marT="45725" marB="45725"/>
                </a:tc>
                <a:tc>
                  <a:txBody>
                    <a:bodyPr/>
                    <a:lstStyle/>
                    <a:p>
                      <a:pPr marL="457200" marR="0" lvl="0" indent="-342900" algn="l" rtl="0">
                        <a:lnSpc>
                          <a:spcPct val="100000"/>
                        </a:lnSpc>
                        <a:spcBef>
                          <a:spcPts val="0"/>
                        </a:spcBef>
                        <a:spcAft>
                          <a:spcPts val="0"/>
                        </a:spcAft>
                        <a:buClr>
                          <a:srgbClr val="111827"/>
                        </a:buClr>
                        <a:buSzPts val="1800"/>
                        <a:buFont typeface="Calibri"/>
                        <a:buChar char="●"/>
                      </a:pPr>
                      <a:r>
                        <a:rPr lang="en-US" sz="1800" b="0" u="none" strike="noStrike" cap="none">
                          <a:solidFill>
                            <a:srgbClr val="111827"/>
                          </a:solidFill>
                          <a:latin typeface="Calibri"/>
                          <a:ea typeface="Calibri"/>
                          <a:cs typeface="Calibri"/>
                          <a:sym typeface="Calibri"/>
                        </a:rPr>
                        <a:t>Clunky interfaces</a:t>
                      </a:r>
                      <a:endParaRPr sz="1800" b="0" u="none" strike="noStrike" cap="none">
                        <a:solidFill>
                          <a:srgbClr val="111827"/>
                        </a:solidFill>
                        <a:latin typeface="Calibri"/>
                        <a:ea typeface="Calibri"/>
                        <a:cs typeface="Calibri"/>
                        <a:sym typeface="Calibri"/>
                      </a:endParaRPr>
                    </a:p>
                    <a:p>
                      <a:pPr marL="457200" marR="0" lvl="0" indent="-342900" algn="l" rtl="0">
                        <a:lnSpc>
                          <a:spcPct val="100000"/>
                        </a:lnSpc>
                        <a:spcBef>
                          <a:spcPts val="0"/>
                        </a:spcBef>
                        <a:spcAft>
                          <a:spcPts val="0"/>
                        </a:spcAft>
                        <a:buSzPts val="1800"/>
                        <a:buChar char="●"/>
                      </a:pPr>
                      <a:r>
                        <a:rPr lang="en-US" sz="1800" u="none" strike="noStrike" cap="none">
                          <a:solidFill>
                            <a:srgbClr val="111827"/>
                          </a:solidFill>
                        </a:rPr>
                        <a:t>S</a:t>
                      </a:r>
                      <a:r>
                        <a:rPr lang="en-US" sz="1800" b="0" u="none" strike="noStrike" cap="none">
                          <a:solidFill>
                            <a:srgbClr val="111827"/>
                          </a:solidFill>
                          <a:latin typeface="Calibri"/>
                          <a:ea typeface="Calibri"/>
                          <a:cs typeface="Calibri"/>
                          <a:sym typeface="Calibri"/>
                        </a:rPr>
                        <a:t>iloed</a:t>
                      </a:r>
                      <a:r>
                        <a:rPr lang="en-US" sz="1800">
                          <a:solidFill>
                            <a:srgbClr val="111827"/>
                          </a:solidFill>
                        </a:rPr>
                        <a:t>: </a:t>
                      </a:r>
                      <a:r>
                        <a:rPr lang="en-US" sz="1800" b="0" u="none" strike="noStrike" cap="none">
                          <a:solidFill>
                            <a:srgbClr val="111827"/>
                          </a:solidFill>
                          <a:latin typeface="Calibri"/>
                          <a:ea typeface="Calibri"/>
                          <a:cs typeface="Calibri"/>
                          <a:sym typeface="Calibri"/>
                        </a:rPr>
                        <a:t>can't </a:t>
                      </a:r>
                      <a:r>
                        <a:rPr lang="en-US" sz="1800">
                          <a:solidFill>
                            <a:srgbClr val="111827"/>
                          </a:solidFill>
                        </a:rPr>
                        <a:t>mix</a:t>
                      </a:r>
                      <a:r>
                        <a:rPr lang="en-US" sz="1800" u="none" strike="noStrike" cap="none"/>
                        <a:t> </a:t>
                      </a:r>
                      <a:r>
                        <a:rPr lang="en-US" sz="1800" b="0" u="none" strike="noStrike" cap="none">
                          <a:solidFill>
                            <a:srgbClr val="111827"/>
                          </a:solidFill>
                          <a:latin typeface="Calibri"/>
                          <a:ea typeface="Calibri"/>
                          <a:cs typeface="Calibri"/>
                          <a:sym typeface="Calibri"/>
                        </a:rPr>
                        <a:t>data sources</a:t>
                      </a:r>
                      <a:endParaRPr sz="1800" u="none" strike="noStrike" cap="none"/>
                    </a:p>
                  </a:txBody>
                  <a:tcPr marL="91450" marR="91450" marT="45725" marB="45725"/>
                </a:tc>
                <a:extLst>
                  <a:ext uri="{0D108BD9-81ED-4DB2-BD59-A6C34878D82A}">
                    <a16:rowId xmlns:a16="http://schemas.microsoft.com/office/drawing/2014/main" val="10001"/>
                  </a:ext>
                </a:extLst>
              </a:tr>
              <a:tr h="878375">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111827"/>
                          </a:solidFill>
                        </a:rPr>
                        <a:t>BI </a:t>
                      </a:r>
                      <a:r>
                        <a:rPr lang="en-US" sz="1800" b="1">
                          <a:solidFill>
                            <a:srgbClr val="111827"/>
                          </a:solidFill>
                        </a:rPr>
                        <a:t>T</a:t>
                      </a:r>
                      <a:r>
                        <a:rPr lang="en-US" sz="1800" b="1" u="none" strike="noStrike" cap="none">
                          <a:solidFill>
                            <a:srgbClr val="111827"/>
                          </a:solidFill>
                        </a:rPr>
                        <a:t>ools</a:t>
                      </a:r>
                      <a:endParaRPr sz="1700" b="1" u="none" strike="noStrike" cap="none"/>
                    </a:p>
                    <a:p>
                      <a:pPr marL="0" marR="0" lvl="0" indent="0" algn="l" rtl="0">
                        <a:lnSpc>
                          <a:spcPct val="100000"/>
                        </a:lnSpc>
                        <a:spcBef>
                          <a:spcPts val="0"/>
                        </a:spcBef>
                        <a:spcAft>
                          <a:spcPts val="0"/>
                        </a:spcAft>
                        <a:buClr>
                          <a:srgbClr val="000000"/>
                        </a:buClr>
                        <a:buSzPts val="1800"/>
                        <a:buFont typeface="Arial"/>
                        <a:buNone/>
                      </a:pPr>
                      <a:r>
                        <a:rPr lang="en-US" sz="1800" b="0" u="none" strike="noStrike" cap="none">
                          <a:solidFill>
                            <a:srgbClr val="111827"/>
                          </a:solidFill>
                          <a:latin typeface="Calibri"/>
                          <a:ea typeface="Calibri"/>
                          <a:cs typeface="Calibri"/>
                          <a:sym typeface="Calibri"/>
                        </a:rPr>
                        <a:t>(Power BI, Tableau)</a:t>
                      </a:r>
                      <a:endParaRPr sz="1700" u="none" strike="noStrike" cap="none"/>
                    </a:p>
                  </a:txBody>
                  <a:tcPr marL="91450" marR="91450" marT="45725" marB="45725">
                    <a:solidFill>
                      <a:srgbClr val="F3F4F6"/>
                    </a:solidFill>
                  </a:tcPr>
                </a:tc>
                <a:tc>
                  <a:txBody>
                    <a:bodyPr/>
                    <a:lstStyle/>
                    <a:p>
                      <a:pPr marL="457200" marR="0" lvl="0" indent="-342900" algn="l" rtl="0">
                        <a:lnSpc>
                          <a:spcPct val="100000"/>
                        </a:lnSpc>
                        <a:spcBef>
                          <a:spcPts val="0"/>
                        </a:spcBef>
                        <a:spcAft>
                          <a:spcPts val="0"/>
                        </a:spcAft>
                        <a:buSzPts val="1800"/>
                        <a:buChar char="●"/>
                      </a:pPr>
                      <a:r>
                        <a:rPr lang="en-US" sz="1800" b="0" u="none" strike="noStrike" cap="none">
                          <a:solidFill>
                            <a:srgbClr val="111827"/>
                          </a:solidFill>
                          <a:latin typeface="Calibri"/>
                          <a:ea typeface="Calibri"/>
                          <a:cs typeface="Calibri"/>
                          <a:sym typeface="Calibri"/>
                        </a:rPr>
                        <a:t>Powerful,</a:t>
                      </a:r>
                      <a:r>
                        <a:rPr lang="en-US" sz="1800" u="none" strike="noStrike" cap="none"/>
                        <a:t> </a:t>
                      </a:r>
                      <a:r>
                        <a:rPr lang="en-US" sz="1800" b="0" u="none" strike="noStrike" cap="none">
                          <a:solidFill>
                            <a:srgbClr val="111827"/>
                          </a:solidFill>
                          <a:latin typeface="Calibri"/>
                          <a:ea typeface="Calibri"/>
                          <a:cs typeface="Calibri"/>
                          <a:sym typeface="Calibri"/>
                        </a:rPr>
                        <a:t>enterprise-grade</a:t>
                      </a:r>
                      <a:endParaRPr sz="1800" u="none" strike="noStrike" cap="none"/>
                    </a:p>
                  </a:txBody>
                  <a:tcPr marL="91450" marR="91450" marT="45725" marB="45725">
                    <a:solidFill>
                      <a:srgbClr val="F3F4F6"/>
                    </a:solidFill>
                  </a:tcPr>
                </a:tc>
                <a:tc>
                  <a:txBody>
                    <a:bodyPr/>
                    <a:lstStyle/>
                    <a:p>
                      <a:pPr marL="457200" marR="0" lvl="0" indent="-342900" algn="l" rtl="0">
                        <a:lnSpc>
                          <a:spcPct val="100000"/>
                        </a:lnSpc>
                        <a:spcBef>
                          <a:spcPts val="0"/>
                        </a:spcBef>
                        <a:spcAft>
                          <a:spcPts val="0"/>
                        </a:spcAft>
                        <a:buSzPts val="1800"/>
                        <a:buChar char="●"/>
                      </a:pPr>
                      <a:r>
                        <a:rPr lang="en-US" sz="1800" b="0" u="none" strike="noStrike" cap="none">
                          <a:solidFill>
                            <a:srgbClr val="111827"/>
                          </a:solidFill>
                          <a:latin typeface="Calibri"/>
                          <a:ea typeface="Calibri"/>
                          <a:cs typeface="Calibri"/>
                          <a:sym typeface="Calibri"/>
                        </a:rPr>
                        <a:t>Finicky, hard to learn,</a:t>
                      </a:r>
                      <a:r>
                        <a:rPr lang="en-US" sz="1800" u="none" strike="noStrike" cap="none"/>
                        <a:t> </a:t>
                      </a:r>
                      <a:r>
                        <a:rPr lang="en-US" sz="1800" b="0" u="none" strike="noStrike" cap="none">
                          <a:solidFill>
                            <a:srgbClr val="111827"/>
                          </a:solidFill>
                          <a:latin typeface="Calibri"/>
                          <a:ea typeface="Calibri"/>
                          <a:cs typeface="Calibri"/>
                          <a:sym typeface="Calibri"/>
                        </a:rPr>
                        <a:t>expensive</a:t>
                      </a:r>
                      <a:endParaRPr sz="1800" u="none" strike="noStrike" cap="none">
                        <a:solidFill>
                          <a:srgbClr val="111827"/>
                        </a:solidFill>
                      </a:endParaRPr>
                    </a:p>
                    <a:p>
                      <a:pPr marL="457200" marR="0" lvl="0" indent="-342900" algn="l" rtl="0">
                        <a:lnSpc>
                          <a:spcPct val="100000"/>
                        </a:lnSpc>
                        <a:spcBef>
                          <a:spcPts val="0"/>
                        </a:spcBef>
                        <a:spcAft>
                          <a:spcPts val="0"/>
                        </a:spcAft>
                        <a:buClr>
                          <a:srgbClr val="111827"/>
                        </a:buClr>
                        <a:buSzPts val="1800"/>
                        <a:buChar char="●"/>
                      </a:pPr>
                      <a:r>
                        <a:rPr lang="en-US" sz="1800" u="none" strike="noStrike" cap="none">
                          <a:solidFill>
                            <a:srgbClr val="111827"/>
                          </a:solidFill>
                        </a:rPr>
                        <a:t>Often: </a:t>
                      </a:r>
                      <a:r>
                        <a:rPr lang="en-US" sz="1800" b="0" u="none" strike="noStrike" cap="none">
                          <a:solidFill>
                            <a:srgbClr val="111827"/>
                          </a:solidFill>
                          <a:latin typeface="Calibri"/>
                          <a:ea typeface="Calibri"/>
                          <a:cs typeface="Calibri"/>
                          <a:sym typeface="Calibri"/>
                        </a:rPr>
                        <a:t>need a data team or d</a:t>
                      </a:r>
                      <a:r>
                        <a:rPr lang="en-US" sz="1800" u="none" strike="noStrike" cap="none">
                          <a:solidFill>
                            <a:srgbClr val="111827"/>
                          </a:solidFill>
                        </a:rPr>
                        <a:t>edicated resource</a:t>
                      </a:r>
                      <a:endParaRPr sz="1800" u="none" strike="noStrike" cap="none"/>
                    </a:p>
                  </a:txBody>
                  <a:tcPr marL="91450" marR="91450" marT="45725" marB="45725">
                    <a:solidFill>
                      <a:srgbClr val="F3F4F6"/>
                    </a:solidFill>
                  </a:tcPr>
                </a:tc>
                <a:extLst>
                  <a:ext uri="{0D108BD9-81ED-4DB2-BD59-A6C34878D82A}">
                    <a16:rowId xmlns:a16="http://schemas.microsoft.com/office/drawing/2014/main" val="10002"/>
                  </a:ext>
                </a:extLst>
              </a:tr>
              <a:tr h="9092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111827"/>
                          </a:solidFill>
                        </a:rPr>
                        <a:t>Spreadsheets</a:t>
                      </a:r>
                      <a:endParaRPr sz="1700" b="1" u="none" strike="noStrike" cap="none"/>
                    </a:p>
                    <a:p>
                      <a:pPr marL="0" marR="0" lvl="0" indent="0" algn="l" rtl="0">
                        <a:lnSpc>
                          <a:spcPct val="100000"/>
                        </a:lnSpc>
                        <a:spcBef>
                          <a:spcPts val="0"/>
                        </a:spcBef>
                        <a:spcAft>
                          <a:spcPts val="0"/>
                        </a:spcAft>
                        <a:buClr>
                          <a:srgbClr val="000000"/>
                        </a:buClr>
                        <a:buSzPts val="1800"/>
                        <a:buFont typeface="Arial"/>
                        <a:buNone/>
                      </a:pPr>
                      <a:r>
                        <a:rPr lang="en-US" sz="1800" b="0" u="none" strike="noStrike" cap="none">
                          <a:solidFill>
                            <a:srgbClr val="111827"/>
                          </a:solidFill>
                          <a:latin typeface="Calibri"/>
                          <a:ea typeface="Calibri"/>
                          <a:cs typeface="Calibri"/>
                          <a:sym typeface="Calibri"/>
                        </a:rPr>
                        <a:t>(Excel, Google Sheets)</a:t>
                      </a:r>
                      <a:endParaRPr sz="1700" u="none" strike="noStrike" cap="none"/>
                    </a:p>
                  </a:txBody>
                  <a:tcPr marL="91450" marR="91450" marT="45725" marB="45725"/>
                </a:tc>
                <a:tc>
                  <a:txBody>
                    <a:bodyPr/>
                    <a:lstStyle/>
                    <a:p>
                      <a:pPr marL="457200" marR="0" lvl="0" indent="-342900" algn="l" rtl="0">
                        <a:lnSpc>
                          <a:spcPct val="100000"/>
                        </a:lnSpc>
                        <a:spcBef>
                          <a:spcPts val="0"/>
                        </a:spcBef>
                        <a:spcAft>
                          <a:spcPts val="0"/>
                        </a:spcAft>
                        <a:buSzPts val="1800"/>
                        <a:buChar char="●"/>
                      </a:pPr>
                      <a:r>
                        <a:rPr lang="en-US" sz="1800" b="0" u="none" strike="noStrike" cap="none">
                          <a:solidFill>
                            <a:srgbClr val="111827"/>
                          </a:solidFill>
                          <a:latin typeface="Calibri"/>
                          <a:ea typeface="Calibri"/>
                          <a:cs typeface="Calibri"/>
                          <a:sym typeface="Calibri"/>
                        </a:rPr>
                        <a:t>Flexible,</a:t>
                      </a:r>
                      <a:r>
                        <a:rPr lang="en-US" sz="1800" u="none" strike="noStrike" cap="none"/>
                        <a:t> </a:t>
                      </a:r>
                      <a:r>
                        <a:rPr lang="en-US" sz="1800" b="0" u="none" strike="noStrike" cap="none">
                          <a:solidFill>
                            <a:srgbClr val="111827"/>
                          </a:solidFill>
                          <a:latin typeface="Calibri"/>
                          <a:ea typeface="Calibri"/>
                          <a:cs typeface="Calibri"/>
                          <a:sym typeface="Calibri"/>
                        </a:rPr>
                        <a:t>you control it</a:t>
                      </a:r>
                      <a:endParaRPr sz="1800" u="none" strike="noStrike" cap="none"/>
                    </a:p>
                  </a:txBody>
                  <a:tcPr marL="91450" marR="91450" marT="45725" marB="45725"/>
                </a:tc>
                <a:tc>
                  <a:txBody>
                    <a:bodyPr/>
                    <a:lstStyle/>
                    <a:p>
                      <a:pPr marL="457200" marR="0" lvl="0" indent="-342900" algn="l" rtl="0">
                        <a:lnSpc>
                          <a:spcPct val="100000"/>
                        </a:lnSpc>
                        <a:spcBef>
                          <a:spcPts val="0"/>
                        </a:spcBef>
                        <a:spcAft>
                          <a:spcPts val="0"/>
                        </a:spcAft>
                        <a:buSzPts val="1800"/>
                        <a:buChar char="●"/>
                      </a:pPr>
                      <a:r>
                        <a:rPr lang="en-US" sz="1800" b="0" u="none" strike="noStrike" cap="none">
                          <a:solidFill>
                            <a:srgbClr val="111827"/>
                          </a:solidFill>
                          <a:latin typeface="Calibri"/>
                          <a:ea typeface="Calibri"/>
                          <a:cs typeface="Calibri"/>
                          <a:sym typeface="Calibri"/>
                        </a:rPr>
                        <a:t>Fragile, time-consuming</a:t>
                      </a:r>
                      <a:r>
                        <a:rPr lang="en-US" sz="1800" u="none" strike="noStrike" cap="none"/>
                        <a:t> </a:t>
                      </a:r>
                      <a:r>
                        <a:rPr lang="en-US" sz="1800" b="0" u="none" strike="noStrike" cap="none">
                          <a:solidFill>
                            <a:srgbClr val="111827"/>
                          </a:solidFill>
                          <a:latin typeface="Calibri"/>
                          <a:ea typeface="Calibri"/>
                          <a:cs typeface="Calibri"/>
                          <a:sym typeface="Calibri"/>
                        </a:rPr>
                        <a:t>to update </a:t>
                      </a:r>
                      <a:endParaRPr sz="1800" b="0" u="none" strike="noStrike" cap="none">
                        <a:solidFill>
                          <a:srgbClr val="111827"/>
                        </a:solidFill>
                        <a:latin typeface="Calibri"/>
                        <a:ea typeface="Calibri"/>
                        <a:cs typeface="Calibri"/>
                        <a:sym typeface="Calibri"/>
                      </a:endParaRPr>
                    </a:p>
                    <a:p>
                      <a:pPr marL="457200" marR="0" lvl="0" indent="-342900" algn="l" rtl="0">
                        <a:lnSpc>
                          <a:spcPct val="100000"/>
                        </a:lnSpc>
                        <a:spcBef>
                          <a:spcPts val="0"/>
                        </a:spcBef>
                        <a:spcAft>
                          <a:spcPts val="0"/>
                        </a:spcAft>
                        <a:buClr>
                          <a:srgbClr val="111827"/>
                        </a:buClr>
                        <a:buSzPts val="1800"/>
                        <a:buChar char="●"/>
                      </a:pPr>
                      <a:r>
                        <a:rPr lang="en-US" sz="1800" u="none" strike="noStrike" cap="none">
                          <a:solidFill>
                            <a:srgbClr val="111827"/>
                          </a:solidFill>
                        </a:rPr>
                        <a:t>H</a:t>
                      </a:r>
                      <a:r>
                        <a:rPr lang="en-US" sz="1800" b="0" u="none" strike="noStrike" cap="none">
                          <a:solidFill>
                            <a:srgbClr val="111827"/>
                          </a:solidFill>
                          <a:latin typeface="Calibri"/>
                          <a:ea typeface="Calibri"/>
                          <a:cs typeface="Calibri"/>
                          <a:sym typeface="Calibri"/>
                        </a:rPr>
                        <a:t>ard to share, competence penalty</a:t>
                      </a:r>
                      <a:endParaRPr sz="1800" u="none" strike="noStrike" cap="none"/>
                    </a:p>
                  </a:txBody>
                  <a:tcPr marL="91450" marR="91450" marT="45725" marB="45725"/>
                </a:tc>
                <a:extLst>
                  <a:ext uri="{0D108BD9-81ED-4DB2-BD59-A6C34878D82A}">
                    <a16:rowId xmlns:a16="http://schemas.microsoft.com/office/drawing/2014/main" val="10003"/>
                  </a:ext>
                </a:extLst>
              </a:tr>
              <a:tr h="1602100">
                <a:tc>
                  <a:txBody>
                    <a:bodyPr/>
                    <a:lstStyle/>
                    <a:p>
                      <a:pPr marL="0" marR="0" lvl="0" indent="0" algn="l" rtl="0">
                        <a:lnSpc>
                          <a:spcPct val="100000"/>
                        </a:lnSpc>
                        <a:spcBef>
                          <a:spcPts val="0"/>
                        </a:spcBef>
                        <a:spcAft>
                          <a:spcPts val="0"/>
                        </a:spcAft>
                        <a:buClr>
                          <a:srgbClr val="000000"/>
                        </a:buClr>
                        <a:buSzPts val="1800"/>
                        <a:buFont typeface="Arial"/>
                        <a:buNone/>
                      </a:pPr>
                      <a:r>
                        <a:rPr lang="en-US" sz="1800" b="1" u="none" strike="noStrike" cap="none">
                          <a:solidFill>
                            <a:srgbClr val="111827"/>
                          </a:solidFill>
                        </a:rPr>
                        <a:t>AI </a:t>
                      </a:r>
                      <a:r>
                        <a:rPr lang="en-US" sz="1800" b="1">
                          <a:solidFill>
                            <a:srgbClr val="111827"/>
                          </a:solidFill>
                        </a:rPr>
                        <a:t>W</a:t>
                      </a:r>
                      <a:r>
                        <a:rPr lang="en-US" sz="1800" b="1" u="none" strike="noStrike" cap="none">
                          <a:solidFill>
                            <a:srgbClr val="111827"/>
                          </a:solidFill>
                        </a:rPr>
                        <a:t>orkflows</a:t>
                      </a:r>
                      <a:endParaRPr sz="1700" b="1" u="none" strike="noStrike" cap="none"/>
                    </a:p>
                    <a:p>
                      <a:pPr marL="0" marR="0" lvl="0" indent="0" algn="l" rtl="0">
                        <a:lnSpc>
                          <a:spcPct val="100000"/>
                        </a:lnSpc>
                        <a:spcBef>
                          <a:spcPts val="0"/>
                        </a:spcBef>
                        <a:spcAft>
                          <a:spcPts val="0"/>
                        </a:spcAft>
                        <a:buClr>
                          <a:srgbClr val="000000"/>
                        </a:buClr>
                        <a:buSzPts val="1800"/>
                        <a:buFont typeface="Arial"/>
                        <a:buNone/>
                      </a:pPr>
                      <a:r>
                        <a:rPr lang="en-US" sz="1800" b="0" u="none" strike="noStrike" cap="none">
                          <a:solidFill>
                            <a:srgbClr val="111827"/>
                          </a:solidFill>
                          <a:latin typeface="Calibri"/>
                          <a:ea typeface="Calibri"/>
                          <a:cs typeface="Calibri"/>
                          <a:sym typeface="Calibri"/>
                        </a:rPr>
                        <a:t>(Claude, ChatGPT)</a:t>
                      </a:r>
                      <a:endParaRPr sz="1700" u="none" strike="noStrike" cap="none"/>
                    </a:p>
                  </a:txBody>
                  <a:tcPr marL="91450" marR="91450" marT="45725" marB="45725">
                    <a:solidFill>
                      <a:srgbClr val="F3F4F6"/>
                    </a:solidFill>
                  </a:tcPr>
                </a:tc>
                <a:tc>
                  <a:txBody>
                    <a:bodyPr/>
                    <a:lstStyle/>
                    <a:p>
                      <a:pPr marL="457200" marR="0" lvl="0" indent="-342900" algn="l" rtl="0">
                        <a:lnSpc>
                          <a:spcPct val="100000"/>
                        </a:lnSpc>
                        <a:spcBef>
                          <a:spcPts val="0"/>
                        </a:spcBef>
                        <a:spcAft>
                          <a:spcPts val="0"/>
                        </a:spcAft>
                        <a:buClr>
                          <a:srgbClr val="111827"/>
                        </a:buClr>
                        <a:buSzPts val="1800"/>
                        <a:buChar char="●"/>
                      </a:pPr>
                      <a:r>
                        <a:rPr lang="en-US" sz="1800" b="0" u="none" strike="noStrike" cap="none">
                          <a:solidFill>
                            <a:srgbClr val="111827"/>
                          </a:solidFill>
                          <a:latin typeface="Calibri"/>
                          <a:ea typeface="Calibri"/>
                          <a:cs typeface="Calibri"/>
                          <a:sym typeface="Calibri"/>
                        </a:rPr>
                        <a:t>Fast for one-off</a:t>
                      </a:r>
                      <a:r>
                        <a:rPr lang="en-US" sz="1800" u="none" strike="noStrike" cap="none">
                          <a:solidFill>
                            <a:srgbClr val="111827"/>
                          </a:solidFill>
                        </a:rPr>
                        <a:t> analysis and periodic reports</a:t>
                      </a:r>
                      <a:endParaRPr sz="1800" u="none" strike="noStrike" cap="none"/>
                    </a:p>
                    <a:p>
                      <a:pPr marL="457200" marR="0" lvl="0" indent="-342900" algn="l" rtl="0">
                        <a:lnSpc>
                          <a:spcPct val="100000"/>
                        </a:lnSpc>
                        <a:spcBef>
                          <a:spcPts val="0"/>
                        </a:spcBef>
                        <a:spcAft>
                          <a:spcPts val="0"/>
                        </a:spcAft>
                        <a:buClr>
                          <a:srgbClr val="111827"/>
                        </a:buClr>
                        <a:buSzPts val="1800"/>
                        <a:buChar char="●"/>
                      </a:pPr>
                      <a:r>
                        <a:rPr lang="en-US" sz="1800" u="none" strike="noStrike" cap="none">
                          <a:solidFill>
                            <a:srgbClr val="111827"/>
                          </a:solidFill>
                        </a:rPr>
                        <a:t>S</a:t>
                      </a:r>
                      <a:r>
                        <a:rPr lang="en-US" sz="1800" b="0" u="none" strike="noStrike" cap="none">
                          <a:solidFill>
                            <a:srgbClr val="111827"/>
                          </a:solidFill>
                          <a:latin typeface="Calibri"/>
                          <a:ea typeface="Calibri"/>
                          <a:cs typeface="Calibri"/>
                          <a:sym typeface="Calibri"/>
                        </a:rPr>
                        <a:t>urprisingly capable</a:t>
                      </a:r>
                      <a:endParaRPr sz="1800" u="none" strike="noStrike" cap="none"/>
                    </a:p>
                  </a:txBody>
                  <a:tcPr marL="91450" marR="91450" marT="45725" marB="45725">
                    <a:solidFill>
                      <a:srgbClr val="F3F4F6"/>
                    </a:solidFill>
                  </a:tcPr>
                </a:tc>
                <a:tc>
                  <a:txBody>
                    <a:bodyPr/>
                    <a:lstStyle/>
                    <a:p>
                      <a:pPr marL="457200" marR="0" lvl="0" indent="-342900" algn="l" rtl="0">
                        <a:lnSpc>
                          <a:spcPct val="100000"/>
                        </a:lnSpc>
                        <a:spcBef>
                          <a:spcPts val="0"/>
                        </a:spcBef>
                        <a:spcAft>
                          <a:spcPts val="0"/>
                        </a:spcAft>
                        <a:buClr>
                          <a:srgbClr val="111827"/>
                        </a:buClr>
                        <a:buSzPts val="1800"/>
                        <a:buChar char="●"/>
                      </a:pPr>
                      <a:r>
                        <a:rPr lang="en-US" sz="1800" u="none" strike="noStrike" cap="none">
                          <a:solidFill>
                            <a:srgbClr val="111827"/>
                          </a:solidFill>
                        </a:rPr>
                        <a:t>Doesn’t scale</a:t>
                      </a:r>
                      <a:r>
                        <a:rPr lang="en-US" sz="1800" b="0" u="none" strike="noStrike" cap="none">
                          <a:solidFill>
                            <a:srgbClr val="111827"/>
                          </a:solidFill>
                          <a:latin typeface="Calibri"/>
                          <a:ea typeface="Calibri"/>
                          <a:cs typeface="Calibri"/>
                          <a:sym typeface="Calibri"/>
                        </a:rPr>
                        <a:t> - mu</a:t>
                      </a:r>
                      <a:r>
                        <a:rPr lang="en-US" sz="1800" u="none" strike="noStrike" cap="none">
                          <a:solidFill>
                            <a:srgbClr val="111827"/>
                          </a:solidFill>
                        </a:rPr>
                        <a:t>ltiple one-offs</a:t>
                      </a:r>
                      <a:endParaRPr sz="1800" u="none" strike="noStrike" cap="none">
                        <a:solidFill>
                          <a:srgbClr val="111827"/>
                        </a:solidFill>
                      </a:endParaRPr>
                    </a:p>
                    <a:p>
                      <a:pPr marL="457200" marR="0" lvl="0" indent="-342900" algn="l" rtl="0">
                        <a:lnSpc>
                          <a:spcPct val="100000"/>
                        </a:lnSpc>
                        <a:spcBef>
                          <a:spcPts val="0"/>
                        </a:spcBef>
                        <a:spcAft>
                          <a:spcPts val="0"/>
                        </a:spcAft>
                        <a:buSzPts val="1800"/>
                        <a:buChar char="●"/>
                      </a:pPr>
                      <a:r>
                        <a:rPr lang="en-US" sz="1800" u="none" strike="noStrike" cap="none">
                          <a:solidFill>
                            <a:srgbClr val="111827"/>
                          </a:solidFill>
                        </a:rPr>
                        <a:t>Y</a:t>
                      </a:r>
                      <a:r>
                        <a:rPr lang="en-US" sz="1800" b="0" u="none" strike="noStrike" cap="none">
                          <a:solidFill>
                            <a:srgbClr val="111827"/>
                          </a:solidFill>
                          <a:latin typeface="Calibri"/>
                          <a:ea typeface="Calibri"/>
                          <a:cs typeface="Calibri"/>
                          <a:sym typeface="Calibri"/>
                        </a:rPr>
                        <a:t>ou become</a:t>
                      </a:r>
                      <a:r>
                        <a:rPr lang="en-US" sz="1800" u="none" strike="noStrike" cap="none"/>
                        <a:t> </a:t>
                      </a:r>
                      <a:r>
                        <a:rPr lang="en-US" sz="1800" b="0" u="none" strike="noStrike" cap="none">
                          <a:solidFill>
                            <a:srgbClr val="111827"/>
                          </a:solidFill>
                          <a:latin typeface="Calibri"/>
                          <a:ea typeface="Calibri"/>
                          <a:cs typeface="Calibri"/>
                          <a:sym typeface="Calibri"/>
                        </a:rPr>
                        <a:t>the infrastructure</a:t>
                      </a:r>
                      <a:endParaRPr sz="1800" b="0" u="none" strike="noStrike" cap="none">
                        <a:solidFill>
                          <a:srgbClr val="111827"/>
                        </a:solidFill>
                        <a:latin typeface="Calibri"/>
                        <a:ea typeface="Calibri"/>
                        <a:cs typeface="Calibri"/>
                        <a:sym typeface="Calibri"/>
                      </a:endParaRPr>
                    </a:p>
                    <a:p>
                      <a:pPr marL="457200" marR="0" lvl="0" indent="-342900" algn="l" rtl="0">
                        <a:lnSpc>
                          <a:spcPct val="100000"/>
                        </a:lnSpc>
                        <a:spcBef>
                          <a:spcPts val="0"/>
                        </a:spcBef>
                        <a:spcAft>
                          <a:spcPts val="0"/>
                        </a:spcAft>
                        <a:buClr>
                          <a:srgbClr val="111827"/>
                        </a:buClr>
                        <a:buSzPts val="1800"/>
                        <a:buChar char="●"/>
                      </a:pPr>
                      <a:r>
                        <a:rPr lang="en-US" sz="1800" u="none" strike="noStrike" cap="none">
                          <a:solidFill>
                            <a:srgbClr val="111827"/>
                          </a:solidFill>
                        </a:rPr>
                        <a:t>Calculations → COMPLICATIONS (who audits?)</a:t>
                      </a:r>
                      <a:endParaRPr sz="1800" u="none" strike="noStrike" cap="none">
                        <a:solidFill>
                          <a:srgbClr val="111827"/>
                        </a:solidFill>
                      </a:endParaRPr>
                    </a:p>
                    <a:p>
                      <a:pPr marL="457200" marR="0" lvl="0" indent="-342900" algn="l" rtl="0">
                        <a:lnSpc>
                          <a:spcPct val="100000"/>
                        </a:lnSpc>
                        <a:spcBef>
                          <a:spcPts val="0"/>
                        </a:spcBef>
                        <a:spcAft>
                          <a:spcPts val="0"/>
                        </a:spcAft>
                        <a:buClr>
                          <a:srgbClr val="111827"/>
                        </a:buClr>
                        <a:buSzPts val="1800"/>
                        <a:buChar char="●"/>
                      </a:pPr>
                      <a:r>
                        <a:rPr lang="en-US" sz="1800" u="none" strike="noStrike" cap="none">
                          <a:solidFill>
                            <a:srgbClr val="111827"/>
                          </a:solidFill>
                        </a:rPr>
                        <a:t>The vibe-coding problem (tech debt)</a:t>
                      </a:r>
                      <a:endParaRPr sz="1800"/>
                    </a:p>
                    <a:p>
                      <a:pPr marL="457200" marR="0" lvl="0" indent="-342900" algn="l" rtl="0">
                        <a:lnSpc>
                          <a:spcPct val="100000"/>
                        </a:lnSpc>
                        <a:spcBef>
                          <a:spcPts val="0"/>
                        </a:spcBef>
                        <a:spcAft>
                          <a:spcPts val="0"/>
                        </a:spcAft>
                        <a:buClr>
                          <a:srgbClr val="111827"/>
                        </a:buClr>
                        <a:buSzPts val="1800"/>
                        <a:buChar char="●"/>
                      </a:pPr>
                      <a:r>
                        <a:rPr lang="en-US" sz="1800" u="none" strike="noStrike" cap="none">
                          <a:solidFill>
                            <a:srgbClr val="111827"/>
                          </a:solidFill>
                        </a:rPr>
                        <a:t>Privacy + security (your data 🡪 AI agent)</a:t>
                      </a:r>
                      <a:endParaRPr sz="1800" u="none" strike="noStrike" cap="none">
                        <a:solidFill>
                          <a:srgbClr val="111827"/>
                        </a:solidFill>
                      </a:endParaRPr>
                    </a:p>
                  </a:txBody>
                  <a:tcPr marL="91450" marR="91450" marT="45725" marB="45725">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9"/>
          <p:cNvSpPr txBox="1"/>
          <p:nvPr/>
        </p:nvSpPr>
        <p:spPr>
          <a:xfrm>
            <a:off x="731520" y="274320"/>
            <a:ext cx="100584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111827"/>
                </a:solidFill>
                <a:latin typeface="Calibri"/>
                <a:ea typeface="Calibri"/>
                <a:cs typeface="Calibri"/>
                <a:sym typeface="Calibri"/>
              </a:rPr>
              <a:t>Drilldown: the AI workflow trap(s)</a:t>
            </a:r>
            <a:endParaRPr sz="1400" b="0" i="0" u="none" strike="noStrike" cap="none">
              <a:solidFill>
                <a:srgbClr val="000000"/>
              </a:solidFill>
              <a:latin typeface="Arial"/>
              <a:ea typeface="Arial"/>
              <a:cs typeface="Arial"/>
              <a:sym typeface="Arial"/>
            </a:endParaRPr>
          </a:p>
        </p:txBody>
      </p:sp>
      <p:sp>
        <p:nvSpPr>
          <p:cNvPr id="181" name="Google Shape;181;p19"/>
          <p:cNvSpPr txBox="1"/>
          <p:nvPr/>
        </p:nvSpPr>
        <p:spPr>
          <a:xfrm>
            <a:off x="731520" y="1097280"/>
            <a:ext cx="9144000" cy="1097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6B7280"/>
                </a:solidFill>
                <a:latin typeface="Calibri"/>
                <a:ea typeface="Calibri"/>
                <a:cs typeface="Calibri"/>
                <a:sym typeface="Calibri"/>
              </a:rPr>
              <a:t>You can absolutely build a reporting workflow in Claude or ChatGPT. Get it to write a Python script, hook up a cron job, pipe the output to email. It works!</a:t>
            </a:r>
            <a:endParaRPr sz="1400" b="0" i="0" u="none" strike="noStrike" cap="none">
              <a:solidFill>
                <a:srgbClr val="000000"/>
              </a:solidFill>
              <a:latin typeface="Arial"/>
              <a:ea typeface="Arial"/>
              <a:cs typeface="Arial"/>
              <a:sym typeface="Arial"/>
            </a:endParaRPr>
          </a:p>
        </p:txBody>
      </p:sp>
      <p:sp>
        <p:nvSpPr>
          <p:cNvPr id="182" name="Google Shape;182;p19"/>
          <p:cNvSpPr txBox="1"/>
          <p:nvPr/>
        </p:nvSpPr>
        <p:spPr>
          <a:xfrm>
            <a:off x="731525" y="2089650"/>
            <a:ext cx="10058400" cy="2308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111827"/>
                </a:solidFill>
                <a:latin typeface="Calibri"/>
                <a:ea typeface="Calibri"/>
                <a:cs typeface="Calibri"/>
                <a:sym typeface="Calibri"/>
              </a:rPr>
              <a:t>Question 1: what happens next?</a:t>
            </a:r>
            <a:endParaRPr sz="14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Who maintains the script, modifies it when it needs updating?</a:t>
            </a:r>
            <a:endParaRPr sz="14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What happens when you </a:t>
            </a:r>
            <a:r>
              <a:rPr lang="en-US" sz="2000" b="1" i="0" u="none" strike="noStrike" cap="none">
                <a:solidFill>
                  <a:srgbClr val="111827"/>
                </a:solidFill>
                <a:latin typeface="Calibri"/>
                <a:ea typeface="Calibri"/>
                <a:cs typeface="Calibri"/>
                <a:sym typeface="Calibri"/>
              </a:rPr>
              <a:t>share it</a:t>
            </a:r>
            <a:r>
              <a:rPr lang="en-US" sz="2000" b="0" i="0" u="none" strike="noStrike" cap="none">
                <a:solidFill>
                  <a:srgbClr val="111827"/>
                </a:solidFill>
                <a:latin typeface="Calibri"/>
                <a:ea typeface="Calibri"/>
                <a:cs typeface="Calibri"/>
                <a:sym typeface="Calibri"/>
              </a:rPr>
              <a:t>, and someone wants a different view of the data, e.g. filtered?</a:t>
            </a:r>
            <a:endParaRPr sz="2000" b="0" i="0" u="none" strike="noStrike" cap="none">
              <a:solidFill>
                <a:srgbClr val="111827"/>
              </a:solidFill>
              <a:latin typeface="Calibri"/>
              <a:ea typeface="Calibri"/>
              <a:cs typeface="Calibri"/>
              <a:sym typeface="Calibri"/>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This is the </a:t>
            </a:r>
            <a:r>
              <a:rPr lang="en-US" sz="2000" b="1" i="0" u="none" strike="noStrike" cap="none">
                <a:solidFill>
                  <a:srgbClr val="111827"/>
                </a:solidFill>
                <a:latin typeface="Calibri"/>
                <a:ea typeface="Calibri"/>
                <a:cs typeface="Calibri"/>
                <a:sym typeface="Calibri"/>
              </a:rPr>
              <a:t>competence penalty</a:t>
            </a:r>
            <a:r>
              <a:rPr lang="en-US" sz="2000" b="0" i="0" u="none" strike="noStrike" cap="none">
                <a:solidFill>
                  <a:srgbClr val="111827"/>
                </a:solidFill>
                <a:latin typeface="Calibri"/>
                <a:ea typeface="Calibri"/>
                <a:cs typeface="Calibri"/>
                <a:sym typeface="Calibri"/>
              </a:rPr>
              <a:t> – anyone who has created a great spreadsheet knows the perils of becoming the owner of “the spreadsheet.” </a:t>
            </a:r>
            <a:endParaRPr sz="2000" b="0" i="0" u="none" strike="noStrike" cap="none">
              <a:solidFill>
                <a:srgbClr val="111827"/>
              </a:solidFill>
              <a:latin typeface="Calibri"/>
              <a:ea typeface="Calibri"/>
              <a:cs typeface="Calibri"/>
              <a:sym typeface="Calibri"/>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But </a:t>
            </a:r>
            <a:r>
              <a:rPr lang="en-US" sz="2000" b="1" i="0" u="none" strike="noStrike" cap="none">
                <a:solidFill>
                  <a:srgbClr val="111827"/>
                </a:solidFill>
                <a:latin typeface="Calibri"/>
                <a:ea typeface="Calibri"/>
                <a:cs typeface="Calibri"/>
                <a:sym typeface="Calibri"/>
              </a:rPr>
              <a:t>different</a:t>
            </a:r>
            <a:r>
              <a:rPr lang="en-US" sz="2000" b="0" i="0" u="none" strike="noStrike" cap="none">
                <a:solidFill>
                  <a:srgbClr val="111827"/>
                </a:solidFill>
                <a:latin typeface="Calibri"/>
                <a:ea typeface="Calibri"/>
                <a:cs typeface="Calibri"/>
                <a:sym typeface="Calibri"/>
              </a:rPr>
              <a:t> and </a:t>
            </a:r>
            <a:r>
              <a:rPr lang="en-US" sz="2000" b="1" i="0" u="none" strike="noStrike" cap="none">
                <a:solidFill>
                  <a:srgbClr val="111827"/>
                </a:solidFill>
                <a:latin typeface="Calibri"/>
                <a:ea typeface="Calibri"/>
                <a:cs typeface="Calibri"/>
                <a:sym typeface="Calibri"/>
              </a:rPr>
              <a:t>worse</a:t>
            </a:r>
            <a:r>
              <a:rPr lang="en-US" sz="2000" b="0" i="0" u="none" strike="noStrike" cap="none">
                <a:solidFill>
                  <a:srgbClr val="111827"/>
                </a:solidFill>
                <a:latin typeface="Calibri"/>
                <a:ea typeface="Calibri"/>
                <a:cs typeface="Calibri"/>
                <a:sym typeface="Calibri"/>
              </a:rPr>
              <a:t>: now it’s code, and code you didn’t write yourself.</a:t>
            </a:r>
            <a:endParaRPr sz="2000" b="0" i="0" u="none" strike="noStrike" cap="none">
              <a:solidFill>
                <a:srgbClr val="111827"/>
              </a:solidFill>
              <a:latin typeface="Calibri"/>
              <a:ea typeface="Calibri"/>
              <a:cs typeface="Calibri"/>
              <a:sym typeface="Calibri"/>
            </a:endParaRPr>
          </a:p>
        </p:txBody>
      </p:sp>
      <p:sp>
        <p:nvSpPr>
          <p:cNvPr id="183" name="Google Shape;183;p19"/>
          <p:cNvSpPr txBox="1"/>
          <p:nvPr/>
        </p:nvSpPr>
        <p:spPr>
          <a:xfrm>
            <a:off x="731525" y="4453625"/>
            <a:ext cx="100584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7BA1"/>
                </a:solidFill>
                <a:latin typeface="Calibri"/>
                <a:ea typeface="Calibri"/>
                <a:cs typeface="Calibri"/>
                <a:sym typeface="Calibri"/>
              </a:rPr>
              <a:t>You can build yourself a report. But now you're the data team, the DevOps team, and the support desk – none of which is your actual job.</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0"/>
          <p:cNvSpPr txBox="1"/>
          <p:nvPr/>
        </p:nvSpPr>
        <p:spPr>
          <a:xfrm>
            <a:off x="731520" y="274320"/>
            <a:ext cx="100584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111827"/>
                </a:solidFill>
                <a:latin typeface="Calibri"/>
                <a:ea typeface="Calibri"/>
                <a:cs typeface="Calibri"/>
                <a:sym typeface="Calibri"/>
              </a:rPr>
              <a:t>Drilldown: the AI workflow trap(s)</a:t>
            </a:r>
            <a:endParaRPr sz="1400" b="0" i="0" u="none" strike="noStrike" cap="none">
              <a:solidFill>
                <a:srgbClr val="000000"/>
              </a:solidFill>
              <a:latin typeface="Arial"/>
              <a:ea typeface="Arial"/>
              <a:cs typeface="Arial"/>
              <a:sym typeface="Arial"/>
            </a:endParaRPr>
          </a:p>
        </p:txBody>
      </p:sp>
      <p:sp>
        <p:nvSpPr>
          <p:cNvPr id="189" name="Google Shape;189;p20"/>
          <p:cNvSpPr txBox="1"/>
          <p:nvPr/>
        </p:nvSpPr>
        <p:spPr>
          <a:xfrm>
            <a:off x="731520" y="1097280"/>
            <a:ext cx="91440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6B7280"/>
                </a:solidFill>
                <a:latin typeface="Calibri"/>
                <a:ea typeface="Calibri"/>
                <a:cs typeface="Calibri"/>
                <a:sym typeface="Calibri"/>
              </a:rPr>
              <a:t>You can absolutely build a reporting workflow in Claude or ChatGPT. Get it to write a Python script, hook up a cron job, pipe the output to email. It works!</a:t>
            </a:r>
            <a:endParaRPr sz="1400" b="0" i="0" u="none" strike="noStrike" cap="none">
              <a:solidFill>
                <a:srgbClr val="000000"/>
              </a:solidFill>
              <a:latin typeface="Arial"/>
              <a:ea typeface="Arial"/>
              <a:cs typeface="Arial"/>
              <a:sym typeface="Arial"/>
            </a:endParaRPr>
          </a:p>
        </p:txBody>
      </p:sp>
      <p:sp>
        <p:nvSpPr>
          <p:cNvPr id="190" name="Google Shape;190;p20"/>
          <p:cNvSpPr txBox="1"/>
          <p:nvPr/>
        </p:nvSpPr>
        <p:spPr>
          <a:xfrm>
            <a:off x="731526" y="4990175"/>
            <a:ext cx="103479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7BA1"/>
                </a:solidFill>
                <a:latin typeface="Calibri"/>
                <a:ea typeface="Calibri"/>
                <a:cs typeface="Calibri"/>
                <a:sym typeface="Calibri"/>
              </a:rPr>
              <a:t>You can build yourself a report. But even the least complexity requires you to audit and justify the calculations, and AI workflows make this more difficult.</a:t>
            </a:r>
            <a:endParaRPr sz="1400" b="0" i="0" u="none" strike="noStrike" cap="none">
              <a:solidFill>
                <a:srgbClr val="000000"/>
              </a:solidFill>
              <a:latin typeface="Arial"/>
              <a:ea typeface="Arial"/>
              <a:cs typeface="Arial"/>
              <a:sym typeface="Arial"/>
            </a:endParaRPr>
          </a:p>
        </p:txBody>
      </p:sp>
      <p:sp>
        <p:nvSpPr>
          <p:cNvPr id="191" name="Google Shape;191;p20"/>
          <p:cNvSpPr txBox="1"/>
          <p:nvPr/>
        </p:nvSpPr>
        <p:spPr>
          <a:xfrm>
            <a:off x="731525" y="2043225"/>
            <a:ext cx="10347900" cy="2709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111827"/>
                </a:solidFill>
                <a:latin typeface="Calibri"/>
                <a:ea typeface="Calibri"/>
                <a:cs typeface="Calibri"/>
                <a:sym typeface="Calibri"/>
              </a:rPr>
              <a:t>Question 2: flexibility, scope, and accuracy</a:t>
            </a:r>
            <a:endParaRPr sz="14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AI workflows are is fine for simple reports: “pull these 6 numbers out of these two SaaS APIs.”</a:t>
            </a:r>
            <a:endParaRPr sz="14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Complications arise when you make a </a:t>
            </a:r>
            <a:r>
              <a:rPr lang="en-US" sz="2000" b="1" i="0" u="none" strike="noStrike" cap="none">
                <a:solidFill>
                  <a:srgbClr val="111827"/>
                </a:solidFill>
                <a:latin typeface="Calibri"/>
                <a:ea typeface="Calibri"/>
                <a:cs typeface="Calibri"/>
                <a:sym typeface="Calibri"/>
              </a:rPr>
              <a:t>calculation</a:t>
            </a:r>
            <a:r>
              <a:rPr lang="en-US" sz="2000" b="0" i="0" u="none" strike="noStrike" cap="none">
                <a:solidFill>
                  <a:srgbClr val="111827"/>
                </a:solidFill>
                <a:latin typeface="Calibri"/>
                <a:ea typeface="Calibri"/>
                <a:cs typeface="Calibri"/>
                <a:sym typeface="Calibri"/>
              </a:rPr>
              <a:t> – even just to combine two numbers. </a:t>
            </a:r>
            <a:endParaRPr sz="2000" b="0" i="0" u="none" strike="noStrike" cap="none">
              <a:solidFill>
                <a:srgbClr val="111827"/>
              </a:solidFill>
              <a:latin typeface="Calibri"/>
              <a:ea typeface="Calibri"/>
              <a:cs typeface="Calibri"/>
              <a:sym typeface="Calibri"/>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Calculations involve </a:t>
            </a:r>
            <a:r>
              <a:rPr lang="en-US" sz="2000" b="1" i="0" u="none" strike="noStrike" cap="none">
                <a:solidFill>
                  <a:srgbClr val="111827"/>
                </a:solidFill>
                <a:latin typeface="Calibri"/>
                <a:ea typeface="Calibri"/>
                <a:cs typeface="Calibri"/>
                <a:sym typeface="Calibri"/>
              </a:rPr>
              <a:t>assumptions</a:t>
            </a:r>
            <a:r>
              <a:rPr lang="en-US" sz="2000" b="0" i="0" u="none" strike="noStrike" cap="none">
                <a:solidFill>
                  <a:srgbClr val="111827"/>
                </a:solidFill>
                <a:latin typeface="Calibri"/>
                <a:ea typeface="Calibri"/>
                <a:cs typeface="Calibri"/>
                <a:sym typeface="Calibri"/>
              </a:rPr>
              <a:t> and need to be </a:t>
            </a:r>
            <a:r>
              <a:rPr lang="en-US" sz="2000" b="1" i="0" u="none" strike="noStrike" cap="none">
                <a:solidFill>
                  <a:srgbClr val="111827"/>
                </a:solidFill>
                <a:latin typeface="Calibri"/>
                <a:ea typeface="Calibri"/>
                <a:cs typeface="Calibri"/>
                <a:sym typeface="Calibri"/>
              </a:rPr>
              <a:t>audited</a:t>
            </a:r>
            <a:r>
              <a:rPr lang="en-US" sz="2000" b="0" i="0" u="none" strike="noStrike" cap="none">
                <a:solidFill>
                  <a:srgbClr val="111827"/>
                </a:solidFill>
                <a:latin typeface="Calibri"/>
                <a:ea typeface="Calibri"/>
                <a:cs typeface="Calibri"/>
                <a:sym typeface="Calibri"/>
              </a:rPr>
              <a:t>. Who checks the calculations and confirms the sources and assumptions are correct?</a:t>
            </a:r>
            <a:endParaRPr sz="2000" b="0" i="0" u="none" strike="noStrike" cap="none">
              <a:solidFill>
                <a:srgbClr val="111827"/>
              </a:solidFill>
              <a:latin typeface="Calibri"/>
              <a:ea typeface="Calibri"/>
              <a:cs typeface="Calibri"/>
              <a:sym typeface="Calibri"/>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AI wrote you a Python script. Can you read it and guarantee it’s coded correctly?</a:t>
            </a:r>
            <a:endParaRPr sz="2000" b="0" i="0" u="none" strike="noStrike" cap="none">
              <a:solidFill>
                <a:srgbClr val="111827"/>
              </a:solidFill>
              <a:latin typeface="Calibri"/>
              <a:ea typeface="Calibri"/>
              <a:cs typeface="Calibri"/>
              <a:sym typeface="Calibri"/>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This is the </a:t>
            </a:r>
            <a:r>
              <a:rPr lang="en-US" sz="2000" b="1" i="0" u="none" strike="noStrike" cap="none">
                <a:solidFill>
                  <a:srgbClr val="111827"/>
                </a:solidFill>
                <a:latin typeface="Calibri"/>
                <a:ea typeface="Calibri"/>
                <a:cs typeface="Calibri"/>
                <a:sym typeface="Calibri"/>
              </a:rPr>
              <a:t>dueling reports </a:t>
            </a:r>
            <a:r>
              <a:rPr lang="en-US" sz="2000" b="0" i="0" u="none" strike="noStrike" cap="none">
                <a:solidFill>
                  <a:srgbClr val="111827"/>
                </a:solidFill>
                <a:latin typeface="Calibri"/>
                <a:ea typeface="Calibri"/>
                <a:cs typeface="Calibri"/>
                <a:sym typeface="Calibri"/>
              </a:rPr>
              <a:t>problem: Candace’s report says x, Mike’s says y. Except worse, because AI makes the reports more opaque and difficult to audit.</a:t>
            </a:r>
            <a:endParaRPr sz="2000" b="0" i="0" u="none" strike="noStrike" cap="none">
              <a:solidFill>
                <a:srgbClr val="111827"/>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1"/>
          <p:cNvSpPr txBox="1"/>
          <p:nvPr/>
        </p:nvSpPr>
        <p:spPr>
          <a:xfrm>
            <a:off x="731520" y="274320"/>
            <a:ext cx="100584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111827"/>
                </a:solidFill>
                <a:latin typeface="Calibri"/>
                <a:ea typeface="Calibri"/>
                <a:cs typeface="Calibri"/>
                <a:sym typeface="Calibri"/>
              </a:rPr>
              <a:t>Drilldown: AI workflows – privacy and security</a:t>
            </a:r>
            <a:endParaRPr sz="1400" b="0" i="0" u="none" strike="noStrike" cap="none">
              <a:solidFill>
                <a:srgbClr val="000000"/>
              </a:solidFill>
              <a:latin typeface="Arial"/>
              <a:ea typeface="Arial"/>
              <a:cs typeface="Arial"/>
              <a:sym typeface="Arial"/>
            </a:endParaRPr>
          </a:p>
        </p:txBody>
      </p:sp>
      <p:sp>
        <p:nvSpPr>
          <p:cNvPr id="197" name="Google Shape;197;p21"/>
          <p:cNvSpPr txBox="1"/>
          <p:nvPr/>
        </p:nvSpPr>
        <p:spPr>
          <a:xfrm>
            <a:off x="731520" y="1097280"/>
            <a:ext cx="91440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6B7280"/>
                </a:solidFill>
                <a:latin typeface="Calibri"/>
                <a:ea typeface="Calibri"/>
                <a:cs typeface="Calibri"/>
                <a:sym typeface="Calibri"/>
              </a:rPr>
              <a:t>You can absolutely build a reporting workflow in Claude or ChatGPT. Get it to write a Python script, hook up a cron job, pipe the output to email. It works!</a:t>
            </a:r>
            <a:endParaRPr sz="1400" b="0" i="0" u="none" strike="noStrike" cap="none">
              <a:solidFill>
                <a:srgbClr val="000000"/>
              </a:solidFill>
              <a:latin typeface="Arial"/>
              <a:ea typeface="Arial"/>
              <a:cs typeface="Arial"/>
              <a:sym typeface="Arial"/>
            </a:endParaRPr>
          </a:p>
        </p:txBody>
      </p:sp>
      <p:sp>
        <p:nvSpPr>
          <p:cNvPr id="198" name="Google Shape;198;p21"/>
          <p:cNvSpPr txBox="1"/>
          <p:nvPr/>
        </p:nvSpPr>
        <p:spPr>
          <a:xfrm>
            <a:off x="731526" y="4655055"/>
            <a:ext cx="103479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7BA1"/>
                </a:solidFill>
                <a:latin typeface="Calibri"/>
                <a:ea typeface="Calibri"/>
                <a:cs typeface="Calibri"/>
                <a:sym typeface="Calibri"/>
              </a:rPr>
              <a:t>It is possible to build secure data workflows with AI, but giving generalist AI tools such as GPT or Claude code access to private and/or sensitive data is a recipe for disaster.</a:t>
            </a:r>
            <a:endParaRPr sz="1400" b="0" i="0" u="none" strike="noStrike" cap="none">
              <a:solidFill>
                <a:srgbClr val="000000"/>
              </a:solidFill>
              <a:latin typeface="Arial"/>
              <a:ea typeface="Arial"/>
              <a:cs typeface="Arial"/>
              <a:sym typeface="Arial"/>
            </a:endParaRPr>
          </a:p>
        </p:txBody>
      </p:sp>
      <p:sp>
        <p:nvSpPr>
          <p:cNvPr id="199" name="Google Shape;199;p21"/>
          <p:cNvSpPr txBox="1"/>
          <p:nvPr/>
        </p:nvSpPr>
        <p:spPr>
          <a:xfrm>
            <a:off x="731525" y="2043225"/>
            <a:ext cx="10347900" cy="209285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111827"/>
                </a:solidFill>
                <a:latin typeface="Calibri"/>
                <a:ea typeface="Calibri"/>
                <a:cs typeface="Calibri"/>
                <a:sym typeface="Calibri"/>
              </a:rPr>
              <a:t>Question 3: how to ensure privacy and security?</a:t>
            </a:r>
            <a:endParaRPr sz="1400" b="0" i="0" u="none" strike="noStrike" cap="none">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Generalist AI tools such as Claude Code aren’t private or secure by default. When you invite them to look at your data, they will will inspect sensitive data and may train on it.</a:t>
            </a:r>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You can build a workflow that is secure, but it requires knowledge, discipline, and auditing. </a:t>
            </a:r>
            <a:endParaRPr/>
          </a:p>
          <a:p>
            <a:pPr marL="457200" marR="0" lvl="0" indent="-355600" algn="l" rtl="0">
              <a:lnSpc>
                <a:spcPct val="100000"/>
              </a:lnSpc>
              <a:spcBef>
                <a:spcPts val="0"/>
              </a:spcBef>
              <a:spcAft>
                <a:spcPts val="0"/>
              </a:spcAft>
              <a:buClr>
                <a:srgbClr val="111827"/>
              </a:buClr>
              <a:buSzPts val="2000"/>
              <a:buFont typeface="Calibri"/>
              <a:buChar char="●"/>
            </a:pPr>
            <a:r>
              <a:rPr lang="en-US" sz="2000" b="0" i="0" u="none" strike="noStrike" cap="none">
                <a:solidFill>
                  <a:srgbClr val="111827"/>
                </a:solidFill>
                <a:latin typeface="Calibri"/>
                <a:ea typeface="Calibri"/>
                <a:cs typeface="Calibri"/>
                <a:sym typeface="Calibri"/>
              </a:rPr>
              <a:t>For any regulated industry, such as finance or healthcare, allowing your team to use generalist AI tools with your data is a terrible idea and may in fact be illegal.</a:t>
            </a:r>
            <a:endParaRPr sz="2000" b="0" i="0" u="none" strike="noStrike" cap="none">
              <a:solidFill>
                <a:srgbClr val="111827"/>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203"/>
        <p:cNvGrpSpPr/>
        <p:nvPr/>
      </p:nvGrpSpPr>
      <p:grpSpPr>
        <a:xfrm>
          <a:off x="0" y="0"/>
          <a:ext cx="0" cy="0"/>
          <a:chOff x="0" y="0"/>
          <a:chExt cx="0" cy="0"/>
        </a:xfrm>
      </p:grpSpPr>
      <p:sp>
        <p:nvSpPr>
          <p:cNvPr id="204" name="Google Shape;204;p22"/>
          <p:cNvSpPr txBox="1"/>
          <p:nvPr/>
        </p:nvSpPr>
        <p:spPr>
          <a:xfrm>
            <a:off x="1371600" y="2286000"/>
            <a:ext cx="91440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FFFFFF"/>
                </a:solidFill>
                <a:latin typeface="Calibri"/>
                <a:ea typeface="Calibri"/>
                <a:cs typeface="Calibri"/>
                <a:sym typeface="Calibri"/>
              </a:rPr>
              <a:t>The Dashbud difference</a:t>
            </a:r>
            <a:endParaRPr sz="1400" b="0" i="0" u="none" strike="noStrike" cap="none">
              <a:solidFill>
                <a:srgbClr val="000000"/>
              </a:solidFill>
              <a:latin typeface="Arial"/>
              <a:ea typeface="Arial"/>
              <a:cs typeface="Arial"/>
              <a:sym typeface="Arial"/>
            </a:endParaRPr>
          </a:p>
        </p:txBody>
      </p:sp>
      <p:sp>
        <p:nvSpPr>
          <p:cNvPr id="205" name="Google Shape;205;p22"/>
          <p:cNvSpPr txBox="1"/>
          <p:nvPr/>
        </p:nvSpPr>
        <p:spPr>
          <a:xfrm>
            <a:off x="1371600" y="3840480"/>
            <a:ext cx="9144000" cy="43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E0F4F9"/>
                </a:solidFill>
                <a:latin typeface="Calibri"/>
                <a:ea typeface="Calibri"/>
                <a:cs typeface="Calibri"/>
                <a:sym typeface="Calibri"/>
              </a:rPr>
              <a:t>AI-powered analytics for all your data and your team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p:nvPr/>
        </p:nvSpPr>
        <p:spPr>
          <a:xfrm>
            <a:off x="731520" y="381000"/>
            <a:ext cx="10058400" cy="588900"/>
          </a:xfrm>
          <a:prstGeom prst="rect">
            <a:avLst/>
          </a:prstGeom>
          <a:solidFill>
            <a:srgbClr val="000000">
              <a:alpha val="0"/>
            </a:srgbClr>
          </a:solidFill>
          <a:ln>
            <a:noFill/>
          </a:ln>
        </p:spPr>
        <p:txBody>
          <a:bodyPr spcFirstLastPara="1" wrap="square" lIns="95250" tIns="47625" rIns="95250" bIns="47625" anchor="t" anchorCtr="0">
            <a:spAutoFit/>
          </a:bodyPr>
          <a:lstStyle/>
          <a:p>
            <a:pPr marL="0" lvl="0" indent="0" algn="l" rtl="0">
              <a:spcBef>
                <a:spcPts val="0"/>
              </a:spcBef>
              <a:spcAft>
                <a:spcPts val="0"/>
              </a:spcAft>
              <a:buNone/>
            </a:pPr>
            <a:r>
              <a:rPr lang="en-US" sz="3200" b="1">
                <a:solidFill>
                  <a:srgbClr val="111827"/>
                </a:solidFill>
                <a:latin typeface="Calibri"/>
                <a:ea typeface="Calibri"/>
                <a:cs typeface="Calibri"/>
                <a:sym typeface="Calibri"/>
              </a:rPr>
              <a:t>Dashbud versus…</a:t>
            </a:r>
            <a:endParaRPr sz="3200" b="1">
              <a:solidFill>
                <a:srgbClr val="111827"/>
              </a:solidFill>
              <a:latin typeface="Calibri"/>
              <a:ea typeface="Calibri"/>
              <a:cs typeface="Calibri"/>
              <a:sym typeface="Calibri"/>
            </a:endParaRPr>
          </a:p>
        </p:txBody>
      </p:sp>
      <p:cxnSp>
        <p:nvCxnSpPr>
          <p:cNvPr id="211" name="Google Shape;211;p23"/>
          <p:cNvCxnSpPr/>
          <p:nvPr/>
        </p:nvCxnSpPr>
        <p:spPr>
          <a:xfrm>
            <a:off x="731520" y="2495550"/>
            <a:ext cx="10728900" cy="0"/>
          </a:xfrm>
          <a:prstGeom prst="straightConnector1">
            <a:avLst/>
          </a:prstGeom>
          <a:solidFill>
            <a:srgbClr val="FFFFFF"/>
          </a:solidFill>
          <a:ln w="9525" cap="flat" cmpd="sng">
            <a:solidFill>
              <a:srgbClr val="E5E7EB"/>
            </a:solidFill>
            <a:prstDash val="solid"/>
            <a:round/>
            <a:headEnd type="none" w="sm" len="sm"/>
            <a:tailEnd type="none" w="sm" len="sm"/>
          </a:ln>
        </p:spPr>
      </p:cxnSp>
      <p:cxnSp>
        <p:nvCxnSpPr>
          <p:cNvPr id="212" name="Google Shape;212;p23"/>
          <p:cNvCxnSpPr/>
          <p:nvPr/>
        </p:nvCxnSpPr>
        <p:spPr>
          <a:xfrm>
            <a:off x="731520" y="3765966"/>
            <a:ext cx="10728900" cy="0"/>
          </a:xfrm>
          <a:prstGeom prst="straightConnector1">
            <a:avLst/>
          </a:prstGeom>
          <a:solidFill>
            <a:srgbClr val="FFFFFF"/>
          </a:solidFill>
          <a:ln w="9525" cap="flat" cmpd="sng">
            <a:solidFill>
              <a:srgbClr val="E5E7EB"/>
            </a:solidFill>
            <a:prstDash val="solid"/>
            <a:round/>
            <a:headEnd type="none" w="sm" len="sm"/>
            <a:tailEnd type="none" w="sm" len="sm"/>
          </a:ln>
        </p:spPr>
      </p:cxnSp>
      <p:cxnSp>
        <p:nvCxnSpPr>
          <p:cNvPr id="213" name="Google Shape;213;p23"/>
          <p:cNvCxnSpPr/>
          <p:nvPr/>
        </p:nvCxnSpPr>
        <p:spPr>
          <a:xfrm>
            <a:off x="731520" y="4876800"/>
            <a:ext cx="10728900" cy="0"/>
          </a:xfrm>
          <a:prstGeom prst="straightConnector1">
            <a:avLst/>
          </a:prstGeom>
          <a:solidFill>
            <a:srgbClr val="FFFFFF"/>
          </a:solidFill>
          <a:ln w="9525" cap="flat" cmpd="sng">
            <a:solidFill>
              <a:srgbClr val="E5E7EB"/>
            </a:solidFill>
            <a:prstDash val="solid"/>
            <a:round/>
            <a:headEnd type="none" w="sm" len="sm"/>
            <a:tailEnd type="none" w="sm" len="sm"/>
          </a:ln>
        </p:spPr>
      </p:cxnSp>
      <p:sp>
        <p:nvSpPr>
          <p:cNvPr id="214" name="Google Shape;214;p23"/>
          <p:cNvSpPr txBox="1"/>
          <p:nvPr/>
        </p:nvSpPr>
        <p:spPr>
          <a:xfrm>
            <a:off x="731520" y="1619749"/>
            <a:ext cx="2743200" cy="434700"/>
          </a:xfrm>
          <a:prstGeom prst="rect">
            <a:avLst/>
          </a:prstGeom>
          <a:solidFill>
            <a:srgbClr val="000000">
              <a:alpha val="0"/>
            </a:srgbClr>
          </a:solidFill>
          <a:ln>
            <a:noFill/>
          </a:ln>
        </p:spPr>
        <p:txBody>
          <a:bodyPr spcFirstLastPara="1" wrap="square" lIns="95250" tIns="47625" rIns="95250" bIns="47625" anchor="t" anchorCtr="0">
            <a:spAutoFit/>
          </a:bodyPr>
          <a:lstStyle/>
          <a:p>
            <a:pPr marL="0" lvl="0" indent="0" algn="l" rtl="0">
              <a:spcBef>
                <a:spcPts val="0"/>
              </a:spcBef>
              <a:spcAft>
                <a:spcPts val="0"/>
              </a:spcAft>
              <a:buNone/>
            </a:pPr>
            <a:r>
              <a:rPr lang="en-US" sz="2200" b="1">
                <a:solidFill>
                  <a:srgbClr val="111827"/>
                </a:solidFill>
                <a:latin typeface="Calibri"/>
                <a:ea typeface="Calibri"/>
                <a:cs typeface="Calibri"/>
                <a:sym typeface="Calibri"/>
              </a:rPr>
              <a:t>SaaS dashboards</a:t>
            </a:r>
            <a:endParaRPr sz="2200" b="1">
              <a:solidFill>
                <a:srgbClr val="111827"/>
              </a:solidFill>
              <a:latin typeface="Calibri"/>
              <a:ea typeface="Calibri"/>
              <a:cs typeface="Calibri"/>
              <a:sym typeface="Calibri"/>
            </a:endParaRPr>
          </a:p>
        </p:txBody>
      </p:sp>
      <p:sp>
        <p:nvSpPr>
          <p:cNvPr id="215" name="Google Shape;215;p23"/>
          <p:cNvSpPr txBox="1"/>
          <p:nvPr/>
        </p:nvSpPr>
        <p:spPr>
          <a:xfrm>
            <a:off x="3676650" y="1619749"/>
            <a:ext cx="7783800" cy="688800"/>
          </a:xfrm>
          <a:prstGeom prst="rect">
            <a:avLst/>
          </a:prstGeom>
          <a:solidFill>
            <a:srgbClr val="000000">
              <a:alpha val="0"/>
            </a:srgbClr>
          </a:solidFill>
          <a:ln>
            <a:noFill/>
          </a:ln>
        </p:spPr>
        <p:txBody>
          <a:bodyPr spcFirstLastPara="1" wrap="square" lIns="95250" tIns="47625" rIns="95250" bIns="47625" anchor="t" anchorCtr="0">
            <a:spAutoFit/>
          </a:bodyPr>
          <a:lstStyle/>
          <a:p>
            <a:pPr marL="457200" lvl="0" indent="-342900" algn="l" rtl="0">
              <a:spcBef>
                <a:spcPts val="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Well-designed conversational interface – not an afterthought.</a:t>
            </a:r>
            <a:endParaRPr sz="1800">
              <a:solidFill>
                <a:srgbClr val="4B5563"/>
              </a:solidFill>
              <a:latin typeface="Calibri"/>
              <a:ea typeface="Calibri"/>
              <a:cs typeface="Calibri"/>
              <a:sym typeface="Calibri"/>
            </a:endParaRPr>
          </a:p>
          <a:p>
            <a:pPr marL="457200" lvl="0" indent="-342900" algn="l" rtl="0">
              <a:spcBef>
                <a:spcPts val="30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Works across multiple data sources — not siloed.</a:t>
            </a:r>
            <a:endParaRPr sz="1800">
              <a:solidFill>
                <a:srgbClr val="4B5563"/>
              </a:solidFill>
              <a:latin typeface="Calibri"/>
              <a:ea typeface="Calibri"/>
              <a:cs typeface="Calibri"/>
              <a:sym typeface="Calibri"/>
            </a:endParaRPr>
          </a:p>
        </p:txBody>
      </p:sp>
      <p:sp>
        <p:nvSpPr>
          <p:cNvPr id="216" name="Google Shape;216;p23"/>
          <p:cNvSpPr txBox="1"/>
          <p:nvPr/>
        </p:nvSpPr>
        <p:spPr>
          <a:xfrm>
            <a:off x="731520" y="2650793"/>
            <a:ext cx="2743200" cy="434700"/>
          </a:xfrm>
          <a:prstGeom prst="rect">
            <a:avLst/>
          </a:prstGeom>
          <a:solidFill>
            <a:srgbClr val="000000">
              <a:alpha val="0"/>
            </a:srgbClr>
          </a:solidFill>
          <a:ln>
            <a:noFill/>
          </a:ln>
        </p:spPr>
        <p:txBody>
          <a:bodyPr spcFirstLastPara="1" wrap="square" lIns="95250" tIns="47625" rIns="95250" bIns="47625" anchor="t" anchorCtr="0">
            <a:spAutoFit/>
          </a:bodyPr>
          <a:lstStyle/>
          <a:p>
            <a:pPr marL="0" lvl="0" indent="0" algn="l" rtl="0">
              <a:spcBef>
                <a:spcPts val="0"/>
              </a:spcBef>
              <a:spcAft>
                <a:spcPts val="0"/>
              </a:spcAft>
              <a:buNone/>
            </a:pPr>
            <a:r>
              <a:rPr lang="en-US" sz="2200" b="1">
                <a:solidFill>
                  <a:srgbClr val="111827"/>
                </a:solidFill>
                <a:latin typeface="Calibri"/>
                <a:ea typeface="Calibri"/>
                <a:cs typeface="Calibri"/>
                <a:sym typeface="Calibri"/>
              </a:rPr>
              <a:t>BI tools</a:t>
            </a:r>
            <a:endParaRPr sz="2200" b="1">
              <a:solidFill>
                <a:srgbClr val="111827"/>
              </a:solidFill>
              <a:latin typeface="Calibri"/>
              <a:ea typeface="Calibri"/>
              <a:cs typeface="Calibri"/>
              <a:sym typeface="Calibri"/>
            </a:endParaRPr>
          </a:p>
        </p:txBody>
      </p:sp>
      <p:sp>
        <p:nvSpPr>
          <p:cNvPr id="217" name="Google Shape;217;p23"/>
          <p:cNvSpPr txBox="1"/>
          <p:nvPr/>
        </p:nvSpPr>
        <p:spPr>
          <a:xfrm>
            <a:off x="3676650" y="2650793"/>
            <a:ext cx="7783800" cy="1004400"/>
          </a:xfrm>
          <a:prstGeom prst="rect">
            <a:avLst/>
          </a:prstGeom>
          <a:solidFill>
            <a:srgbClr val="000000">
              <a:alpha val="0"/>
            </a:srgbClr>
          </a:solidFill>
          <a:ln>
            <a:noFill/>
          </a:ln>
        </p:spPr>
        <p:txBody>
          <a:bodyPr spcFirstLastPara="1" wrap="square" lIns="95250" tIns="47625" rIns="95250" bIns="47625" anchor="t" anchorCtr="0">
            <a:spAutoFit/>
          </a:bodyPr>
          <a:lstStyle/>
          <a:p>
            <a:pPr marL="457200" lvl="0" indent="-342900" algn="l" rtl="0">
              <a:spcBef>
                <a:spcPts val="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Same analytical power and polished display formatting.</a:t>
            </a:r>
            <a:endParaRPr sz="1800">
              <a:solidFill>
                <a:srgbClr val="4B5563"/>
              </a:solidFill>
              <a:latin typeface="Calibri"/>
              <a:ea typeface="Calibri"/>
              <a:cs typeface="Calibri"/>
              <a:sym typeface="Calibri"/>
            </a:endParaRPr>
          </a:p>
          <a:p>
            <a:pPr marL="457200" lvl="0" indent="-342900" algn="l" rtl="0">
              <a:spcBef>
                <a:spcPts val="30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Interactive charts and dashboards out of the box.</a:t>
            </a:r>
            <a:endParaRPr sz="1800">
              <a:solidFill>
                <a:srgbClr val="4B5563"/>
              </a:solidFill>
              <a:latin typeface="Calibri"/>
              <a:ea typeface="Calibri"/>
              <a:cs typeface="Calibri"/>
              <a:sym typeface="Calibri"/>
            </a:endParaRPr>
          </a:p>
          <a:p>
            <a:pPr marL="457200" lvl="0" indent="-342900" algn="l" rtl="0">
              <a:spcBef>
                <a:spcPts val="30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Weeks of platform training not required.</a:t>
            </a:r>
            <a:endParaRPr sz="1800">
              <a:solidFill>
                <a:srgbClr val="4B5563"/>
              </a:solidFill>
              <a:latin typeface="Calibri"/>
              <a:ea typeface="Calibri"/>
              <a:cs typeface="Calibri"/>
              <a:sym typeface="Calibri"/>
            </a:endParaRPr>
          </a:p>
        </p:txBody>
      </p:sp>
      <p:sp>
        <p:nvSpPr>
          <p:cNvPr id="218" name="Google Shape;218;p23"/>
          <p:cNvSpPr txBox="1"/>
          <p:nvPr/>
        </p:nvSpPr>
        <p:spPr>
          <a:xfrm>
            <a:off x="731520" y="3905250"/>
            <a:ext cx="2743200" cy="434700"/>
          </a:xfrm>
          <a:prstGeom prst="rect">
            <a:avLst/>
          </a:prstGeom>
          <a:solidFill>
            <a:srgbClr val="000000">
              <a:alpha val="0"/>
            </a:srgbClr>
          </a:solidFill>
          <a:ln>
            <a:noFill/>
          </a:ln>
        </p:spPr>
        <p:txBody>
          <a:bodyPr spcFirstLastPara="1" wrap="square" lIns="95250" tIns="47625" rIns="95250" bIns="47625" anchor="t" anchorCtr="0">
            <a:spAutoFit/>
          </a:bodyPr>
          <a:lstStyle/>
          <a:p>
            <a:pPr marL="0" lvl="0" indent="0" algn="l" rtl="0">
              <a:spcBef>
                <a:spcPts val="0"/>
              </a:spcBef>
              <a:spcAft>
                <a:spcPts val="0"/>
              </a:spcAft>
              <a:buNone/>
            </a:pPr>
            <a:r>
              <a:rPr lang="en-US" sz="2200" b="1">
                <a:solidFill>
                  <a:srgbClr val="111827"/>
                </a:solidFill>
                <a:latin typeface="Calibri"/>
                <a:ea typeface="Calibri"/>
                <a:cs typeface="Calibri"/>
                <a:sym typeface="Calibri"/>
              </a:rPr>
              <a:t>Spreadsheets</a:t>
            </a:r>
            <a:endParaRPr sz="2200" b="1">
              <a:solidFill>
                <a:srgbClr val="111827"/>
              </a:solidFill>
              <a:latin typeface="Calibri"/>
              <a:ea typeface="Calibri"/>
              <a:cs typeface="Calibri"/>
              <a:sym typeface="Calibri"/>
            </a:endParaRPr>
          </a:p>
        </p:txBody>
      </p:sp>
      <p:sp>
        <p:nvSpPr>
          <p:cNvPr id="219" name="Google Shape;219;p23"/>
          <p:cNvSpPr txBox="1"/>
          <p:nvPr/>
        </p:nvSpPr>
        <p:spPr>
          <a:xfrm>
            <a:off x="3676650" y="3905250"/>
            <a:ext cx="7783800" cy="688800"/>
          </a:xfrm>
          <a:prstGeom prst="rect">
            <a:avLst/>
          </a:prstGeom>
          <a:solidFill>
            <a:srgbClr val="000000">
              <a:alpha val="0"/>
            </a:srgbClr>
          </a:solidFill>
          <a:ln>
            <a:noFill/>
          </a:ln>
        </p:spPr>
        <p:txBody>
          <a:bodyPr spcFirstLastPara="1" wrap="square" lIns="95250" tIns="47625" rIns="95250" bIns="47625" anchor="t" anchorCtr="0">
            <a:spAutoFit/>
          </a:bodyPr>
          <a:lstStyle/>
          <a:p>
            <a:pPr marL="457200" lvl="0" indent="-342900" algn="l" rtl="0">
              <a:spcBef>
                <a:spcPts val="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Flexible reporting without the fragility.</a:t>
            </a:r>
            <a:endParaRPr sz="1800">
              <a:solidFill>
                <a:srgbClr val="4B5563"/>
              </a:solidFill>
              <a:latin typeface="Calibri"/>
              <a:ea typeface="Calibri"/>
              <a:cs typeface="Calibri"/>
              <a:sym typeface="Calibri"/>
            </a:endParaRPr>
          </a:p>
          <a:p>
            <a:pPr marL="457200" lvl="0" indent="-342900" algn="l" rtl="0">
              <a:spcBef>
                <a:spcPts val="30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Built-in data updates, versioning, rollback.</a:t>
            </a:r>
            <a:endParaRPr sz="1800">
              <a:solidFill>
                <a:srgbClr val="4B5563"/>
              </a:solidFill>
              <a:latin typeface="Calibri"/>
              <a:ea typeface="Calibri"/>
              <a:cs typeface="Calibri"/>
              <a:sym typeface="Calibri"/>
            </a:endParaRPr>
          </a:p>
        </p:txBody>
      </p:sp>
      <p:sp>
        <p:nvSpPr>
          <p:cNvPr id="220" name="Google Shape;220;p23"/>
          <p:cNvSpPr txBox="1"/>
          <p:nvPr/>
        </p:nvSpPr>
        <p:spPr>
          <a:xfrm>
            <a:off x="731520" y="5095875"/>
            <a:ext cx="2743200" cy="434700"/>
          </a:xfrm>
          <a:prstGeom prst="rect">
            <a:avLst/>
          </a:prstGeom>
          <a:solidFill>
            <a:srgbClr val="000000">
              <a:alpha val="0"/>
            </a:srgbClr>
          </a:solidFill>
          <a:ln>
            <a:noFill/>
          </a:ln>
        </p:spPr>
        <p:txBody>
          <a:bodyPr spcFirstLastPara="1" wrap="square" lIns="95250" tIns="47625" rIns="95250" bIns="47625" anchor="t" anchorCtr="0">
            <a:spAutoFit/>
          </a:bodyPr>
          <a:lstStyle/>
          <a:p>
            <a:pPr marL="0" lvl="0" indent="0" algn="l" rtl="0">
              <a:spcBef>
                <a:spcPts val="0"/>
              </a:spcBef>
              <a:spcAft>
                <a:spcPts val="0"/>
              </a:spcAft>
              <a:buNone/>
            </a:pPr>
            <a:r>
              <a:rPr lang="en-US" sz="2200" b="1">
                <a:solidFill>
                  <a:srgbClr val="111827"/>
                </a:solidFill>
                <a:latin typeface="Calibri"/>
                <a:ea typeface="Calibri"/>
                <a:cs typeface="Calibri"/>
                <a:sym typeface="Calibri"/>
              </a:rPr>
              <a:t>AI workflows</a:t>
            </a:r>
            <a:endParaRPr sz="2200" b="1">
              <a:solidFill>
                <a:srgbClr val="111827"/>
              </a:solidFill>
              <a:latin typeface="Calibri"/>
              <a:ea typeface="Calibri"/>
              <a:cs typeface="Calibri"/>
              <a:sym typeface="Calibri"/>
            </a:endParaRPr>
          </a:p>
        </p:txBody>
      </p:sp>
      <p:sp>
        <p:nvSpPr>
          <p:cNvPr id="221" name="Google Shape;221;p23"/>
          <p:cNvSpPr txBox="1"/>
          <p:nvPr/>
        </p:nvSpPr>
        <p:spPr>
          <a:xfrm>
            <a:off x="3676650" y="5095875"/>
            <a:ext cx="7783800" cy="1281300"/>
          </a:xfrm>
          <a:prstGeom prst="rect">
            <a:avLst/>
          </a:prstGeom>
          <a:solidFill>
            <a:srgbClr val="000000">
              <a:alpha val="0"/>
            </a:srgbClr>
          </a:solidFill>
          <a:ln>
            <a:noFill/>
          </a:ln>
        </p:spPr>
        <p:txBody>
          <a:bodyPr spcFirstLastPara="1" wrap="square" lIns="95250" tIns="47625" rIns="95250" bIns="47625" anchor="t" anchorCtr="0">
            <a:spAutoFit/>
          </a:bodyPr>
          <a:lstStyle/>
          <a:p>
            <a:pPr marL="457200" lvl="0" indent="-342900" algn="l" rtl="0">
              <a:spcBef>
                <a:spcPts val="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Same AI-powered outputs — but the infrastructure is built for you.</a:t>
            </a:r>
            <a:endParaRPr sz="1800">
              <a:solidFill>
                <a:srgbClr val="4B5563"/>
              </a:solidFill>
              <a:latin typeface="Calibri"/>
              <a:ea typeface="Calibri"/>
              <a:cs typeface="Calibri"/>
              <a:sym typeface="Calibri"/>
            </a:endParaRPr>
          </a:p>
          <a:p>
            <a:pPr marL="457200" lvl="0" indent="-342900" algn="l" rtl="0">
              <a:spcBef>
                <a:spcPts val="30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Calculations are auditable SQL.</a:t>
            </a:r>
            <a:endParaRPr sz="1800">
              <a:solidFill>
                <a:srgbClr val="4B5563"/>
              </a:solidFill>
              <a:latin typeface="Calibri"/>
              <a:ea typeface="Calibri"/>
              <a:cs typeface="Calibri"/>
              <a:sym typeface="Calibri"/>
            </a:endParaRPr>
          </a:p>
          <a:p>
            <a:pPr marL="457200" lvl="0" indent="-342900" algn="l" rtl="0">
              <a:spcBef>
                <a:spcPts val="300"/>
              </a:spcBef>
              <a:spcAft>
                <a:spcPts val="0"/>
              </a:spcAft>
              <a:buClr>
                <a:srgbClr val="4B5563"/>
              </a:buClr>
              <a:buSzPts val="1800"/>
              <a:buFont typeface="Calibri"/>
              <a:buChar char="●"/>
            </a:pPr>
            <a:r>
              <a:rPr lang="en-US" sz="1800">
                <a:solidFill>
                  <a:srgbClr val="4B5563"/>
                </a:solidFill>
                <a:latin typeface="Calibri"/>
                <a:ea typeface="Calibri"/>
                <a:cs typeface="Calibri"/>
                <a:sym typeface="Calibri"/>
              </a:rPr>
              <a:t>Business rules and assumptions are shared: decided by agreement, not an AI script.</a:t>
            </a:r>
            <a:endParaRPr sz="1800">
              <a:solidFill>
                <a:srgbClr val="4B5563"/>
              </a:solidFill>
              <a:latin typeface="Calibri"/>
              <a:ea typeface="Calibri"/>
              <a:cs typeface="Calibri"/>
              <a:sym typeface="Calibri"/>
            </a:endParaRPr>
          </a:p>
        </p:txBody>
      </p:sp>
      <p:sp>
        <p:nvSpPr>
          <p:cNvPr id="222" name="Google Shape;222;p23"/>
          <p:cNvSpPr txBox="1"/>
          <p:nvPr/>
        </p:nvSpPr>
        <p:spPr>
          <a:xfrm>
            <a:off x="4171352" y="1095375"/>
            <a:ext cx="2743200" cy="411600"/>
          </a:xfrm>
          <a:prstGeom prst="rect">
            <a:avLst/>
          </a:prstGeom>
          <a:solidFill>
            <a:srgbClr val="000000">
              <a:alpha val="0"/>
            </a:srgbClr>
          </a:solidFill>
          <a:ln>
            <a:noFill/>
          </a:ln>
        </p:spPr>
        <p:txBody>
          <a:bodyPr spcFirstLastPara="1" wrap="square" lIns="95250" tIns="47625" rIns="95250" bIns="47625" anchor="t" anchorCtr="0">
            <a:spAutoFit/>
          </a:bodyPr>
          <a:lstStyle/>
          <a:p>
            <a:pPr marL="0" lvl="0" indent="0" algn="l" rtl="0">
              <a:spcBef>
                <a:spcPts val="0"/>
              </a:spcBef>
              <a:spcAft>
                <a:spcPts val="0"/>
              </a:spcAft>
              <a:buNone/>
            </a:pPr>
            <a:r>
              <a:rPr lang="en-US" sz="2050" b="1">
                <a:solidFill>
                  <a:srgbClr val="007BA1"/>
                </a:solidFill>
                <a:latin typeface="Calibri"/>
                <a:ea typeface="Calibri"/>
                <a:cs typeface="Calibri"/>
                <a:sym typeface="Calibri"/>
              </a:rPr>
              <a:t>With Dashbud:</a:t>
            </a:r>
            <a:endParaRPr sz="2050" b="1">
              <a:solidFill>
                <a:srgbClr val="007BA1"/>
              </a:solidFill>
              <a:latin typeface="Calibri"/>
              <a:ea typeface="Calibri"/>
              <a:cs typeface="Calibri"/>
              <a:sym typeface="Calibri"/>
            </a:endParaRPr>
          </a:p>
        </p:txBody>
      </p:sp>
      <p:sp>
        <p:nvSpPr>
          <p:cNvPr id="223" name="Google Shape;223;p23"/>
          <p:cNvSpPr txBox="1"/>
          <p:nvPr/>
        </p:nvSpPr>
        <p:spPr>
          <a:xfrm>
            <a:off x="742352" y="1095375"/>
            <a:ext cx="2743200" cy="411600"/>
          </a:xfrm>
          <a:prstGeom prst="rect">
            <a:avLst/>
          </a:prstGeom>
          <a:solidFill>
            <a:srgbClr val="000000">
              <a:alpha val="0"/>
            </a:srgbClr>
          </a:solidFill>
          <a:ln>
            <a:noFill/>
          </a:ln>
        </p:spPr>
        <p:txBody>
          <a:bodyPr spcFirstLastPara="1" wrap="square" lIns="95250" tIns="47625" rIns="95250" bIns="47625" anchor="t" anchorCtr="0">
            <a:spAutoFit/>
          </a:bodyPr>
          <a:lstStyle/>
          <a:p>
            <a:pPr marL="0" lvl="0" indent="0" algn="l" rtl="0">
              <a:spcBef>
                <a:spcPts val="0"/>
              </a:spcBef>
              <a:spcAft>
                <a:spcPts val="0"/>
              </a:spcAft>
              <a:buNone/>
            </a:pPr>
            <a:r>
              <a:rPr lang="en-US" sz="2050" b="1">
                <a:solidFill>
                  <a:srgbClr val="007BA1"/>
                </a:solidFill>
                <a:latin typeface="Calibri"/>
                <a:ea typeface="Calibri"/>
                <a:cs typeface="Calibri"/>
                <a:sym typeface="Calibri"/>
              </a:rPr>
              <a:t>Existing tools:</a:t>
            </a:r>
            <a:endParaRPr sz="2050" b="1">
              <a:solidFill>
                <a:srgbClr val="007BA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7"/>
        <p:cNvGrpSpPr/>
        <p:nvPr/>
      </p:nvGrpSpPr>
      <p:grpSpPr>
        <a:xfrm>
          <a:off x="0" y="0"/>
          <a:ext cx="0" cy="0"/>
          <a:chOff x="0" y="0"/>
          <a:chExt cx="0" cy="0"/>
        </a:xfrm>
      </p:grpSpPr>
      <p:sp>
        <p:nvSpPr>
          <p:cNvPr id="228" name="Google Shape;228;p24"/>
          <p:cNvSpPr txBox="1"/>
          <p:nvPr/>
        </p:nvSpPr>
        <p:spPr>
          <a:xfrm>
            <a:off x="571500" y="476250"/>
            <a:ext cx="11049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0">
                <a:solidFill>
                  <a:srgbClr val="0F172A"/>
                </a:solidFill>
                <a:latin typeface="Inter ExtraBold"/>
                <a:ea typeface="Inter ExtraBold"/>
                <a:cs typeface="Inter ExtraBold"/>
                <a:sym typeface="Inter ExtraBold"/>
              </a:rPr>
              <a:t>Switching to Dashbud is easy</a:t>
            </a:r>
            <a:endParaRPr sz="3200" b="0">
              <a:solidFill>
                <a:srgbClr val="0F172A"/>
              </a:solidFill>
              <a:latin typeface="Inter ExtraBold"/>
              <a:ea typeface="Inter ExtraBold"/>
              <a:cs typeface="Inter ExtraBold"/>
              <a:sym typeface="Inter ExtraBold"/>
            </a:endParaRPr>
          </a:p>
        </p:txBody>
      </p:sp>
      <p:grpSp>
        <p:nvGrpSpPr>
          <p:cNvPr id="229" name="Google Shape;229;p24"/>
          <p:cNvGrpSpPr/>
          <p:nvPr/>
        </p:nvGrpSpPr>
        <p:grpSpPr>
          <a:xfrm>
            <a:off x="571500" y="1333500"/>
            <a:ext cx="5334000" cy="2286000"/>
            <a:chOff x="0" y="0"/>
            <a:chExt cx="5334000" cy="2286000"/>
          </a:xfrm>
        </p:grpSpPr>
        <p:sp>
          <p:nvSpPr>
            <p:cNvPr id="230" name="Google Shape;230;p24"/>
            <p:cNvSpPr/>
            <p:nvPr/>
          </p:nvSpPr>
          <p:spPr>
            <a:xfrm>
              <a:off x="0" y="0"/>
              <a:ext cx="5334000" cy="2286000"/>
            </a:xfrm>
            <a:prstGeom prst="roundRect">
              <a:avLst>
                <a:gd name="adj" fmla="val 666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500"/>
            </a:p>
          </p:txBody>
        </p:sp>
        <p:sp>
          <p:nvSpPr>
            <p:cNvPr id="231" name="Google Shape;231;p24"/>
            <p:cNvSpPr txBox="1"/>
            <p:nvPr/>
          </p:nvSpPr>
          <p:spPr>
            <a:xfrm>
              <a:off x="705000" y="269500"/>
              <a:ext cx="4400400" cy="1788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900" b="1">
                  <a:solidFill>
                    <a:srgbClr val="0F172A"/>
                  </a:solidFill>
                  <a:latin typeface="Inter"/>
                  <a:ea typeface="Inter"/>
                  <a:cs typeface="Inter"/>
                  <a:sym typeface="Inter"/>
                </a:rPr>
                <a:t>Spreadsheets</a:t>
              </a:r>
              <a:endParaRPr sz="1900" b="1">
                <a:solidFill>
                  <a:srgbClr val="0F172A"/>
                </a:solidFill>
                <a:latin typeface="Inter"/>
                <a:ea typeface="Inter"/>
                <a:cs typeface="Inter"/>
                <a:sym typeface="Inter"/>
              </a:endParaRPr>
            </a:p>
            <a:p>
              <a:pPr marL="0" lvl="0" indent="0" algn="l" rtl="0">
                <a:spcBef>
                  <a:spcPts val="1000"/>
                </a:spcBef>
                <a:spcAft>
                  <a:spcPts val="0"/>
                </a:spcAft>
                <a:buNone/>
              </a:pPr>
              <a:r>
                <a:rPr lang="en-US" sz="1500" b="0">
                  <a:solidFill>
                    <a:srgbClr val="475569"/>
                  </a:solidFill>
                  <a:latin typeface="Inter"/>
                  <a:ea typeface="Inter"/>
                  <a:cs typeface="Inter"/>
                  <a:sym typeface="Inter"/>
                </a:rPr>
                <a:t>Upload the</a:t>
              </a:r>
              <a:r>
                <a:rPr lang="en-US" sz="1500">
                  <a:solidFill>
                    <a:srgbClr val="475569"/>
                  </a:solidFill>
                  <a:latin typeface="Inter"/>
                  <a:ea typeface="Inter"/>
                  <a:cs typeface="Inter"/>
                  <a:sym typeface="Inter"/>
                </a:rPr>
                <a:t>m and a</a:t>
              </a:r>
              <a:r>
                <a:rPr lang="en-US" sz="1500" b="0">
                  <a:solidFill>
                    <a:srgbClr val="475569"/>
                  </a:solidFill>
                  <a:latin typeface="Inter"/>
                  <a:ea typeface="Inter"/>
                  <a:cs typeface="Inter"/>
                  <a:sym typeface="Inter"/>
                </a:rPr>
                <a:t>sk questions in plain English.</a:t>
              </a:r>
              <a:endParaRPr sz="1500" b="0">
                <a:solidFill>
                  <a:srgbClr val="475569"/>
                </a:solidFill>
                <a:latin typeface="Inter"/>
                <a:ea typeface="Inter"/>
                <a:cs typeface="Inter"/>
                <a:sym typeface="Inter"/>
              </a:endParaRPr>
            </a:p>
            <a:p>
              <a:pPr marL="0" lvl="0" indent="0" algn="l" rtl="0">
                <a:spcBef>
                  <a:spcPts val="1000"/>
                </a:spcBef>
                <a:spcAft>
                  <a:spcPts val="0"/>
                </a:spcAft>
                <a:buNone/>
              </a:pPr>
              <a:r>
                <a:rPr lang="en-US" sz="1500" b="0">
                  <a:solidFill>
                    <a:srgbClr val="475569"/>
                  </a:solidFill>
                  <a:latin typeface="Inter"/>
                  <a:ea typeface="Inter"/>
                  <a:cs typeface="Inter"/>
                  <a:sym typeface="Inter"/>
                </a:rPr>
                <a:t>Replace complex, fragile tables with stable reports.</a:t>
              </a:r>
              <a:endParaRPr sz="1500" b="0">
                <a:solidFill>
                  <a:srgbClr val="475569"/>
                </a:solidFill>
                <a:latin typeface="Inter"/>
                <a:ea typeface="Inter"/>
                <a:cs typeface="Inter"/>
                <a:sym typeface="Inter"/>
              </a:endParaRPr>
            </a:p>
          </p:txBody>
        </p:sp>
      </p:grpSp>
      <p:grpSp>
        <p:nvGrpSpPr>
          <p:cNvPr id="232" name="Google Shape;232;p24"/>
          <p:cNvGrpSpPr/>
          <p:nvPr/>
        </p:nvGrpSpPr>
        <p:grpSpPr>
          <a:xfrm>
            <a:off x="6286500" y="1333500"/>
            <a:ext cx="5334000" cy="2286000"/>
            <a:chOff x="0" y="0"/>
            <a:chExt cx="5334000" cy="2286000"/>
          </a:xfrm>
        </p:grpSpPr>
        <p:sp>
          <p:nvSpPr>
            <p:cNvPr id="233" name="Google Shape;233;p24"/>
            <p:cNvSpPr/>
            <p:nvPr/>
          </p:nvSpPr>
          <p:spPr>
            <a:xfrm>
              <a:off x="0" y="0"/>
              <a:ext cx="5334000" cy="2286000"/>
            </a:xfrm>
            <a:prstGeom prst="roundRect">
              <a:avLst>
                <a:gd name="adj" fmla="val 666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500"/>
            </a:p>
          </p:txBody>
        </p:sp>
        <p:sp>
          <p:nvSpPr>
            <p:cNvPr id="234" name="Google Shape;234;p24"/>
            <p:cNvSpPr txBox="1"/>
            <p:nvPr/>
          </p:nvSpPr>
          <p:spPr>
            <a:xfrm>
              <a:off x="846775" y="269500"/>
              <a:ext cx="4258500" cy="1788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900" b="1">
                  <a:solidFill>
                    <a:srgbClr val="0F172A"/>
                  </a:solidFill>
                  <a:latin typeface="Inter"/>
                  <a:ea typeface="Inter"/>
                  <a:cs typeface="Inter"/>
                  <a:sym typeface="Inter"/>
                </a:rPr>
                <a:t>SaaS Platforms</a:t>
              </a:r>
              <a:endParaRPr sz="1900" b="1">
                <a:solidFill>
                  <a:srgbClr val="0F172A"/>
                </a:solidFill>
                <a:latin typeface="Inter"/>
                <a:ea typeface="Inter"/>
                <a:cs typeface="Inter"/>
                <a:sym typeface="Inter"/>
              </a:endParaRPr>
            </a:p>
            <a:p>
              <a:pPr marL="0" lvl="0" indent="0" algn="l" rtl="0">
                <a:spcBef>
                  <a:spcPts val="1000"/>
                </a:spcBef>
                <a:spcAft>
                  <a:spcPts val="0"/>
                </a:spcAft>
                <a:buNone/>
              </a:pPr>
              <a:r>
                <a:rPr lang="en-US" sz="1500" b="0">
                  <a:solidFill>
                    <a:srgbClr val="475569"/>
                  </a:solidFill>
                  <a:latin typeface="Inter"/>
                  <a:ea typeface="Inter"/>
                  <a:cs typeface="Inter"/>
                  <a:sym typeface="Inter"/>
                </a:rPr>
                <a:t>Connect to</a:t>
              </a:r>
              <a:r>
                <a:rPr lang="en-US" sz="1500">
                  <a:solidFill>
                    <a:srgbClr val="475569"/>
                  </a:solidFill>
                  <a:latin typeface="Inter"/>
                  <a:ea typeface="Inter"/>
                  <a:cs typeface="Inter"/>
                  <a:sym typeface="Inter"/>
                </a:rPr>
                <a:t> Dashbud </a:t>
              </a:r>
              <a:r>
                <a:rPr lang="en-US" sz="1500" b="0">
                  <a:solidFill>
                    <a:srgbClr val="475569"/>
                  </a:solidFill>
                  <a:latin typeface="Inter"/>
                  <a:ea typeface="Inter"/>
                  <a:cs typeface="Inter"/>
                  <a:sym typeface="Inter"/>
                </a:rPr>
                <a:t>via API. </a:t>
              </a:r>
              <a:endParaRPr sz="1500" b="0">
                <a:solidFill>
                  <a:srgbClr val="475569"/>
                </a:solidFill>
                <a:latin typeface="Inter"/>
                <a:ea typeface="Inter"/>
                <a:cs typeface="Inter"/>
                <a:sym typeface="Inter"/>
              </a:endParaRPr>
            </a:p>
            <a:p>
              <a:pPr marL="0" lvl="0" indent="0" algn="l" rtl="0">
                <a:spcBef>
                  <a:spcPts val="1000"/>
                </a:spcBef>
                <a:spcAft>
                  <a:spcPts val="0"/>
                </a:spcAft>
                <a:buNone/>
              </a:pPr>
              <a:r>
                <a:rPr lang="en-US" sz="1500" b="0">
                  <a:solidFill>
                    <a:srgbClr val="475569"/>
                  </a:solidFill>
                  <a:latin typeface="Inter"/>
                  <a:ea typeface="Inter"/>
                  <a:cs typeface="Inter"/>
                  <a:sym typeface="Inter"/>
                </a:rPr>
                <a:t>See all your data in one place.</a:t>
              </a:r>
              <a:endParaRPr sz="1500" b="0">
                <a:solidFill>
                  <a:srgbClr val="475569"/>
                </a:solidFill>
                <a:latin typeface="Inter"/>
                <a:ea typeface="Inter"/>
                <a:cs typeface="Inter"/>
                <a:sym typeface="Inter"/>
              </a:endParaRPr>
            </a:p>
            <a:p>
              <a:pPr marL="0" lvl="0" indent="0" algn="l" rtl="0">
                <a:spcBef>
                  <a:spcPts val="1000"/>
                </a:spcBef>
                <a:spcAft>
                  <a:spcPts val="0"/>
                </a:spcAft>
                <a:buNone/>
              </a:pPr>
              <a:r>
                <a:rPr lang="en-US" sz="1500">
                  <a:solidFill>
                    <a:srgbClr val="475569"/>
                  </a:solidFill>
                  <a:latin typeface="Inter"/>
                  <a:ea typeface="Inter"/>
                  <a:cs typeface="Inter"/>
                  <a:sym typeface="Inter"/>
                </a:rPr>
                <a:t>Create combined reports and stop</a:t>
              </a:r>
              <a:r>
                <a:rPr lang="en-US" sz="1500" b="0">
                  <a:solidFill>
                    <a:srgbClr val="475569"/>
                  </a:solidFill>
                  <a:latin typeface="Inter"/>
                  <a:ea typeface="Inter"/>
                  <a:cs typeface="Inter"/>
                  <a:sym typeface="Inter"/>
                </a:rPr>
                <a:t> switching between dashboards.</a:t>
              </a:r>
              <a:endParaRPr sz="1500" b="0">
                <a:solidFill>
                  <a:srgbClr val="475569"/>
                </a:solidFill>
                <a:latin typeface="Inter"/>
                <a:ea typeface="Inter"/>
                <a:cs typeface="Inter"/>
                <a:sym typeface="Inter"/>
              </a:endParaRPr>
            </a:p>
          </p:txBody>
        </p:sp>
      </p:grpSp>
      <p:grpSp>
        <p:nvGrpSpPr>
          <p:cNvPr id="235" name="Google Shape;235;p24"/>
          <p:cNvGrpSpPr/>
          <p:nvPr/>
        </p:nvGrpSpPr>
        <p:grpSpPr>
          <a:xfrm>
            <a:off x="571500" y="3905250"/>
            <a:ext cx="5334000" cy="2381400"/>
            <a:chOff x="0" y="0"/>
            <a:chExt cx="5334000" cy="2381400"/>
          </a:xfrm>
        </p:grpSpPr>
        <p:sp>
          <p:nvSpPr>
            <p:cNvPr id="236" name="Google Shape;236;p24"/>
            <p:cNvSpPr/>
            <p:nvPr/>
          </p:nvSpPr>
          <p:spPr>
            <a:xfrm>
              <a:off x="0" y="0"/>
              <a:ext cx="5334000" cy="2381400"/>
            </a:xfrm>
            <a:prstGeom prst="roundRect">
              <a:avLst>
                <a:gd name="adj" fmla="val 6400"/>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500"/>
            </a:p>
          </p:txBody>
        </p:sp>
        <p:sp>
          <p:nvSpPr>
            <p:cNvPr id="237" name="Google Shape;237;p24"/>
            <p:cNvSpPr txBox="1"/>
            <p:nvPr/>
          </p:nvSpPr>
          <p:spPr>
            <a:xfrm>
              <a:off x="784950" y="269500"/>
              <a:ext cx="4320600" cy="18831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900" b="1">
                  <a:solidFill>
                    <a:srgbClr val="0F172A"/>
                  </a:solidFill>
                  <a:latin typeface="Inter"/>
                  <a:ea typeface="Inter"/>
                  <a:cs typeface="Inter"/>
                  <a:sym typeface="Inter"/>
                </a:rPr>
                <a:t>Database &amp; ERP</a:t>
              </a:r>
              <a:endParaRPr sz="1900" b="1">
                <a:solidFill>
                  <a:srgbClr val="0F172A"/>
                </a:solidFill>
                <a:latin typeface="Inter"/>
                <a:ea typeface="Inter"/>
                <a:cs typeface="Inter"/>
                <a:sym typeface="Inter"/>
              </a:endParaRPr>
            </a:p>
            <a:p>
              <a:pPr marL="0" lvl="0" indent="0" algn="l" rtl="0">
                <a:spcBef>
                  <a:spcPts val="1000"/>
                </a:spcBef>
                <a:spcAft>
                  <a:spcPts val="0"/>
                </a:spcAft>
                <a:buNone/>
              </a:pPr>
              <a:r>
                <a:rPr lang="en-US" sz="1500" b="0">
                  <a:solidFill>
                    <a:srgbClr val="475569"/>
                  </a:solidFill>
                  <a:latin typeface="Inter"/>
                  <a:ea typeface="Inter"/>
                  <a:cs typeface="Inter"/>
                  <a:sym typeface="Inter"/>
                </a:rPr>
                <a:t>Connect databases directly; reports update live.</a:t>
              </a:r>
              <a:endParaRPr sz="1500" b="0">
                <a:solidFill>
                  <a:srgbClr val="475569"/>
                </a:solidFill>
                <a:latin typeface="Inter"/>
                <a:ea typeface="Inter"/>
                <a:cs typeface="Inter"/>
                <a:sym typeface="Inter"/>
              </a:endParaRPr>
            </a:p>
            <a:p>
              <a:pPr marL="0" lvl="0" indent="0" algn="l" rtl="0">
                <a:spcBef>
                  <a:spcPts val="1000"/>
                </a:spcBef>
                <a:spcAft>
                  <a:spcPts val="0"/>
                </a:spcAft>
                <a:buNone/>
              </a:pPr>
              <a:r>
                <a:rPr lang="en-US" sz="1500" b="0">
                  <a:solidFill>
                    <a:srgbClr val="475569"/>
                  </a:solidFill>
                  <a:latin typeface="Inter"/>
                  <a:ea typeface="Inter"/>
                  <a:cs typeface="Inter"/>
                  <a:sym typeface="Inter"/>
                </a:rPr>
                <a:t>Dashbud facilitates ingesting exports and ETL.</a:t>
              </a:r>
              <a:endParaRPr sz="1500" b="0">
                <a:solidFill>
                  <a:srgbClr val="475569"/>
                </a:solidFill>
                <a:latin typeface="Inter"/>
                <a:ea typeface="Inter"/>
                <a:cs typeface="Inter"/>
                <a:sym typeface="Inter"/>
              </a:endParaRPr>
            </a:p>
          </p:txBody>
        </p:sp>
      </p:grpSp>
      <p:grpSp>
        <p:nvGrpSpPr>
          <p:cNvPr id="238" name="Google Shape;238;p24"/>
          <p:cNvGrpSpPr/>
          <p:nvPr/>
        </p:nvGrpSpPr>
        <p:grpSpPr>
          <a:xfrm>
            <a:off x="6286500" y="3905250"/>
            <a:ext cx="5334000" cy="2605800"/>
            <a:chOff x="0" y="0"/>
            <a:chExt cx="5334000" cy="2605800"/>
          </a:xfrm>
        </p:grpSpPr>
        <p:sp>
          <p:nvSpPr>
            <p:cNvPr id="239" name="Google Shape;239;p24"/>
            <p:cNvSpPr/>
            <p:nvPr/>
          </p:nvSpPr>
          <p:spPr>
            <a:xfrm>
              <a:off x="0" y="0"/>
              <a:ext cx="5334000" cy="2605800"/>
            </a:xfrm>
            <a:prstGeom prst="roundRect">
              <a:avLst>
                <a:gd name="adj" fmla="val 6400"/>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500"/>
            </a:p>
          </p:txBody>
        </p:sp>
        <p:sp>
          <p:nvSpPr>
            <p:cNvPr id="240" name="Google Shape;240;p24"/>
            <p:cNvSpPr txBox="1"/>
            <p:nvPr/>
          </p:nvSpPr>
          <p:spPr>
            <a:xfrm>
              <a:off x="705000" y="195975"/>
              <a:ext cx="4400400" cy="19566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900" b="1">
                  <a:solidFill>
                    <a:srgbClr val="0F172A"/>
                  </a:solidFill>
                  <a:latin typeface="Inter"/>
                  <a:ea typeface="Inter"/>
                  <a:cs typeface="Inter"/>
                  <a:sym typeface="Inter"/>
                </a:rPr>
                <a:t>AI Workflows</a:t>
              </a:r>
              <a:endParaRPr sz="1900" b="1">
                <a:solidFill>
                  <a:srgbClr val="0F172A"/>
                </a:solidFill>
                <a:latin typeface="Inter"/>
                <a:ea typeface="Inter"/>
                <a:cs typeface="Inter"/>
                <a:sym typeface="Inter"/>
              </a:endParaRPr>
            </a:p>
            <a:p>
              <a:pPr marL="0" lvl="0" indent="0" algn="l" rtl="0">
                <a:spcBef>
                  <a:spcPts val="1000"/>
                </a:spcBef>
                <a:spcAft>
                  <a:spcPts val="0"/>
                </a:spcAft>
                <a:buNone/>
              </a:pPr>
              <a:r>
                <a:rPr lang="en-US" b="0">
                  <a:solidFill>
                    <a:srgbClr val="475569"/>
                  </a:solidFill>
                  <a:latin typeface="Inter"/>
                  <a:ea typeface="Inter"/>
                  <a:cs typeface="Inter"/>
                  <a:sym typeface="Inter"/>
                </a:rPr>
                <a:t>Create workflows easily; lose maintenance and stop the "AI creep".</a:t>
              </a:r>
              <a:endParaRPr b="0">
                <a:solidFill>
                  <a:srgbClr val="475569"/>
                </a:solidFill>
                <a:latin typeface="Inter"/>
                <a:ea typeface="Inter"/>
                <a:cs typeface="Inter"/>
                <a:sym typeface="Inter"/>
              </a:endParaRPr>
            </a:p>
            <a:p>
              <a:pPr marL="0" lvl="0" indent="0" algn="l" rtl="0">
                <a:spcBef>
                  <a:spcPts val="1000"/>
                </a:spcBef>
                <a:spcAft>
                  <a:spcPts val="0"/>
                </a:spcAft>
                <a:buNone/>
              </a:pPr>
              <a:r>
                <a:rPr lang="en-US" b="0">
                  <a:solidFill>
                    <a:srgbClr val="475569"/>
                  </a:solidFill>
                  <a:latin typeface="Inter"/>
                  <a:ea typeface="Inter"/>
                  <a:cs typeface="Inter"/>
                  <a:sym typeface="Inter"/>
                </a:rPr>
                <a:t>Share the result</a:t>
              </a:r>
              <a:r>
                <a:rPr lang="en-US">
                  <a:solidFill>
                    <a:srgbClr val="475569"/>
                  </a:solidFill>
                  <a:latin typeface="Inter"/>
                  <a:ea typeface="Inter"/>
                  <a:cs typeface="Inter"/>
                  <a:sym typeface="Inter"/>
                </a:rPr>
                <a:t> securely</a:t>
              </a:r>
              <a:r>
                <a:rPr lang="en-US" b="0">
                  <a:solidFill>
                    <a:srgbClr val="475569"/>
                  </a:solidFill>
                  <a:latin typeface="Inter"/>
                  <a:ea typeface="Inter"/>
                  <a:cs typeface="Inter"/>
                  <a:sym typeface="Inter"/>
                </a:rPr>
                <a:t>; empower your whole team.</a:t>
              </a:r>
              <a:endParaRPr b="0">
                <a:solidFill>
                  <a:srgbClr val="475569"/>
                </a:solidFill>
                <a:latin typeface="Inter"/>
                <a:ea typeface="Inter"/>
                <a:cs typeface="Inter"/>
                <a:sym typeface="Inter"/>
              </a:endParaRPr>
            </a:p>
            <a:p>
              <a:pPr marL="0" lvl="0" indent="0" algn="l" rtl="0">
                <a:spcBef>
                  <a:spcPts val="1000"/>
                </a:spcBef>
                <a:spcAft>
                  <a:spcPts val="0"/>
                </a:spcAft>
                <a:buNone/>
              </a:pPr>
              <a:r>
                <a:rPr lang="en-US">
                  <a:solidFill>
                    <a:srgbClr val="475569"/>
                  </a:solidFill>
                  <a:latin typeface="Inter"/>
                  <a:ea typeface="Inter"/>
                  <a:cs typeface="Inter"/>
                  <a:sym typeface="Inter"/>
                </a:rPr>
                <a:t>Build s</a:t>
              </a:r>
              <a:r>
                <a:rPr lang="en-US" b="0">
                  <a:solidFill>
                    <a:srgbClr val="475569"/>
                  </a:solidFill>
                  <a:latin typeface="Inter"/>
                  <a:ea typeface="Inter"/>
                  <a:cs typeface="Inter"/>
                  <a:sym typeface="Inter"/>
                </a:rPr>
                <a:t>ophisticated reports with built-in security, transparency, and auditing.</a:t>
              </a:r>
              <a:endParaRPr b="0">
                <a:solidFill>
                  <a:srgbClr val="475569"/>
                </a:solidFill>
                <a:latin typeface="Inter"/>
                <a:ea typeface="Inter"/>
                <a:cs typeface="Inter"/>
                <a:sym typeface="Inter"/>
              </a:endParaRPr>
            </a:p>
            <a:p>
              <a:pPr marL="0" lvl="0" indent="0" algn="l" rtl="0">
                <a:spcBef>
                  <a:spcPts val="1000"/>
                </a:spcBef>
                <a:spcAft>
                  <a:spcPts val="0"/>
                </a:spcAft>
                <a:buNone/>
              </a:pPr>
              <a:endParaRPr b="0">
                <a:solidFill>
                  <a:srgbClr val="475569"/>
                </a:solidFill>
                <a:latin typeface="Inter"/>
                <a:ea typeface="Inter"/>
                <a:cs typeface="Inter"/>
                <a:sym typeface="Inter"/>
              </a:endParaRPr>
            </a:p>
          </p:txBody>
        </p:sp>
      </p:grpSp>
      <p:pic>
        <p:nvPicPr>
          <p:cNvPr id="245" name="Picture 244" descr="table_chart.png"/>
          <p:cNvPicPr>
            <a:picLocks noChangeAspect="1"/>
          </p:cNvPicPr>
          <p:nvPr/>
        </p:nvPicPr>
        <p:blipFill>
          <a:blip r:embed="rId4"/>
          <a:stretch>
            <a:fillRect/>
          </a:stretch>
        </p:blipFill>
        <p:spPr>
          <a:xfrm>
            <a:off x="847800" y="1602994"/>
            <a:ext cx="381000" cy="381000"/>
          </a:xfrm>
          <a:prstGeom prst="rect">
            <a:avLst/>
          </a:prstGeom>
        </p:spPr>
      </p:pic>
      <p:pic>
        <p:nvPicPr>
          <p:cNvPr id="246" name="Picture 245" descr="cloud.png"/>
          <p:cNvPicPr>
            <a:picLocks noChangeAspect="1"/>
          </p:cNvPicPr>
          <p:nvPr/>
        </p:nvPicPr>
        <p:blipFill>
          <a:blip r:embed="rId5"/>
          <a:stretch>
            <a:fillRect/>
          </a:stretch>
        </p:blipFill>
        <p:spPr>
          <a:xfrm>
            <a:off x="6562800" y="1602994"/>
            <a:ext cx="381000" cy="381000"/>
          </a:xfrm>
          <a:prstGeom prst="rect">
            <a:avLst/>
          </a:prstGeom>
        </p:spPr>
      </p:pic>
      <p:pic>
        <p:nvPicPr>
          <p:cNvPr id="247" name="Picture 246" descr="storage.png"/>
          <p:cNvPicPr>
            <a:picLocks noChangeAspect="1"/>
          </p:cNvPicPr>
          <p:nvPr/>
        </p:nvPicPr>
        <p:blipFill>
          <a:blip r:embed="rId6"/>
          <a:stretch>
            <a:fillRect/>
          </a:stretch>
        </p:blipFill>
        <p:spPr>
          <a:xfrm>
            <a:off x="847800" y="4174744"/>
            <a:ext cx="381000" cy="381000"/>
          </a:xfrm>
          <a:prstGeom prst="rect">
            <a:avLst/>
          </a:prstGeom>
        </p:spPr>
      </p:pic>
      <p:pic>
        <p:nvPicPr>
          <p:cNvPr id="248" name="Picture 247" descr="auto_awesome.png"/>
          <p:cNvPicPr>
            <a:picLocks noChangeAspect="1"/>
          </p:cNvPicPr>
          <p:nvPr/>
        </p:nvPicPr>
        <p:blipFill>
          <a:blip r:embed="rId7"/>
          <a:stretch>
            <a:fillRect/>
          </a:stretch>
        </p:blipFill>
        <p:spPr>
          <a:xfrm>
            <a:off x="6562800" y="4174744"/>
            <a:ext cx="381000" cy="381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248"/>
        <p:cNvGrpSpPr/>
        <p:nvPr/>
      </p:nvGrpSpPr>
      <p:grpSpPr>
        <a:xfrm>
          <a:off x="0" y="0"/>
          <a:ext cx="0" cy="0"/>
          <a:chOff x="0" y="0"/>
          <a:chExt cx="0" cy="0"/>
        </a:xfrm>
      </p:grpSpPr>
      <p:sp>
        <p:nvSpPr>
          <p:cNvPr id="249" name="Google Shape;249;p25"/>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FFFFFF"/>
                </a:solidFill>
                <a:latin typeface="Calibri"/>
                <a:ea typeface="Calibri"/>
                <a:cs typeface="Calibri"/>
                <a:sym typeface="Calibri"/>
              </a:rPr>
              <a:t>How it works</a:t>
            </a:r>
            <a:endParaRPr sz="1400" b="0" i="0" u="none" strike="noStrike" cap="none">
              <a:solidFill>
                <a:srgbClr val="000000"/>
              </a:solidFill>
              <a:latin typeface="Arial"/>
              <a:ea typeface="Arial"/>
              <a:cs typeface="Arial"/>
              <a:sym typeface="Arial"/>
            </a:endParaRPr>
          </a:p>
        </p:txBody>
      </p:sp>
      <p:sp>
        <p:nvSpPr>
          <p:cNvPr id="250" name="Google Shape;250;p25"/>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E0F4F9"/>
                </a:solidFill>
                <a:latin typeface="Calibri"/>
                <a:ea typeface="Calibri"/>
                <a:cs typeface="Calibri"/>
                <a:sym typeface="Calibri"/>
              </a:rPr>
              <a:t>Connect → Model → Explore → Share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6"/>
          <p:cNvSpPr txBox="1"/>
          <p:nvPr/>
        </p:nvSpPr>
        <p:spPr>
          <a:xfrm>
            <a:off x="731520" y="457200"/>
            <a:ext cx="100584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7BA1"/>
                </a:solidFill>
                <a:latin typeface="Calibri"/>
                <a:ea typeface="Calibri"/>
                <a:cs typeface="Calibri"/>
                <a:sym typeface="Calibri"/>
              </a:rPr>
              <a:t>1. Connect your data</a:t>
            </a:r>
            <a:endParaRPr sz="1400" b="0" i="0" u="none" strike="noStrike" cap="none">
              <a:solidFill>
                <a:srgbClr val="000000"/>
              </a:solidFill>
              <a:latin typeface="Arial"/>
              <a:ea typeface="Arial"/>
              <a:cs typeface="Arial"/>
              <a:sym typeface="Arial"/>
            </a:endParaRPr>
          </a:p>
        </p:txBody>
      </p:sp>
      <p:sp>
        <p:nvSpPr>
          <p:cNvPr id="256" name="Google Shape;256;p26"/>
          <p:cNvSpPr txBox="1"/>
          <p:nvPr/>
        </p:nvSpPr>
        <p:spPr>
          <a:xfrm>
            <a:off x="731520" y="1645920"/>
            <a:ext cx="100584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6B7280"/>
                </a:solidFill>
                <a:latin typeface="Calibri"/>
                <a:ea typeface="Calibri"/>
                <a:cs typeface="Calibri"/>
                <a:sym typeface="Calibri"/>
              </a:rPr>
              <a:t>Upload spreadsheets, connect directly to databases, or sync from cloud sources.</a:t>
            </a:r>
            <a:br>
              <a:rPr lang="en-US" sz="2200" b="0" i="0" u="none" strike="noStrike" cap="none">
                <a:solidFill>
                  <a:srgbClr val="6B7280"/>
                </a:solidFill>
                <a:latin typeface="Calibri"/>
                <a:ea typeface="Calibri"/>
                <a:cs typeface="Calibri"/>
                <a:sym typeface="Calibri"/>
              </a:rPr>
            </a:br>
            <a:r>
              <a:rPr lang="en-US" sz="2200" b="0" i="0" u="none" strike="noStrike" cap="none">
                <a:solidFill>
                  <a:srgbClr val="6B7280"/>
                </a:solidFill>
                <a:latin typeface="Calibri"/>
                <a:ea typeface="Calibri"/>
                <a:cs typeface="Calibri"/>
                <a:sym typeface="Calibri"/>
              </a:rPr>
              <a:t>Smart data loading cleans messy formats automatically.</a:t>
            </a:r>
            <a:endParaRPr sz="1400" b="0" i="0" u="none" strike="noStrike" cap="none">
              <a:solidFill>
                <a:srgbClr val="000000"/>
              </a:solidFill>
              <a:latin typeface="Arial"/>
              <a:ea typeface="Arial"/>
              <a:cs typeface="Arial"/>
              <a:sym typeface="Arial"/>
            </a:endParaRPr>
          </a:p>
        </p:txBody>
      </p:sp>
      <p:sp>
        <p:nvSpPr>
          <p:cNvPr id="257" name="Google Shape;257;p26"/>
          <p:cNvSpPr txBox="1"/>
          <p:nvPr/>
        </p:nvSpPr>
        <p:spPr>
          <a:xfrm>
            <a:off x="731520" y="5029200"/>
            <a:ext cx="9144000" cy="914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CCCCCC"/>
                </a:solidFill>
                <a:latin typeface="Calibri"/>
                <a:ea typeface="Calibri"/>
                <a:cs typeface="Calibri"/>
                <a:sym typeface="Calibri"/>
              </a:rPr>
              <a:t>[PRODUCT SCREENSHOT]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7"/>
          <p:cNvSpPr txBox="1"/>
          <p:nvPr/>
        </p:nvSpPr>
        <p:spPr>
          <a:xfrm>
            <a:off x="731520" y="457200"/>
            <a:ext cx="100584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7BA1"/>
                </a:solidFill>
                <a:latin typeface="Calibri"/>
                <a:ea typeface="Calibri"/>
                <a:cs typeface="Calibri"/>
                <a:sym typeface="Calibri"/>
              </a:rPr>
              <a:t>2. Model through conversation</a:t>
            </a:r>
            <a:endParaRPr sz="1400" b="0" i="0" u="none" strike="noStrike" cap="none">
              <a:solidFill>
                <a:srgbClr val="000000"/>
              </a:solidFill>
              <a:latin typeface="Arial"/>
              <a:ea typeface="Arial"/>
              <a:cs typeface="Arial"/>
              <a:sym typeface="Arial"/>
            </a:endParaRPr>
          </a:p>
        </p:txBody>
      </p:sp>
      <p:sp>
        <p:nvSpPr>
          <p:cNvPr id="263" name="Google Shape;263;p27"/>
          <p:cNvSpPr txBox="1"/>
          <p:nvPr/>
        </p:nvSpPr>
        <p:spPr>
          <a:xfrm>
            <a:off x="731520" y="1645920"/>
            <a:ext cx="9144000" cy="1828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6B7280"/>
                </a:solidFill>
                <a:latin typeface="Calibri"/>
                <a:ea typeface="Calibri"/>
                <a:cs typeface="Calibri"/>
                <a:sym typeface="Calibri"/>
              </a:rPr>
              <a:t>Tell Dashbud what your data means — in plain language.</a:t>
            </a:r>
            <a:br>
              <a:rPr lang="en-US" sz="2200" b="0" i="0" u="none" strike="noStrike" cap="none">
                <a:solidFill>
                  <a:srgbClr val="6B7280"/>
                </a:solidFill>
                <a:latin typeface="Calibri"/>
                <a:ea typeface="Calibri"/>
                <a:cs typeface="Calibri"/>
                <a:sym typeface="Calibri"/>
              </a:rPr>
            </a:br>
            <a:r>
              <a:rPr lang="en-US" sz="2200" b="0" i="0" u="none" strike="noStrike" cap="none">
                <a:solidFill>
                  <a:srgbClr val="6B7280"/>
                </a:solidFill>
                <a:latin typeface="Calibri"/>
                <a:ea typeface="Calibri"/>
                <a:cs typeface="Calibri"/>
                <a:sym typeface="Calibri"/>
              </a:rPr>
              <a:t>The AI asks questions, you answer. No code, no config files.</a:t>
            </a:r>
            <a:endParaRPr sz="1400" b="0" i="0" u="none" strike="noStrike" cap="none">
              <a:solidFill>
                <a:srgbClr val="000000"/>
              </a:solidFill>
              <a:latin typeface="Arial"/>
              <a:ea typeface="Arial"/>
              <a:cs typeface="Arial"/>
              <a:sym typeface="Arial"/>
            </a:endParaRPr>
          </a:p>
        </p:txBody>
      </p:sp>
      <p:sp>
        <p:nvSpPr>
          <p:cNvPr id="264" name="Google Shape;264;p27"/>
          <p:cNvSpPr txBox="1"/>
          <p:nvPr/>
        </p:nvSpPr>
        <p:spPr>
          <a:xfrm>
            <a:off x="731520" y="5029200"/>
            <a:ext cx="9144000" cy="914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CCCCCC"/>
                </a:solidFill>
                <a:latin typeface="Calibri"/>
                <a:ea typeface="Calibri"/>
                <a:cs typeface="Calibri"/>
                <a:sym typeface="Calibri"/>
              </a:rPr>
              <a:t>[PRODUCT SCREENSHOT]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8"/>
          <p:cNvSpPr txBox="1"/>
          <p:nvPr/>
        </p:nvSpPr>
        <p:spPr>
          <a:xfrm>
            <a:off x="731520" y="457200"/>
            <a:ext cx="100584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7BA1"/>
                </a:solidFill>
                <a:latin typeface="Calibri"/>
                <a:ea typeface="Calibri"/>
                <a:cs typeface="Calibri"/>
                <a:sym typeface="Calibri"/>
              </a:rPr>
              <a:t>3. Ask questions, get answers</a:t>
            </a:r>
            <a:endParaRPr sz="1400" b="0" i="0" u="none" strike="noStrike" cap="none">
              <a:solidFill>
                <a:srgbClr val="000000"/>
              </a:solidFill>
              <a:latin typeface="Arial"/>
              <a:ea typeface="Arial"/>
              <a:cs typeface="Arial"/>
              <a:sym typeface="Arial"/>
            </a:endParaRPr>
          </a:p>
        </p:txBody>
      </p:sp>
      <p:sp>
        <p:nvSpPr>
          <p:cNvPr id="270" name="Google Shape;270;p28"/>
          <p:cNvSpPr txBox="1"/>
          <p:nvPr/>
        </p:nvSpPr>
        <p:spPr>
          <a:xfrm>
            <a:off x="731520" y="1645920"/>
            <a:ext cx="9144000" cy="11079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6B7280"/>
                </a:solidFill>
                <a:latin typeface="Calibri"/>
                <a:ea typeface="Calibri"/>
                <a:cs typeface="Calibri"/>
                <a:sym typeface="Calibri"/>
              </a:rPr>
              <a:t>Type questions in Data Explorer refine the answer through conversation. </a:t>
            </a:r>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6B7280"/>
                </a:solidFill>
                <a:latin typeface="Calibri"/>
                <a:ea typeface="Calibri"/>
                <a:cs typeface="Calibri"/>
                <a:sym typeface="Calibri"/>
              </a:rPr>
              <a:t>Dashbud produces the KPIs, tables and charts you need.</a:t>
            </a:r>
            <a:br>
              <a:rPr lang="en-US" sz="2200" b="0" i="0" u="none" strike="noStrike" cap="none">
                <a:solidFill>
                  <a:srgbClr val="6B7280"/>
                </a:solidFill>
                <a:latin typeface="Calibri"/>
                <a:ea typeface="Calibri"/>
                <a:cs typeface="Calibri"/>
                <a:sym typeface="Calibri"/>
              </a:rPr>
            </a:br>
            <a:r>
              <a:rPr lang="en-US" sz="2200" b="0" i="0" u="none" strike="noStrike" cap="none">
                <a:solidFill>
                  <a:srgbClr val="6B7280"/>
                </a:solidFill>
                <a:latin typeface="Calibri"/>
                <a:ea typeface="Calibri"/>
                <a:cs typeface="Calibri"/>
                <a:sym typeface="Calibri"/>
              </a:rPr>
              <a:t>Smart formatting; interactive charting out of the box; auditable outputs.</a:t>
            </a:r>
            <a:endParaRPr sz="1400" b="0" i="0" u="none" strike="noStrike" cap="none">
              <a:solidFill>
                <a:srgbClr val="000000"/>
              </a:solidFill>
              <a:latin typeface="Arial"/>
              <a:ea typeface="Arial"/>
              <a:cs typeface="Arial"/>
              <a:sym typeface="Arial"/>
            </a:endParaRPr>
          </a:p>
        </p:txBody>
      </p:sp>
      <p:sp>
        <p:nvSpPr>
          <p:cNvPr id="271" name="Google Shape;271;p28"/>
          <p:cNvSpPr txBox="1"/>
          <p:nvPr/>
        </p:nvSpPr>
        <p:spPr>
          <a:xfrm>
            <a:off x="731520" y="5029200"/>
            <a:ext cx="9144000" cy="914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CCCCCC"/>
                </a:solidFill>
                <a:latin typeface="Calibri"/>
                <a:ea typeface="Calibri"/>
                <a:cs typeface="Calibri"/>
                <a:sym typeface="Calibri"/>
              </a:rPr>
              <a:t>[PRODUCT SCREENSHOT]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9"/>
          <p:cNvSpPr txBox="1"/>
          <p:nvPr/>
        </p:nvSpPr>
        <p:spPr>
          <a:xfrm>
            <a:off x="731520" y="457200"/>
            <a:ext cx="1005840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007BA1"/>
                </a:solidFill>
                <a:latin typeface="Calibri"/>
                <a:ea typeface="Calibri"/>
                <a:cs typeface="Calibri"/>
                <a:sym typeface="Calibri"/>
              </a:rPr>
              <a:t>4. Create reports and share</a:t>
            </a:r>
            <a:endParaRPr sz="1400" b="0" i="0" u="none" strike="noStrike" cap="none">
              <a:solidFill>
                <a:srgbClr val="000000"/>
              </a:solidFill>
              <a:latin typeface="Arial"/>
              <a:ea typeface="Arial"/>
              <a:cs typeface="Arial"/>
              <a:sym typeface="Arial"/>
            </a:endParaRPr>
          </a:p>
        </p:txBody>
      </p:sp>
      <p:sp>
        <p:nvSpPr>
          <p:cNvPr id="277" name="Google Shape;277;p29"/>
          <p:cNvSpPr txBox="1"/>
          <p:nvPr/>
        </p:nvSpPr>
        <p:spPr>
          <a:xfrm>
            <a:off x="731519" y="1645920"/>
            <a:ext cx="9908771" cy="110795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200"/>
              <a:buFont typeface="Arial"/>
              <a:buChar char="•"/>
            </a:pPr>
            <a:r>
              <a:rPr lang="en-US" sz="2200" b="0" i="0" u="none" strike="noStrike" cap="none">
                <a:solidFill>
                  <a:srgbClr val="6B7280"/>
                </a:solidFill>
                <a:latin typeface="Calibri"/>
                <a:ea typeface="Calibri"/>
                <a:cs typeface="Calibri"/>
                <a:sym typeface="Calibri"/>
              </a:rPr>
              <a:t>Output anything from individual KPIs to sophisticated charts and tables.</a:t>
            </a:r>
            <a:endParaRPr/>
          </a:p>
          <a:p>
            <a:pPr marL="342900" marR="0" lvl="0" indent="-342900" algn="l" rtl="0">
              <a:lnSpc>
                <a:spcPct val="100000"/>
              </a:lnSpc>
              <a:spcBef>
                <a:spcPts val="0"/>
              </a:spcBef>
              <a:spcAft>
                <a:spcPts val="0"/>
              </a:spcAft>
              <a:buClr>
                <a:srgbClr val="000000"/>
              </a:buClr>
              <a:buSzPts val="2200"/>
              <a:buFont typeface="Arial"/>
              <a:buChar char="•"/>
            </a:pPr>
            <a:r>
              <a:rPr lang="en-US" sz="2200" b="0" i="0" u="none" strike="noStrike" cap="none">
                <a:solidFill>
                  <a:srgbClr val="6B7280"/>
                </a:solidFill>
                <a:latin typeface="Calibri"/>
                <a:ea typeface="Calibri"/>
                <a:cs typeface="Calibri"/>
                <a:sym typeface="Calibri"/>
              </a:rPr>
              <a:t>Drag and drop outputs into a dashboard/report format. </a:t>
            </a:r>
            <a:endParaRPr/>
          </a:p>
          <a:p>
            <a:pPr marL="342900" marR="0" lvl="0" indent="-342900" algn="l" rtl="0">
              <a:lnSpc>
                <a:spcPct val="100000"/>
              </a:lnSpc>
              <a:spcBef>
                <a:spcPts val="0"/>
              </a:spcBef>
              <a:spcAft>
                <a:spcPts val="0"/>
              </a:spcAft>
              <a:buClr>
                <a:srgbClr val="000000"/>
              </a:buClr>
              <a:buSzPts val="2200"/>
              <a:buFont typeface="Arial"/>
              <a:buChar char="•"/>
            </a:pPr>
            <a:r>
              <a:rPr lang="en-US" sz="2200" b="0" i="0" u="none" strike="noStrike" cap="none">
                <a:solidFill>
                  <a:srgbClr val="6B7280"/>
                </a:solidFill>
                <a:latin typeface="Calibri"/>
                <a:ea typeface="Calibri"/>
                <a:cs typeface="Calibri"/>
                <a:sym typeface="Calibri"/>
              </a:rPr>
              <a:t>Share self-service interactive dashboards; email one-off and periodic reports.</a:t>
            </a:r>
            <a:endParaRPr sz="1400" b="0" i="0" u="none" strike="noStrike" cap="none">
              <a:solidFill>
                <a:srgbClr val="000000"/>
              </a:solidFill>
              <a:latin typeface="Arial"/>
              <a:ea typeface="Arial"/>
              <a:cs typeface="Arial"/>
              <a:sym typeface="Arial"/>
            </a:endParaRPr>
          </a:p>
        </p:txBody>
      </p:sp>
      <p:sp>
        <p:nvSpPr>
          <p:cNvPr id="278" name="Google Shape;278;p29"/>
          <p:cNvSpPr txBox="1"/>
          <p:nvPr/>
        </p:nvSpPr>
        <p:spPr>
          <a:xfrm>
            <a:off x="731520" y="5029200"/>
            <a:ext cx="9144000" cy="914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CCCCCC"/>
                </a:solidFill>
                <a:latin typeface="Calibri"/>
                <a:ea typeface="Calibri"/>
                <a:cs typeface="Calibri"/>
                <a:sym typeface="Calibri"/>
              </a:rPr>
              <a:t>[PRODUCT SCREENSHOT]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0"/>
          <p:cNvSpPr txBox="1"/>
          <p:nvPr/>
        </p:nvSpPr>
        <p:spPr>
          <a:xfrm>
            <a:off x="762000" y="476250"/>
            <a:ext cx="106680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a:solidFill>
                  <a:srgbClr val="007BA1"/>
                </a:solidFill>
                <a:latin typeface="Calibri"/>
                <a:ea typeface="Calibri"/>
                <a:cs typeface="Calibri"/>
                <a:sym typeface="Calibri"/>
              </a:rPr>
              <a:t>Designed for privacy, security, and trust</a:t>
            </a:r>
            <a:endParaRPr sz="3600" b="1">
              <a:solidFill>
                <a:srgbClr val="007BA1"/>
              </a:solidFill>
              <a:latin typeface="Calibri"/>
              <a:ea typeface="Calibri"/>
              <a:cs typeface="Calibri"/>
              <a:sym typeface="Calibri"/>
            </a:endParaRPr>
          </a:p>
        </p:txBody>
      </p:sp>
      <p:grpSp>
        <p:nvGrpSpPr>
          <p:cNvPr id="284" name="Google Shape;284;p30"/>
          <p:cNvGrpSpPr/>
          <p:nvPr/>
        </p:nvGrpSpPr>
        <p:grpSpPr>
          <a:xfrm>
            <a:off x="762000" y="1524000"/>
            <a:ext cx="5048400" cy="2000100"/>
            <a:chOff x="0" y="0"/>
            <a:chExt cx="5048400" cy="2000100"/>
          </a:xfrm>
        </p:grpSpPr>
        <p:sp>
          <p:nvSpPr>
            <p:cNvPr id="285" name="Google Shape;285;p30"/>
            <p:cNvSpPr/>
            <p:nvPr/>
          </p:nvSpPr>
          <p:spPr>
            <a:xfrm>
              <a:off x="0" y="0"/>
              <a:ext cx="5048400" cy="2000100"/>
            </a:xfrm>
            <a:prstGeom prst="roundRect">
              <a:avLst>
                <a:gd name="adj" fmla="val 5714"/>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p>
          </p:txBody>
        </p:sp>
        <p:sp>
          <p:nvSpPr>
            <p:cNvPr id="286" name="Google Shape;286;p30"/>
            <p:cNvSpPr txBox="1"/>
            <p:nvPr/>
          </p:nvSpPr>
          <p:spPr>
            <a:xfrm>
              <a:off x="228600" y="269494"/>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3000">
                  <a:solidFill>
                    <a:srgbClr val="007BA1"/>
                  </a:solidFill>
                  <a:latin typeface="Material Icons"/>
                  <a:ea typeface="Material Icons"/>
                  <a:cs typeface="Material Icons"/>
                  <a:sym typeface="Material Icons"/>
                </a:rPr>
                <a:t>lock</a:t>
              </a:r>
              <a:endParaRPr sz="3000">
                <a:solidFill>
                  <a:srgbClr val="007BA1"/>
                </a:solidFill>
                <a:latin typeface="Material Icons"/>
                <a:ea typeface="Material Icons"/>
                <a:cs typeface="Material Icons"/>
                <a:sym typeface="Material Icons"/>
              </a:endParaRPr>
            </a:p>
          </p:txBody>
        </p:sp>
        <p:sp>
          <p:nvSpPr>
            <p:cNvPr id="287" name="Google Shape;287;p30"/>
            <p:cNvSpPr txBox="1"/>
            <p:nvPr/>
          </p:nvSpPr>
          <p:spPr>
            <a:xfrm>
              <a:off x="857749" y="228600"/>
              <a:ext cx="4057800" cy="1543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11827"/>
                  </a:solidFill>
                  <a:latin typeface="Calibri"/>
                  <a:ea typeface="Calibri"/>
                  <a:cs typeface="Calibri"/>
                  <a:sym typeface="Calibri"/>
                </a:rPr>
                <a:t>AI never sees your raw data</a:t>
              </a:r>
              <a:endParaRPr sz="2200" b="1">
                <a:solidFill>
                  <a:srgbClr val="111827"/>
                </a:solidFill>
                <a:latin typeface="Calibri"/>
                <a:ea typeface="Calibri"/>
                <a:cs typeface="Calibri"/>
                <a:sym typeface="Calibri"/>
              </a:endParaRPr>
            </a:p>
            <a:p>
              <a:pPr marL="0" lvl="0" indent="0" algn="l" rtl="0">
                <a:spcBef>
                  <a:spcPts val="900"/>
                </a:spcBef>
                <a:spcAft>
                  <a:spcPts val="0"/>
                </a:spcAft>
                <a:buNone/>
              </a:pPr>
              <a:r>
                <a:rPr lang="en-US" sz="1500">
                  <a:solidFill>
                    <a:srgbClr val="4B5563"/>
                  </a:solidFill>
                  <a:latin typeface="Calibri"/>
                  <a:ea typeface="Calibri"/>
                  <a:cs typeface="Calibri"/>
                  <a:sym typeface="Calibri"/>
                </a:rPr>
                <a:t>Dashbud’s agent only sees field names and schema — never the actual values in your database.</a:t>
              </a:r>
              <a:endParaRPr sz="1500">
                <a:solidFill>
                  <a:srgbClr val="4B5563"/>
                </a:solidFill>
                <a:latin typeface="Calibri"/>
                <a:ea typeface="Calibri"/>
                <a:cs typeface="Calibri"/>
                <a:sym typeface="Calibri"/>
              </a:endParaRPr>
            </a:p>
          </p:txBody>
        </p:sp>
      </p:grpSp>
      <p:grpSp>
        <p:nvGrpSpPr>
          <p:cNvPr id="288" name="Google Shape;288;p30"/>
          <p:cNvGrpSpPr/>
          <p:nvPr/>
        </p:nvGrpSpPr>
        <p:grpSpPr>
          <a:xfrm>
            <a:off x="6381750" y="1524000"/>
            <a:ext cx="5048400" cy="2000100"/>
            <a:chOff x="0" y="0"/>
            <a:chExt cx="5048400" cy="2000100"/>
          </a:xfrm>
        </p:grpSpPr>
        <p:sp>
          <p:nvSpPr>
            <p:cNvPr id="289" name="Google Shape;289;p30"/>
            <p:cNvSpPr/>
            <p:nvPr/>
          </p:nvSpPr>
          <p:spPr>
            <a:xfrm>
              <a:off x="0" y="0"/>
              <a:ext cx="5048400" cy="2000100"/>
            </a:xfrm>
            <a:prstGeom prst="roundRect">
              <a:avLst>
                <a:gd name="adj" fmla="val 5714"/>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p>
          </p:txBody>
        </p:sp>
        <p:sp>
          <p:nvSpPr>
            <p:cNvPr id="290" name="Google Shape;290;p30"/>
            <p:cNvSpPr txBox="1"/>
            <p:nvPr/>
          </p:nvSpPr>
          <p:spPr>
            <a:xfrm>
              <a:off x="228600" y="269494"/>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3000">
                  <a:solidFill>
                    <a:srgbClr val="007BA1"/>
                  </a:solidFill>
                  <a:latin typeface="Material Icons"/>
                  <a:ea typeface="Material Icons"/>
                  <a:cs typeface="Material Icons"/>
                  <a:sym typeface="Material Icons"/>
                </a:rPr>
                <a:t>fact_check</a:t>
              </a:r>
              <a:endParaRPr sz="3000">
                <a:solidFill>
                  <a:srgbClr val="007BA1"/>
                </a:solidFill>
                <a:latin typeface="Material Icons"/>
                <a:ea typeface="Material Icons"/>
                <a:cs typeface="Material Icons"/>
                <a:sym typeface="Material Icons"/>
              </a:endParaRPr>
            </a:p>
          </p:txBody>
        </p:sp>
        <p:sp>
          <p:nvSpPr>
            <p:cNvPr id="291" name="Google Shape;291;p30"/>
            <p:cNvSpPr txBox="1"/>
            <p:nvPr/>
          </p:nvSpPr>
          <p:spPr>
            <a:xfrm>
              <a:off x="857749" y="228600"/>
              <a:ext cx="4057800" cy="1543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11827"/>
                  </a:solidFill>
                  <a:latin typeface="Calibri"/>
                  <a:ea typeface="Calibri"/>
                  <a:cs typeface="Calibri"/>
                  <a:sym typeface="Calibri"/>
                </a:rPr>
                <a:t>Deterministic reports</a:t>
              </a:r>
              <a:endParaRPr sz="2200" b="1">
                <a:solidFill>
                  <a:srgbClr val="111827"/>
                </a:solidFill>
                <a:latin typeface="Calibri"/>
                <a:ea typeface="Calibri"/>
                <a:cs typeface="Calibri"/>
                <a:sym typeface="Calibri"/>
              </a:endParaRPr>
            </a:p>
            <a:p>
              <a:pPr marL="0" lvl="0" indent="0" algn="l" rtl="0">
                <a:spcBef>
                  <a:spcPts val="900"/>
                </a:spcBef>
                <a:spcAft>
                  <a:spcPts val="0"/>
                </a:spcAft>
                <a:buNone/>
              </a:pPr>
              <a:r>
                <a:rPr lang="en-US" sz="1500">
                  <a:solidFill>
                    <a:srgbClr val="4B5563"/>
                  </a:solidFill>
                  <a:latin typeface="Calibri"/>
                  <a:ea typeface="Calibri"/>
                  <a:cs typeface="Calibri"/>
                  <a:sym typeface="Calibri"/>
                </a:rPr>
                <a:t>The AI writes a SQL query once. After that, it's a traditional report. Same question, same answer, every time.</a:t>
              </a:r>
              <a:endParaRPr sz="1500">
                <a:solidFill>
                  <a:srgbClr val="4B5563"/>
                </a:solidFill>
                <a:latin typeface="Calibri"/>
                <a:ea typeface="Calibri"/>
                <a:cs typeface="Calibri"/>
                <a:sym typeface="Calibri"/>
              </a:endParaRPr>
            </a:p>
          </p:txBody>
        </p:sp>
      </p:grpSp>
      <p:grpSp>
        <p:nvGrpSpPr>
          <p:cNvPr id="292" name="Google Shape;292;p30"/>
          <p:cNvGrpSpPr/>
          <p:nvPr/>
        </p:nvGrpSpPr>
        <p:grpSpPr>
          <a:xfrm>
            <a:off x="762000" y="3905250"/>
            <a:ext cx="5048400" cy="2000100"/>
            <a:chOff x="0" y="0"/>
            <a:chExt cx="5048400" cy="2000100"/>
          </a:xfrm>
        </p:grpSpPr>
        <p:sp>
          <p:nvSpPr>
            <p:cNvPr id="293" name="Google Shape;293;p30"/>
            <p:cNvSpPr/>
            <p:nvPr/>
          </p:nvSpPr>
          <p:spPr>
            <a:xfrm>
              <a:off x="0" y="0"/>
              <a:ext cx="5048400" cy="2000100"/>
            </a:xfrm>
            <a:prstGeom prst="roundRect">
              <a:avLst>
                <a:gd name="adj" fmla="val 5714"/>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p>
          </p:txBody>
        </p:sp>
        <p:sp>
          <p:nvSpPr>
            <p:cNvPr id="294" name="Google Shape;294;p30"/>
            <p:cNvSpPr txBox="1"/>
            <p:nvPr/>
          </p:nvSpPr>
          <p:spPr>
            <a:xfrm>
              <a:off x="228600" y="269494"/>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3000">
                  <a:solidFill>
                    <a:srgbClr val="007BA1"/>
                  </a:solidFill>
                  <a:latin typeface="Material Icons"/>
                  <a:ea typeface="Material Icons"/>
                  <a:cs typeface="Material Icons"/>
                  <a:sym typeface="Material Icons"/>
                </a:rPr>
                <a:t>history</a:t>
              </a:r>
              <a:endParaRPr sz="3000">
                <a:solidFill>
                  <a:srgbClr val="007BA1"/>
                </a:solidFill>
                <a:latin typeface="Material Icons"/>
                <a:ea typeface="Material Icons"/>
                <a:cs typeface="Material Icons"/>
                <a:sym typeface="Material Icons"/>
              </a:endParaRPr>
            </a:p>
          </p:txBody>
        </p:sp>
        <p:sp>
          <p:nvSpPr>
            <p:cNvPr id="295" name="Google Shape;295;p30"/>
            <p:cNvSpPr txBox="1"/>
            <p:nvPr/>
          </p:nvSpPr>
          <p:spPr>
            <a:xfrm>
              <a:off x="857749" y="228600"/>
              <a:ext cx="4057800" cy="1543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11827"/>
                  </a:solidFill>
                  <a:latin typeface="Calibri"/>
                  <a:ea typeface="Calibri"/>
                  <a:cs typeface="Calibri"/>
                  <a:sym typeface="Calibri"/>
                </a:rPr>
                <a:t>Full audit trail</a:t>
              </a:r>
              <a:endParaRPr sz="2200" b="1">
                <a:solidFill>
                  <a:srgbClr val="111827"/>
                </a:solidFill>
                <a:latin typeface="Calibri"/>
                <a:ea typeface="Calibri"/>
                <a:cs typeface="Calibri"/>
                <a:sym typeface="Calibri"/>
              </a:endParaRPr>
            </a:p>
            <a:p>
              <a:pPr marL="0" lvl="0" indent="0" algn="l" rtl="0">
                <a:spcBef>
                  <a:spcPts val="900"/>
                </a:spcBef>
                <a:spcAft>
                  <a:spcPts val="0"/>
                </a:spcAft>
                <a:buNone/>
              </a:pPr>
              <a:r>
                <a:rPr lang="en-US" sz="1500">
                  <a:solidFill>
                    <a:srgbClr val="4B5563"/>
                  </a:solidFill>
                  <a:latin typeface="Calibri"/>
                  <a:ea typeface="Calibri"/>
                  <a:cs typeface="Calibri"/>
                  <a:sym typeface="Calibri"/>
                </a:rPr>
                <a:t>Every data import is tracked and can be rolled back. Your data stays in your database or in Dashbud's managed infrastructure.</a:t>
              </a:r>
              <a:endParaRPr sz="1500">
                <a:solidFill>
                  <a:srgbClr val="4B5563"/>
                </a:solidFill>
                <a:latin typeface="Calibri"/>
                <a:ea typeface="Calibri"/>
                <a:cs typeface="Calibri"/>
                <a:sym typeface="Calibri"/>
              </a:endParaRPr>
            </a:p>
          </p:txBody>
        </p:sp>
      </p:grpSp>
      <p:grpSp>
        <p:nvGrpSpPr>
          <p:cNvPr id="296" name="Google Shape;296;p30"/>
          <p:cNvGrpSpPr/>
          <p:nvPr/>
        </p:nvGrpSpPr>
        <p:grpSpPr>
          <a:xfrm>
            <a:off x="6381750" y="3905250"/>
            <a:ext cx="5048400" cy="2000100"/>
            <a:chOff x="0" y="0"/>
            <a:chExt cx="5048400" cy="2000100"/>
          </a:xfrm>
        </p:grpSpPr>
        <p:sp>
          <p:nvSpPr>
            <p:cNvPr id="297" name="Google Shape;297;p30"/>
            <p:cNvSpPr/>
            <p:nvPr/>
          </p:nvSpPr>
          <p:spPr>
            <a:xfrm>
              <a:off x="0" y="0"/>
              <a:ext cx="5048400" cy="2000100"/>
            </a:xfrm>
            <a:prstGeom prst="roundRect">
              <a:avLst>
                <a:gd name="adj" fmla="val 5714"/>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600"/>
            </a:p>
          </p:txBody>
        </p:sp>
        <p:sp>
          <p:nvSpPr>
            <p:cNvPr id="298" name="Google Shape;298;p30"/>
            <p:cNvSpPr txBox="1"/>
            <p:nvPr/>
          </p:nvSpPr>
          <p:spPr>
            <a:xfrm>
              <a:off x="228600" y="269494"/>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3000">
                  <a:solidFill>
                    <a:srgbClr val="007BA1"/>
                  </a:solidFill>
                  <a:latin typeface="Material Icons"/>
                  <a:ea typeface="Material Icons"/>
                  <a:cs typeface="Material Icons"/>
                  <a:sym typeface="Material Icons"/>
                </a:rPr>
                <a:t>shield</a:t>
              </a:r>
              <a:endParaRPr sz="3000">
                <a:solidFill>
                  <a:srgbClr val="007BA1"/>
                </a:solidFill>
                <a:latin typeface="Material Icons"/>
                <a:ea typeface="Material Icons"/>
                <a:cs typeface="Material Icons"/>
                <a:sym typeface="Material Icons"/>
              </a:endParaRPr>
            </a:p>
          </p:txBody>
        </p:sp>
        <p:sp>
          <p:nvSpPr>
            <p:cNvPr id="299" name="Google Shape;299;p30"/>
            <p:cNvSpPr txBox="1"/>
            <p:nvPr/>
          </p:nvSpPr>
          <p:spPr>
            <a:xfrm>
              <a:off x="857749" y="228600"/>
              <a:ext cx="4057800" cy="1543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11827"/>
                  </a:solidFill>
                  <a:latin typeface="Calibri"/>
                  <a:ea typeface="Calibri"/>
                  <a:cs typeface="Calibri"/>
                  <a:sym typeface="Calibri"/>
                </a:rPr>
                <a:t>No third-party sharing</a:t>
              </a:r>
              <a:endParaRPr sz="2200" b="1">
                <a:solidFill>
                  <a:srgbClr val="111827"/>
                </a:solidFill>
                <a:latin typeface="Calibri"/>
                <a:ea typeface="Calibri"/>
                <a:cs typeface="Calibri"/>
                <a:sym typeface="Calibri"/>
              </a:endParaRPr>
            </a:p>
            <a:p>
              <a:pPr marL="0" lvl="0" indent="0" algn="l" rtl="0">
                <a:spcBef>
                  <a:spcPts val="900"/>
                </a:spcBef>
                <a:spcAft>
                  <a:spcPts val="0"/>
                </a:spcAft>
                <a:buNone/>
              </a:pPr>
              <a:r>
                <a:rPr lang="en-US" sz="1500">
                  <a:solidFill>
                    <a:srgbClr val="4B5563"/>
                  </a:solidFill>
                  <a:latin typeface="Calibri"/>
                  <a:ea typeface="Calibri"/>
                  <a:cs typeface="Calibri"/>
                  <a:sym typeface="Calibri"/>
                </a:rPr>
                <a:t>We don't share your data with third parties. We don't use it for AI training.</a:t>
              </a:r>
              <a:endParaRPr sz="1500">
                <a:solidFill>
                  <a:srgbClr val="4B5563"/>
                </a:solidFill>
                <a:latin typeface="Calibri"/>
                <a:ea typeface="Calibri"/>
                <a:cs typeface="Calibri"/>
                <a:sym typeface="Calibr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303"/>
        <p:cNvGrpSpPr/>
        <p:nvPr/>
      </p:nvGrpSpPr>
      <p:grpSpPr>
        <a:xfrm>
          <a:off x="0" y="0"/>
          <a:ext cx="0" cy="0"/>
          <a:chOff x="0" y="0"/>
          <a:chExt cx="0" cy="0"/>
        </a:xfrm>
      </p:grpSpPr>
      <p:sp>
        <p:nvSpPr>
          <p:cNvPr id="304" name="Google Shape;304;p31"/>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FFFFFF"/>
                </a:solidFill>
                <a:latin typeface="Calibri"/>
                <a:ea typeface="Calibri"/>
                <a:cs typeface="Calibri"/>
                <a:sym typeface="Calibri"/>
              </a:rPr>
              <a:t>Live demo</a:t>
            </a:r>
            <a:endParaRPr sz="1400" b="0" i="0" u="none" strike="noStrike" cap="none">
              <a:solidFill>
                <a:srgbClr val="000000"/>
              </a:solidFill>
              <a:latin typeface="Arial"/>
              <a:ea typeface="Arial"/>
              <a:cs typeface="Arial"/>
              <a:sym typeface="Arial"/>
            </a:endParaRPr>
          </a:p>
        </p:txBody>
      </p:sp>
      <p:sp>
        <p:nvSpPr>
          <p:cNvPr id="305" name="Google Shape;305;p31"/>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E0F4F9"/>
                </a:solidFill>
                <a:latin typeface="Calibri"/>
                <a:ea typeface="Calibri"/>
                <a:cs typeface="Calibri"/>
                <a:sym typeface="Calibri"/>
              </a:rPr>
              <a:t>Let's see it in action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2"/>
          <p:cNvSpPr txBox="1"/>
          <p:nvPr/>
        </p:nvSpPr>
        <p:spPr>
          <a:xfrm>
            <a:off x="1828800" y="2743200"/>
            <a:ext cx="822960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rgbClr val="6B7280"/>
                </a:solidFill>
                <a:latin typeface="Calibri"/>
                <a:ea typeface="Calibri"/>
                <a:cs typeface="Calibri"/>
                <a:sym typeface="Calibri"/>
              </a:rPr>
              <a:t>[Live Demo]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314"/>
        <p:cNvGrpSpPr/>
        <p:nvPr/>
      </p:nvGrpSpPr>
      <p:grpSpPr>
        <a:xfrm>
          <a:off x="0" y="0"/>
          <a:ext cx="0" cy="0"/>
          <a:chOff x="0" y="0"/>
          <a:chExt cx="0" cy="0"/>
        </a:xfrm>
      </p:grpSpPr>
      <p:sp>
        <p:nvSpPr>
          <p:cNvPr id="315" name="Google Shape;315;p33"/>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FFFFFF"/>
                </a:solidFill>
                <a:latin typeface="Calibri"/>
                <a:ea typeface="Calibri"/>
                <a:cs typeface="Calibri"/>
                <a:sym typeface="Calibri"/>
              </a:rPr>
              <a:t>Use cases</a:t>
            </a:r>
            <a:endParaRPr sz="1400" b="0" i="0" u="none" strike="noStrike" cap="none">
              <a:solidFill>
                <a:srgbClr val="000000"/>
              </a:solidFill>
              <a:latin typeface="Arial"/>
              <a:ea typeface="Arial"/>
              <a:cs typeface="Arial"/>
              <a:sym typeface="Arial"/>
            </a:endParaRPr>
          </a:p>
        </p:txBody>
      </p:sp>
      <p:sp>
        <p:nvSpPr>
          <p:cNvPr id="316" name="Google Shape;316;p33"/>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E0F4F9"/>
                </a:solidFill>
                <a:latin typeface="Calibri"/>
                <a:ea typeface="Calibri"/>
                <a:cs typeface="Calibri"/>
                <a:sym typeface="Calibri"/>
              </a:rPr>
              <a:t>How businesses like yours use Dashbud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0"/>
        <p:cNvGrpSpPr/>
        <p:nvPr/>
      </p:nvGrpSpPr>
      <p:grpSpPr>
        <a:xfrm>
          <a:off x="0" y="0"/>
          <a:ext cx="0" cy="0"/>
          <a:chOff x="0" y="0"/>
          <a:chExt cx="0" cy="0"/>
        </a:xfrm>
      </p:grpSpPr>
      <p:sp>
        <p:nvSpPr>
          <p:cNvPr id="321" name="Google Shape;321;p34"/>
          <p:cNvSpPr txBox="1"/>
          <p:nvPr/>
        </p:nvSpPr>
        <p:spPr>
          <a:xfrm>
            <a:off x="762000" y="428625"/>
            <a:ext cx="10668000" cy="4926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3200" b="1">
                <a:solidFill>
                  <a:srgbClr val="1E293B"/>
                </a:solidFill>
                <a:latin typeface="Calibri"/>
                <a:ea typeface="Calibri"/>
                <a:cs typeface="Calibri"/>
                <a:sym typeface="Calibri"/>
              </a:rPr>
              <a:t>Who is Dashbud for?</a:t>
            </a:r>
            <a:endParaRPr sz="3200" b="1">
              <a:solidFill>
                <a:srgbClr val="1E293B"/>
              </a:solidFill>
              <a:latin typeface="Calibri"/>
              <a:ea typeface="Calibri"/>
              <a:cs typeface="Calibri"/>
              <a:sym typeface="Calibri"/>
            </a:endParaRPr>
          </a:p>
        </p:txBody>
      </p:sp>
      <p:grpSp>
        <p:nvGrpSpPr>
          <p:cNvPr id="322" name="Google Shape;322;p34"/>
          <p:cNvGrpSpPr/>
          <p:nvPr/>
        </p:nvGrpSpPr>
        <p:grpSpPr>
          <a:xfrm>
            <a:off x="762000" y="1333500"/>
            <a:ext cx="5191200" cy="2238300"/>
            <a:chOff x="0" y="0"/>
            <a:chExt cx="5191200" cy="2238300"/>
          </a:xfrm>
        </p:grpSpPr>
        <p:sp>
          <p:nvSpPr>
            <p:cNvPr id="323" name="Google Shape;323;p34"/>
            <p:cNvSpPr/>
            <p:nvPr/>
          </p:nvSpPr>
          <p:spPr>
            <a:xfrm>
              <a:off x="0" y="0"/>
              <a:ext cx="5191200" cy="2238300"/>
            </a:xfrm>
            <a:prstGeom prst="roundRect">
              <a:avLst>
                <a:gd name="adj" fmla="val 510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700"/>
            </a:p>
          </p:txBody>
        </p:sp>
        <p:sp>
          <p:nvSpPr>
            <p:cNvPr id="324" name="Google Shape;324;p34"/>
            <p:cNvSpPr/>
            <p:nvPr/>
          </p:nvSpPr>
          <p:spPr>
            <a:xfrm>
              <a:off x="0" y="228600"/>
              <a:ext cx="38100" cy="381000"/>
            </a:xfrm>
            <a:prstGeom prst="roundRect">
              <a:avLst>
                <a:gd name="adj" fmla="val 50000"/>
              </a:avLst>
            </a:prstGeom>
            <a:solidFill>
              <a:srgbClr val="007BA1"/>
            </a:solidFill>
            <a:ln>
              <a:noFill/>
            </a:ln>
          </p:spPr>
          <p:txBody>
            <a:bodyPr spcFirstLastPara="1" wrap="square" lIns="0" tIns="0" rIns="0" bIns="0" anchor="ctr" anchorCtr="0">
              <a:noAutofit/>
            </a:bodyPr>
            <a:lstStyle/>
            <a:p>
              <a:pPr marL="0" lvl="0" indent="0" algn="l" rtl="0">
                <a:spcBef>
                  <a:spcPts val="0"/>
                </a:spcBef>
                <a:spcAft>
                  <a:spcPts val="0"/>
                </a:spcAft>
                <a:buNone/>
              </a:pPr>
              <a:endParaRPr sz="1700"/>
            </a:p>
          </p:txBody>
        </p:sp>
        <p:sp>
          <p:nvSpPr>
            <p:cNvPr id="325" name="Google Shape;325;p34"/>
            <p:cNvSpPr txBox="1"/>
            <p:nvPr/>
          </p:nvSpPr>
          <p:spPr>
            <a:xfrm>
              <a:off x="228600" y="2636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700">
                  <a:solidFill>
                    <a:srgbClr val="007BA1"/>
                  </a:solidFill>
                  <a:latin typeface="Material Icons"/>
                  <a:ea typeface="Material Icons"/>
                  <a:cs typeface="Material Icons"/>
                  <a:sym typeface="Material Icons"/>
                </a:rPr>
                <a:t>storefront</a:t>
              </a:r>
              <a:endParaRPr sz="2700">
                <a:solidFill>
                  <a:srgbClr val="007BA1"/>
                </a:solidFill>
                <a:latin typeface="Material Icons"/>
                <a:ea typeface="Material Icons"/>
                <a:cs typeface="Material Icons"/>
                <a:sym typeface="Material Icons"/>
              </a:endParaRPr>
            </a:p>
          </p:txBody>
        </p:sp>
        <p:sp>
          <p:nvSpPr>
            <p:cNvPr id="326" name="Google Shape;326;p34"/>
            <p:cNvSpPr txBox="1"/>
            <p:nvPr/>
          </p:nvSpPr>
          <p:spPr>
            <a:xfrm>
              <a:off x="762000" y="228600"/>
              <a:ext cx="42006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1">
                  <a:solidFill>
                    <a:srgbClr val="1E293B"/>
                  </a:solidFill>
                  <a:latin typeface="Calibri"/>
                  <a:ea typeface="Calibri"/>
                  <a:cs typeface="Calibri"/>
                  <a:sym typeface="Calibri"/>
                </a:rPr>
                <a:t>Product-based businesses</a:t>
              </a:r>
              <a:endParaRPr sz="2100" b="1">
                <a:solidFill>
                  <a:srgbClr val="1E293B"/>
                </a:solidFill>
                <a:latin typeface="Calibri"/>
                <a:ea typeface="Calibri"/>
                <a:cs typeface="Calibri"/>
                <a:sym typeface="Calibri"/>
              </a:endParaRPr>
            </a:p>
            <a:p>
              <a:pPr marL="0" lvl="0" indent="0" algn="l" rtl="0">
                <a:spcBef>
                  <a:spcPts val="300"/>
                </a:spcBef>
                <a:spcAft>
                  <a:spcPts val="0"/>
                </a:spcAft>
                <a:buNone/>
              </a:pPr>
              <a:r>
                <a:rPr lang="en-US" i="1">
                  <a:solidFill>
                    <a:srgbClr val="6B7280"/>
                  </a:solidFill>
                  <a:latin typeface="Calibri"/>
                  <a:ea typeface="Calibri"/>
                  <a:cs typeface="Calibri"/>
                  <a:sym typeface="Calibri"/>
                </a:rPr>
                <a:t>retail, e-commerce, manufacturing, distribution</a:t>
              </a:r>
              <a:endParaRPr i="1">
                <a:solidFill>
                  <a:srgbClr val="6B7280"/>
                </a:solidFill>
                <a:latin typeface="Calibri"/>
                <a:ea typeface="Calibri"/>
                <a:cs typeface="Calibri"/>
                <a:sym typeface="Calibri"/>
              </a:endParaRPr>
            </a:p>
            <a:p>
              <a:pPr marL="0" lvl="0" indent="0" algn="l" rtl="0">
                <a:spcBef>
                  <a:spcPts val="1200"/>
                </a:spcBef>
                <a:spcAft>
                  <a:spcPts val="0"/>
                </a:spcAft>
                <a:buNone/>
              </a:pPr>
              <a:r>
                <a:rPr lang="en-US" sz="1600" b="1">
                  <a:solidFill>
                    <a:srgbClr val="007BA1"/>
                  </a:solidFill>
                  <a:latin typeface="Calibri"/>
                  <a:ea typeface="Calibri"/>
                  <a:cs typeface="Calibri"/>
                  <a:sym typeface="Calibri"/>
                </a:rPr>
                <a:t>Report on:</a:t>
              </a:r>
              <a:r>
                <a:rPr lang="en-US" sz="1600">
                  <a:solidFill>
                    <a:srgbClr val="475569"/>
                  </a:solidFill>
                  <a:latin typeface="Calibri"/>
                  <a:ea typeface="Calibri"/>
                  <a:cs typeface="Calibri"/>
                  <a:sym typeface="Calibri"/>
                </a:rPr>
                <a:t> sales trends by channel, inventory tracking, customer purchasing behavior, sales rep performance</a:t>
              </a:r>
              <a:endParaRPr sz="1600">
                <a:solidFill>
                  <a:srgbClr val="475569"/>
                </a:solidFill>
                <a:latin typeface="Calibri"/>
                <a:ea typeface="Calibri"/>
                <a:cs typeface="Calibri"/>
                <a:sym typeface="Calibri"/>
              </a:endParaRPr>
            </a:p>
          </p:txBody>
        </p:sp>
      </p:grpSp>
      <p:grpSp>
        <p:nvGrpSpPr>
          <p:cNvPr id="327" name="Google Shape;327;p34"/>
          <p:cNvGrpSpPr/>
          <p:nvPr/>
        </p:nvGrpSpPr>
        <p:grpSpPr>
          <a:xfrm>
            <a:off x="6238875" y="1333500"/>
            <a:ext cx="5191200" cy="2238300"/>
            <a:chOff x="0" y="0"/>
            <a:chExt cx="5191200" cy="2238300"/>
          </a:xfrm>
        </p:grpSpPr>
        <p:sp>
          <p:nvSpPr>
            <p:cNvPr id="328" name="Google Shape;328;p34"/>
            <p:cNvSpPr/>
            <p:nvPr/>
          </p:nvSpPr>
          <p:spPr>
            <a:xfrm>
              <a:off x="0" y="0"/>
              <a:ext cx="5191200" cy="2238300"/>
            </a:xfrm>
            <a:prstGeom prst="roundRect">
              <a:avLst>
                <a:gd name="adj" fmla="val 510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29" name="Google Shape;329;p34"/>
            <p:cNvSpPr/>
            <p:nvPr/>
          </p:nvSpPr>
          <p:spPr>
            <a:xfrm>
              <a:off x="0" y="228600"/>
              <a:ext cx="38100" cy="381000"/>
            </a:xfrm>
            <a:prstGeom prst="roundRect">
              <a:avLst>
                <a:gd name="adj" fmla="val 50000"/>
              </a:avLst>
            </a:prstGeom>
            <a:solidFill>
              <a:srgbClr val="007BA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0" name="Google Shape;330;p34"/>
            <p:cNvSpPr txBox="1"/>
            <p:nvPr/>
          </p:nvSpPr>
          <p:spPr>
            <a:xfrm>
              <a:off x="228600" y="2636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400">
                  <a:solidFill>
                    <a:srgbClr val="007BA1"/>
                  </a:solidFill>
                  <a:latin typeface="Material Icons"/>
                  <a:ea typeface="Material Icons"/>
                  <a:cs typeface="Material Icons"/>
                  <a:sym typeface="Material Icons"/>
                </a:rPr>
                <a:t>work</a:t>
              </a:r>
              <a:endParaRPr sz="2400">
                <a:solidFill>
                  <a:srgbClr val="007BA1"/>
                </a:solidFill>
                <a:latin typeface="Material Icons"/>
                <a:ea typeface="Material Icons"/>
                <a:cs typeface="Material Icons"/>
                <a:sym typeface="Material Icons"/>
              </a:endParaRPr>
            </a:p>
          </p:txBody>
        </p:sp>
        <p:sp>
          <p:nvSpPr>
            <p:cNvPr id="331" name="Google Shape;331;p34"/>
            <p:cNvSpPr txBox="1"/>
            <p:nvPr/>
          </p:nvSpPr>
          <p:spPr>
            <a:xfrm>
              <a:off x="762000" y="228600"/>
              <a:ext cx="42006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1">
                  <a:solidFill>
                    <a:srgbClr val="1E293B"/>
                  </a:solidFill>
                  <a:latin typeface="Calibri"/>
                  <a:ea typeface="Calibri"/>
                  <a:cs typeface="Calibri"/>
                  <a:sym typeface="Calibri"/>
                </a:rPr>
                <a:t>Service-based businesses</a:t>
              </a:r>
              <a:endParaRPr sz="2100" b="1">
                <a:solidFill>
                  <a:srgbClr val="1E293B"/>
                </a:solidFill>
                <a:latin typeface="Calibri"/>
                <a:ea typeface="Calibri"/>
                <a:cs typeface="Calibri"/>
                <a:sym typeface="Calibri"/>
              </a:endParaRPr>
            </a:p>
            <a:p>
              <a:pPr marL="0" lvl="0" indent="0" algn="l" rtl="0">
                <a:spcBef>
                  <a:spcPts val="300"/>
                </a:spcBef>
                <a:spcAft>
                  <a:spcPts val="0"/>
                </a:spcAft>
                <a:buNone/>
              </a:pPr>
              <a:r>
                <a:rPr lang="en-US" i="1">
                  <a:solidFill>
                    <a:srgbClr val="6B7280"/>
                  </a:solidFill>
                  <a:latin typeface="Calibri"/>
                  <a:ea typeface="Calibri"/>
                  <a:cs typeface="Calibri"/>
                  <a:sym typeface="Calibri"/>
                </a:rPr>
                <a:t>agencies, consultancies, professional services</a:t>
              </a:r>
              <a:endParaRPr i="1">
                <a:solidFill>
                  <a:srgbClr val="6B7280"/>
                </a:solidFill>
                <a:latin typeface="Calibri"/>
                <a:ea typeface="Calibri"/>
                <a:cs typeface="Calibri"/>
                <a:sym typeface="Calibri"/>
              </a:endParaRPr>
            </a:p>
            <a:p>
              <a:pPr marL="0" lvl="0" indent="0" algn="l" rtl="0">
                <a:spcBef>
                  <a:spcPts val="1200"/>
                </a:spcBef>
                <a:spcAft>
                  <a:spcPts val="0"/>
                </a:spcAft>
                <a:buNone/>
              </a:pPr>
              <a:r>
                <a:rPr lang="en-US" sz="1600" b="1">
                  <a:solidFill>
                    <a:srgbClr val="007BA1"/>
                  </a:solidFill>
                  <a:latin typeface="Calibri"/>
                  <a:ea typeface="Calibri"/>
                  <a:cs typeface="Calibri"/>
                  <a:sym typeface="Calibri"/>
                </a:rPr>
                <a:t>Analyze:</a:t>
              </a:r>
              <a:r>
                <a:rPr lang="en-US" sz="1600">
                  <a:solidFill>
                    <a:srgbClr val="475569"/>
                  </a:solidFill>
                  <a:latin typeface="Calibri"/>
                  <a:ea typeface="Calibri"/>
                  <a:cs typeface="Calibri"/>
                  <a:sym typeface="Calibri"/>
                </a:rPr>
                <a:t> profitability by client, utilization, marketing ROI, monthly stakeholder reports</a:t>
              </a:r>
              <a:endParaRPr sz="1600">
                <a:solidFill>
                  <a:srgbClr val="475569"/>
                </a:solidFill>
                <a:latin typeface="Calibri"/>
                <a:ea typeface="Calibri"/>
                <a:cs typeface="Calibri"/>
                <a:sym typeface="Calibri"/>
              </a:endParaRPr>
            </a:p>
          </p:txBody>
        </p:sp>
      </p:grpSp>
      <p:grpSp>
        <p:nvGrpSpPr>
          <p:cNvPr id="332" name="Google Shape;332;p34"/>
          <p:cNvGrpSpPr/>
          <p:nvPr/>
        </p:nvGrpSpPr>
        <p:grpSpPr>
          <a:xfrm>
            <a:off x="762000" y="3857625"/>
            <a:ext cx="5191200" cy="2238300"/>
            <a:chOff x="0" y="0"/>
            <a:chExt cx="5191200" cy="2238300"/>
          </a:xfrm>
        </p:grpSpPr>
        <p:sp>
          <p:nvSpPr>
            <p:cNvPr id="333" name="Google Shape;333;p34"/>
            <p:cNvSpPr/>
            <p:nvPr/>
          </p:nvSpPr>
          <p:spPr>
            <a:xfrm>
              <a:off x="0" y="0"/>
              <a:ext cx="5191200" cy="2238300"/>
            </a:xfrm>
            <a:prstGeom prst="roundRect">
              <a:avLst>
                <a:gd name="adj" fmla="val 510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4" name="Google Shape;334;p34"/>
            <p:cNvSpPr/>
            <p:nvPr/>
          </p:nvSpPr>
          <p:spPr>
            <a:xfrm>
              <a:off x="0" y="228600"/>
              <a:ext cx="38100" cy="381000"/>
            </a:xfrm>
            <a:prstGeom prst="roundRect">
              <a:avLst>
                <a:gd name="adj" fmla="val 50000"/>
              </a:avLst>
            </a:prstGeom>
            <a:solidFill>
              <a:srgbClr val="007BA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5" name="Google Shape;335;p34"/>
            <p:cNvSpPr txBox="1"/>
            <p:nvPr/>
          </p:nvSpPr>
          <p:spPr>
            <a:xfrm>
              <a:off x="228600" y="2636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400">
                  <a:solidFill>
                    <a:srgbClr val="007BA1"/>
                  </a:solidFill>
                  <a:latin typeface="Material Icons"/>
                  <a:ea typeface="Material Icons"/>
                  <a:cs typeface="Material Icons"/>
                  <a:sym typeface="Material Icons"/>
                </a:rPr>
                <a:t>subscriptions</a:t>
              </a:r>
              <a:endParaRPr sz="2400">
                <a:solidFill>
                  <a:srgbClr val="007BA1"/>
                </a:solidFill>
                <a:latin typeface="Material Icons"/>
                <a:ea typeface="Material Icons"/>
                <a:cs typeface="Material Icons"/>
                <a:sym typeface="Material Icons"/>
              </a:endParaRPr>
            </a:p>
          </p:txBody>
        </p:sp>
        <p:sp>
          <p:nvSpPr>
            <p:cNvPr id="336" name="Google Shape;336;p34"/>
            <p:cNvSpPr txBox="1"/>
            <p:nvPr/>
          </p:nvSpPr>
          <p:spPr>
            <a:xfrm>
              <a:off x="762000" y="228600"/>
              <a:ext cx="42006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1">
                  <a:solidFill>
                    <a:srgbClr val="1E293B"/>
                  </a:solidFill>
                  <a:latin typeface="Calibri"/>
                  <a:ea typeface="Calibri"/>
                  <a:cs typeface="Calibri"/>
                  <a:sym typeface="Calibri"/>
                </a:rPr>
                <a:t>SaaS and subscription businesses</a:t>
              </a:r>
              <a:endParaRPr sz="2100" b="1">
                <a:solidFill>
                  <a:srgbClr val="1E293B"/>
                </a:solidFill>
                <a:latin typeface="Calibri"/>
                <a:ea typeface="Calibri"/>
                <a:cs typeface="Calibri"/>
                <a:sym typeface="Calibri"/>
              </a:endParaRPr>
            </a:p>
            <a:p>
              <a:pPr marL="0" lvl="0" indent="0" algn="l" rtl="0">
                <a:spcBef>
                  <a:spcPts val="300"/>
                </a:spcBef>
                <a:spcAft>
                  <a:spcPts val="0"/>
                </a:spcAft>
                <a:buNone/>
              </a:pPr>
              <a:r>
                <a:rPr lang="en-US" i="1">
                  <a:solidFill>
                    <a:srgbClr val="6B7280"/>
                  </a:solidFill>
                  <a:latin typeface="Calibri"/>
                  <a:ea typeface="Calibri"/>
                  <a:cs typeface="Calibri"/>
                  <a:sym typeface="Calibri"/>
                </a:rPr>
                <a:t>software, media, membership</a:t>
              </a:r>
              <a:endParaRPr i="1">
                <a:solidFill>
                  <a:srgbClr val="6B7280"/>
                </a:solidFill>
                <a:latin typeface="Calibri"/>
                <a:ea typeface="Calibri"/>
                <a:cs typeface="Calibri"/>
                <a:sym typeface="Calibri"/>
              </a:endParaRPr>
            </a:p>
            <a:p>
              <a:pPr marL="0" lvl="0" indent="0" algn="l" rtl="0">
                <a:spcBef>
                  <a:spcPts val="1200"/>
                </a:spcBef>
                <a:spcAft>
                  <a:spcPts val="0"/>
                </a:spcAft>
                <a:buNone/>
              </a:pPr>
              <a:r>
                <a:rPr lang="en-US" sz="1600" b="1">
                  <a:solidFill>
                    <a:srgbClr val="007BA1"/>
                  </a:solidFill>
                  <a:latin typeface="Calibri"/>
                  <a:ea typeface="Calibri"/>
                  <a:cs typeface="Calibri"/>
                  <a:sym typeface="Calibri"/>
                </a:rPr>
                <a:t>Dig into:</a:t>
              </a:r>
              <a:r>
                <a:rPr lang="en-US" sz="1600">
                  <a:solidFill>
                    <a:srgbClr val="475569"/>
                  </a:solidFill>
                  <a:latin typeface="Calibri"/>
                  <a:ea typeface="Calibri"/>
                  <a:cs typeface="Calibri"/>
                  <a:sym typeface="Calibri"/>
                </a:rPr>
                <a:t> churn analysis, cohort metrics, usage patterns</a:t>
              </a:r>
              <a:endParaRPr sz="1600">
                <a:solidFill>
                  <a:srgbClr val="475569"/>
                </a:solidFill>
                <a:latin typeface="Calibri"/>
                <a:ea typeface="Calibri"/>
                <a:cs typeface="Calibri"/>
                <a:sym typeface="Calibri"/>
              </a:endParaRPr>
            </a:p>
          </p:txBody>
        </p:sp>
      </p:grpSp>
      <p:grpSp>
        <p:nvGrpSpPr>
          <p:cNvPr id="337" name="Google Shape;337;p34"/>
          <p:cNvGrpSpPr/>
          <p:nvPr/>
        </p:nvGrpSpPr>
        <p:grpSpPr>
          <a:xfrm>
            <a:off x="6238875" y="3857625"/>
            <a:ext cx="5191200" cy="2238300"/>
            <a:chOff x="0" y="0"/>
            <a:chExt cx="5191200" cy="2238300"/>
          </a:xfrm>
        </p:grpSpPr>
        <p:sp>
          <p:nvSpPr>
            <p:cNvPr id="338" name="Google Shape;338;p34"/>
            <p:cNvSpPr/>
            <p:nvPr/>
          </p:nvSpPr>
          <p:spPr>
            <a:xfrm>
              <a:off x="0" y="0"/>
              <a:ext cx="5191200" cy="2238300"/>
            </a:xfrm>
            <a:prstGeom prst="roundRect">
              <a:avLst>
                <a:gd name="adj" fmla="val 5106"/>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700"/>
            </a:p>
          </p:txBody>
        </p:sp>
        <p:sp>
          <p:nvSpPr>
            <p:cNvPr id="339" name="Google Shape;339;p34"/>
            <p:cNvSpPr/>
            <p:nvPr/>
          </p:nvSpPr>
          <p:spPr>
            <a:xfrm>
              <a:off x="0" y="228600"/>
              <a:ext cx="38100" cy="381000"/>
            </a:xfrm>
            <a:prstGeom prst="roundRect">
              <a:avLst>
                <a:gd name="adj" fmla="val 50000"/>
              </a:avLst>
            </a:prstGeom>
            <a:solidFill>
              <a:srgbClr val="007BA1"/>
            </a:solidFill>
            <a:ln>
              <a:noFill/>
            </a:ln>
          </p:spPr>
          <p:txBody>
            <a:bodyPr spcFirstLastPara="1" wrap="square" lIns="0" tIns="0" rIns="0" bIns="0" anchor="ctr" anchorCtr="0">
              <a:noAutofit/>
            </a:bodyPr>
            <a:lstStyle/>
            <a:p>
              <a:pPr marL="0" lvl="0" indent="0" algn="l" rtl="0">
                <a:spcBef>
                  <a:spcPts val="0"/>
                </a:spcBef>
                <a:spcAft>
                  <a:spcPts val="0"/>
                </a:spcAft>
                <a:buNone/>
              </a:pPr>
              <a:endParaRPr sz="1700"/>
            </a:p>
          </p:txBody>
        </p:sp>
        <p:sp>
          <p:nvSpPr>
            <p:cNvPr id="340" name="Google Shape;340;p34"/>
            <p:cNvSpPr txBox="1"/>
            <p:nvPr/>
          </p:nvSpPr>
          <p:spPr>
            <a:xfrm>
              <a:off x="228600" y="2636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700">
                  <a:solidFill>
                    <a:srgbClr val="007BA1"/>
                  </a:solidFill>
                  <a:latin typeface="Material Icons"/>
                  <a:ea typeface="Material Icons"/>
                  <a:cs typeface="Material Icons"/>
                  <a:sym typeface="Material Icons"/>
                </a:rPr>
                <a:t>health_and_safety</a:t>
              </a:r>
              <a:endParaRPr sz="2700">
                <a:solidFill>
                  <a:srgbClr val="007BA1"/>
                </a:solidFill>
                <a:latin typeface="Material Icons"/>
                <a:ea typeface="Material Icons"/>
                <a:cs typeface="Material Icons"/>
                <a:sym typeface="Material Icons"/>
              </a:endParaRPr>
            </a:p>
          </p:txBody>
        </p:sp>
        <p:sp>
          <p:nvSpPr>
            <p:cNvPr id="341" name="Google Shape;341;p34"/>
            <p:cNvSpPr txBox="1"/>
            <p:nvPr/>
          </p:nvSpPr>
          <p:spPr>
            <a:xfrm>
              <a:off x="762000" y="228600"/>
              <a:ext cx="4200600" cy="178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1">
                  <a:solidFill>
                    <a:srgbClr val="1E293B"/>
                  </a:solidFill>
                  <a:latin typeface="Calibri"/>
                  <a:ea typeface="Calibri"/>
                  <a:cs typeface="Calibri"/>
                  <a:sym typeface="Calibri"/>
                </a:rPr>
                <a:t>Healthcare and regulated industries</a:t>
              </a:r>
              <a:endParaRPr sz="2100" b="1">
                <a:solidFill>
                  <a:srgbClr val="1E293B"/>
                </a:solidFill>
                <a:latin typeface="Calibri"/>
                <a:ea typeface="Calibri"/>
                <a:cs typeface="Calibri"/>
                <a:sym typeface="Calibri"/>
              </a:endParaRPr>
            </a:p>
            <a:p>
              <a:pPr marL="0" lvl="0" indent="0" algn="l" rtl="0">
                <a:spcBef>
                  <a:spcPts val="300"/>
                </a:spcBef>
                <a:spcAft>
                  <a:spcPts val="0"/>
                </a:spcAft>
                <a:buNone/>
              </a:pPr>
              <a:r>
                <a:rPr lang="en-US" i="1">
                  <a:solidFill>
                    <a:srgbClr val="6B7280"/>
                  </a:solidFill>
                  <a:latin typeface="Calibri"/>
                  <a:ea typeface="Calibri"/>
                  <a:cs typeface="Calibri"/>
                  <a:sym typeface="Calibri"/>
                </a:rPr>
                <a:t>medical practices, financial services, legal</a:t>
              </a:r>
              <a:endParaRPr i="1">
                <a:solidFill>
                  <a:srgbClr val="6B7280"/>
                </a:solidFill>
                <a:latin typeface="Calibri"/>
                <a:ea typeface="Calibri"/>
                <a:cs typeface="Calibri"/>
                <a:sym typeface="Calibri"/>
              </a:endParaRPr>
            </a:p>
            <a:p>
              <a:pPr marL="0" lvl="0" indent="0" algn="l" rtl="0">
                <a:spcBef>
                  <a:spcPts val="1200"/>
                </a:spcBef>
                <a:spcAft>
                  <a:spcPts val="0"/>
                </a:spcAft>
                <a:buNone/>
              </a:pPr>
              <a:r>
                <a:rPr lang="en-US" sz="1600" b="1">
                  <a:solidFill>
                    <a:srgbClr val="007BA1"/>
                  </a:solidFill>
                  <a:latin typeface="Calibri"/>
                  <a:ea typeface="Calibri"/>
                  <a:cs typeface="Calibri"/>
                  <a:sym typeface="Calibri"/>
                </a:rPr>
                <a:t>Track:</a:t>
              </a:r>
              <a:r>
                <a:rPr lang="en-US" sz="1600">
                  <a:solidFill>
                    <a:srgbClr val="475569"/>
                  </a:solidFill>
                  <a:latin typeface="Calibri"/>
                  <a:ea typeface="Calibri"/>
                  <a:cs typeface="Calibri"/>
                  <a:sym typeface="Calibri"/>
                </a:rPr>
                <a:t> EMR and other platform data – without exposing sensitive data to AI</a:t>
              </a:r>
              <a:endParaRPr sz="1600">
                <a:solidFill>
                  <a:srgbClr val="475569"/>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5"/>
        <p:cNvGrpSpPr/>
        <p:nvPr/>
      </p:nvGrpSpPr>
      <p:grpSpPr>
        <a:xfrm>
          <a:off x="0" y="0"/>
          <a:ext cx="0" cy="0"/>
          <a:chOff x="0" y="0"/>
          <a:chExt cx="0" cy="0"/>
        </a:xfrm>
      </p:grpSpPr>
      <p:sp>
        <p:nvSpPr>
          <p:cNvPr id="346" name="Google Shape;346;p35"/>
          <p:cNvSpPr txBox="1"/>
          <p:nvPr/>
        </p:nvSpPr>
        <p:spPr>
          <a:xfrm>
            <a:off x="762000" y="476250"/>
            <a:ext cx="10668000" cy="4926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3200" b="1">
                <a:solidFill>
                  <a:srgbClr val="1E293B"/>
                </a:solidFill>
                <a:latin typeface="Calibri"/>
                <a:ea typeface="Calibri"/>
                <a:cs typeface="Calibri"/>
                <a:sym typeface="Calibri"/>
              </a:rPr>
              <a:t>What Dashbud enables</a:t>
            </a:r>
            <a:endParaRPr sz="3200" b="1">
              <a:solidFill>
                <a:srgbClr val="1E293B"/>
              </a:solidFill>
              <a:latin typeface="Calibri"/>
              <a:ea typeface="Calibri"/>
              <a:cs typeface="Calibri"/>
              <a:sym typeface="Calibri"/>
            </a:endParaRPr>
          </a:p>
        </p:txBody>
      </p:sp>
      <p:grpSp>
        <p:nvGrpSpPr>
          <p:cNvPr id="347" name="Google Shape;347;p35"/>
          <p:cNvGrpSpPr/>
          <p:nvPr/>
        </p:nvGrpSpPr>
        <p:grpSpPr>
          <a:xfrm>
            <a:off x="762000" y="1428750"/>
            <a:ext cx="5143500" cy="2190900"/>
            <a:chOff x="0" y="0"/>
            <a:chExt cx="5143500" cy="2190900"/>
          </a:xfrm>
        </p:grpSpPr>
        <p:sp>
          <p:nvSpPr>
            <p:cNvPr id="348" name="Google Shape;348;p35"/>
            <p:cNvSpPr/>
            <p:nvPr/>
          </p:nvSpPr>
          <p:spPr>
            <a:xfrm>
              <a:off x="0" y="0"/>
              <a:ext cx="5143500" cy="2190900"/>
            </a:xfrm>
            <a:prstGeom prst="roundRect">
              <a:avLst>
                <a:gd name="adj" fmla="val 521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349" name="Google Shape;349;p35"/>
            <p:cNvSpPr/>
            <p:nvPr/>
          </p:nvSpPr>
          <p:spPr>
            <a:xfrm>
              <a:off x="0" y="228600"/>
              <a:ext cx="38100" cy="381000"/>
            </a:xfrm>
            <a:prstGeom prst="roundRect">
              <a:avLst>
                <a:gd name="adj" fmla="val 50000"/>
              </a:avLst>
            </a:prstGeom>
            <a:solidFill>
              <a:srgbClr val="007BA1"/>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grpSp>
          <p:nvGrpSpPr>
            <p:cNvPr id="350" name="Google Shape;350;p35"/>
            <p:cNvGrpSpPr/>
            <p:nvPr/>
          </p:nvGrpSpPr>
          <p:grpSpPr>
            <a:xfrm>
              <a:off x="228600" y="228600"/>
              <a:ext cx="381000" cy="416052"/>
              <a:chOff x="0" y="0"/>
              <a:chExt cx="381000" cy="416052"/>
            </a:xfrm>
          </p:grpSpPr>
          <p:sp>
            <p:nvSpPr>
              <p:cNvPr id="351" name="Google Shape;351;p35"/>
              <p:cNvSpPr/>
              <p:nvPr/>
            </p:nvSpPr>
            <p:spPr>
              <a:xfrm>
                <a:off x="0" y="0"/>
                <a:ext cx="381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352" name="Google Shape;352;p35"/>
              <p:cNvSpPr txBox="1"/>
              <p:nvPr/>
            </p:nvSpPr>
            <p:spPr>
              <a:xfrm>
                <a:off x="0" y="350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a:solidFill>
                      <a:srgbClr val="007BA1"/>
                    </a:solidFill>
                    <a:latin typeface="Material Icons"/>
                    <a:ea typeface="Material Icons"/>
                    <a:cs typeface="Material Icons"/>
                    <a:sym typeface="Material Icons"/>
                  </a:rPr>
                  <a:t>bar_chart</a:t>
                </a:r>
                <a:endParaRPr sz="2800">
                  <a:solidFill>
                    <a:srgbClr val="007BA1"/>
                  </a:solidFill>
                  <a:latin typeface="Material Icons"/>
                  <a:ea typeface="Material Icons"/>
                  <a:cs typeface="Material Icons"/>
                  <a:sym typeface="Material Icons"/>
                </a:endParaRPr>
              </a:p>
            </p:txBody>
          </p:sp>
        </p:grpSp>
        <p:grpSp>
          <p:nvGrpSpPr>
            <p:cNvPr id="353" name="Google Shape;353;p35"/>
            <p:cNvGrpSpPr/>
            <p:nvPr/>
          </p:nvGrpSpPr>
          <p:grpSpPr>
            <a:xfrm>
              <a:off x="762000" y="228600"/>
              <a:ext cx="4152900" cy="1733700"/>
              <a:chOff x="0" y="0"/>
              <a:chExt cx="4152900" cy="1733700"/>
            </a:xfrm>
          </p:grpSpPr>
          <p:sp>
            <p:nvSpPr>
              <p:cNvPr id="354" name="Google Shape;354;p35"/>
              <p:cNvSpPr/>
              <p:nvPr/>
            </p:nvSpPr>
            <p:spPr>
              <a:xfrm>
                <a:off x="0" y="0"/>
                <a:ext cx="4152900" cy="1733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355" name="Google Shape;355;p35"/>
              <p:cNvSpPr txBox="1"/>
              <p:nvPr/>
            </p:nvSpPr>
            <p:spPr>
              <a:xfrm>
                <a:off x="0" y="0"/>
                <a:ext cx="4152900" cy="173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E293B"/>
                    </a:solidFill>
                    <a:latin typeface="Calibri"/>
                    <a:ea typeface="Calibri"/>
                    <a:cs typeface="Calibri"/>
                    <a:sym typeface="Calibri"/>
                  </a:rPr>
                  <a:t>Calculated KPIs across data sources</a:t>
                </a:r>
                <a:endParaRPr sz="2200" b="1">
                  <a:solidFill>
                    <a:srgbClr val="1E293B"/>
                  </a:solidFill>
                  <a:latin typeface="Calibri"/>
                  <a:ea typeface="Calibri"/>
                  <a:cs typeface="Calibri"/>
                  <a:sym typeface="Calibri"/>
                </a:endParaRPr>
              </a:p>
              <a:p>
                <a:pPr marL="0" lvl="0" indent="0" algn="l" rtl="0">
                  <a:spcBef>
                    <a:spcPts val="750"/>
                  </a:spcBef>
                  <a:spcAft>
                    <a:spcPts val="0"/>
                  </a:spcAft>
                  <a:buNone/>
                </a:pPr>
                <a:r>
                  <a:rPr lang="en-US" sz="1700" b="0">
                    <a:solidFill>
                      <a:srgbClr val="475569"/>
                    </a:solidFill>
                    <a:latin typeface="Calibri"/>
                    <a:ea typeface="Calibri"/>
                    <a:cs typeface="Calibri"/>
                    <a:sym typeface="Calibri"/>
                  </a:rPr>
                  <a:t>Sales velocity, margin analysis, utilization rates, rep performance — not just raw numbers, but real calculations grounded in your data.</a:t>
                </a:r>
                <a:endParaRPr sz="1700" b="0">
                  <a:solidFill>
                    <a:srgbClr val="475569"/>
                  </a:solidFill>
                  <a:latin typeface="Calibri"/>
                  <a:ea typeface="Calibri"/>
                  <a:cs typeface="Calibri"/>
                  <a:sym typeface="Calibri"/>
                </a:endParaRPr>
              </a:p>
            </p:txBody>
          </p:sp>
        </p:grpSp>
      </p:grpSp>
      <p:grpSp>
        <p:nvGrpSpPr>
          <p:cNvPr id="356" name="Google Shape;356;p35"/>
          <p:cNvGrpSpPr/>
          <p:nvPr/>
        </p:nvGrpSpPr>
        <p:grpSpPr>
          <a:xfrm>
            <a:off x="6286500" y="1428750"/>
            <a:ext cx="5143500" cy="2190900"/>
            <a:chOff x="0" y="0"/>
            <a:chExt cx="5143500" cy="2190900"/>
          </a:xfrm>
        </p:grpSpPr>
        <p:sp>
          <p:nvSpPr>
            <p:cNvPr id="357" name="Google Shape;357;p35"/>
            <p:cNvSpPr/>
            <p:nvPr/>
          </p:nvSpPr>
          <p:spPr>
            <a:xfrm>
              <a:off x="0" y="0"/>
              <a:ext cx="5143500" cy="2190900"/>
            </a:xfrm>
            <a:prstGeom prst="roundRect">
              <a:avLst>
                <a:gd name="adj" fmla="val 521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358" name="Google Shape;358;p35"/>
            <p:cNvSpPr/>
            <p:nvPr/>
          </p:nvSpPr>
          <p:spPr>
            <a:xfrm>
              <a:off x="0" y="228600"/>
              <a:ext cx="38100" cy="381000"/>
            </a:xfrm>
            <a:prstGeom prst="roundRect">
              <a:avLst>
                <a:gd name="adj" fmla="val 50000"/>
              </a:avLst>
            </a:prstGeom>
            <a:solidFill>
              <a:srgbClr val="007BA1"/>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grpSp>
          <p:nvGrpSpPr>
            <p:cNvPr id="359" name="Google Shape;359;p35"/>
            <p:cNvGrpSpPr/>
            <p:nvPr/>
          </p:nvGrpSpPr>
          <p:grpSpPr>
            <a:xfrm>
              <a:off x="228600" y="228600"/>
              <a:ext cx="381000" cy="416052"/>
              <a:chOff x="0" y="0"/>
              <a:chExt cx="381000" cy="416052"/>
            </a:xfrm>
          </p:grpSpPr>
          <p:sp>
            <p:nvSpPr>
              <p:cNvPr id="360" name="Google Shape;360;p35"/>
              <p:cNvSpPr/>
              <p:nvPr/>
            </p:nvSpPr>
            <p:spPr>
              <a:xfrm>
                <a:off x="0" y="0"/>
                <a:ext cx="381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361" name="Google Shape;361;p35"/>
              <p:cNvSpPr txBox="1"/>
              <p:nvPr/>
            </p:nvSpPr>
            <p:spPr>
              <a:xfrm>
                <a:off x="0" y="350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a:solidFill>
                      <a:srgbClr val="007BA1"/>
                    </a:solidFill>
                    <a:latin typeface="Material Icons"/>
                    <a:ea typeface="Material Icons"/>
                    <a:cs typeface="Material Icons"/>
                    <a:sym typeface="Material Icons"/>
                  </a:rPr>
                  <a:t>hub</a:t>
                </a:r>
                <a:endParaRPr sz="2800">
                  <a:solidFill>
                    <a:srgbClr val="007BA1"/>
                  </a:solidFill>
                  <a:latin typeface="Material Icons"/>
                  <a:ea typeface="Material Icons"/>
                  <a:cs typeface="Material Icons"/>
                  <a:sym typeface="Material Icons"/>
                </a:endParaRPr>
              </a:p>
            </p:txBody>
          </p:sp>
        </p:grpSp>
        <p:grpSp>
          <p:nvGrpSpPr>
            <p:cNvPr id="362" name="Google Shape;362;p35"/>
            <p:cNvGrpSpPr/>
            <p:nvPr/>
          </p:nvGrpSpPr>
          <p:grpSpPr>
            <a:xfrm>
              <a:off x="762000" y="228600"/>
              <a:ext cx="4152900" cy="1733700"/>
              <a:chOff x="0" y="0"/>
              <a:chExt cx="4152900" cy="1733700"/>
            </a:xfrm>
          </p:grpSpPr>
          <p:sp>
            <p:nvSpPr>
              <p:cNvPr id="363" name="Google Shape;363;p35"/>
              <p:cNvSpPr/>
              <p:nvPr/>
            </p:nvSpPr>
            <p:spPr>
              <a:xfrm>
                <a:off x="0" y="0"/>
                <a:ext cx="4152900" cy="1733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364" name="Google Shape;364;p35"/>
              <p:cNvSpPr txBox="1"/>
              <p:nvPr/>
            </p:nvSpPr>
            <p:spPr>
              <a:xfrm>
                <a:off x="0" y="0"/>
                <a:ext cx="4152900" cy="173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E293B"/>
                    </a:solidFill>
                    <a:latin typeface="Calibri"/>
                    <a:ea typeface="Calibri"/>
                    <a:cs typeface="Calibri"/>
                    <a:sym typeface="Calibri"/>
                  </a:rPr>
                  <a:t>Shared business rules</a:t>
                </a:r>
                <a:endParaRPr sz="2200" b="1">
                  <a:solidFill>
                    <a:srgbClr val="1E293B"/>
                  </a:solidFill>
                  <a:latin typeface="Calibri"/>
                  <a:ea typeface="Calibri"/>
                  <a:cs typeface="Calibri"/>
                  <a:sym typeface="Calibri"/>
                </a:endParaRPr>
              </a:p>
              <a:p>
                <a:pPr marL="0" lvl="0" indent="0" algn="l" rtl="0">
                  <a:spcBef>
                    <a:spcPts val="750"/>
                  </a:spcBef>
                  <a:spcAft>
                    <a:spcPts val="0"/>
                  </a:spcAft>
                  <a:buNone/>
                </a:pPr>
                <a:r>
                  <a:rPr lang="en-US" sz="1700" b="0">
                    <a:solidFill>
                      <a:srgbClr val="475569"/>
                    </a:solidFill>
                    <a:latin typeface="Calibri"/>
                    <a:ea typeface="Calibri"/>
                    <a:cs typeface="Calibri"/>
                    <a:sym typeface="Calibri"/>
                  </a:rPr>
                  <a:t>"Profit"</a:t>
                </a:r>
                <a:r>
                  <a:rPr lang="en-US" sz="1700">
                    <a:solidFill>
                      <a:srgbClr val="475569"/>
                    </a:solidFill>
                    <a:latin typeface="Calibri"/>
                    <a:ea typeface="Calibri"/>
                    <a:cs typeface="Calibri"/>
                    <a:sym typeface="Calibri"/>
                  </a:rPr>
                  <a:t> is defined by </a:t>
                </a:r>
                <a:r>
                  <a:rPr lang="en-US" sz="1700" b="0">
                    <a:solidFill>
                      <a:srgbClr val="475569"/>
                    </a:solidFill>
                    <a:latin typeface="Calibri"/>
                    <a:ea typeface="Calibri"/>
                    <a:cs typeface="Calibri"/>
                    <a:sym typeface="Calibri"/>
                  </a:rPr>
                  <a:t> people. Teach Dashbud your conventions once, share them across your organization. Everyone works from the same definitions.</a:t>
                </a:r>
                <a:endParaRPr sz="1700" b="0">
                  <a:solidFill>
                    <a:srgbClr val="475569"/>
                  </a:solidFill>
                  <a:latin typeface="Calibri"/>
                  <a:ea typeface="Calibri"/>
                  <a:cs typeface="Calibri"/>
                  <a:sym typeface="Calibri"/>
                </a:endParaRPr>
              </a:p>
            </p:txBody>
          </p:sp>
        </p:grpSp>
      </p:grpSp>
      <p:grpSp>
        <p:nvGrpSpPr>
          <p:cNvPr id="365" name="Google Shape;365;p35"/>
          <p:cNvGrpSpPr/>
          <p:nvPr/>
        </p:nvGrpSpPr>
        <p:grpSpPr>
          <a:xfrm>
            <a:off x="762000" y="3905250"/>
            <a:ext cx="5143500" cy="2190900"/>
            <a:chOff x="0" y="0"/>
            <a:chExt cx="5143500" cy="2190900"/>
          </a:xfrm>
        </p:grpSpPr>
        <p:sp>
          <p:nvSpPr>
            <p:cNvPr id="366" name="Google Shape;366;p35"/>
            <p:cNvSpPr/>
            <p:nvPr/>
          </p:nvSpPr>
          <p:spPr>
            <a:xfrm>
              <a:off x="0" y="0"/>
              <a:ext cx="5143500" cy="2190900"/>
            </a:xfrm>
            <a:prstGeom prst="roundRect">
              <a:avLst>
                <a:gd name="adj" fmla="val 521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7" name="Google Shape;367;p35"/>
            <p:cNvSpPr/>
            <p:nvPr/>
          </p:nvSpPr>
          <p:spPr>
            <a:xfrm>
              <a:off x="0" y="228600"/>
              <a:ext cx="38100" cy="381000"/>
            </a:xfrm>
            <a:prstGeom prst="roundRect">
              <a:avLst>
                <a:gd name="adj" fmla="val 50000"/>
              </a:avLst>
            </a:prstGeom>
            <a:solidFill>
              <a:srgbClr val="007BA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368" name="Google Shape;368;p35"/>
            <p:cNvGrpSpPr/>
            <p:nvPr/>
          </p:nvGrpSpPr>
          <p:grpSpPr>
            <a:xfrm>
              <a:off x="228600" y="228600"/>
              <a:ext cx="381000" cy="416052"/>
              <a:chOff x="0" y="0"/>
              <a:chExt cx="381000" cy="416052"/>
            </a:xfrm>
          </p:grpSpPr>
          <p:sp>
            <p:nvSpPr>
              <p:cNvPr id="369" name="Google Shape;369;p35"/>
              <p:cNvSpPr/>
              <p:nvPr/>
            </p:nvSpPr>
            <p:spPr>
              <a:xfrm>
                <a:off x="0" y="0"/>
                <a:ext cx="381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0" name="Google Shape;370;p35"/>
              <p:cNvSpPr txBox="1"/>
              <p:nvPr/>
            </p:nvSpPr>
            <p:spPr>
              <a:xfrm>
                <a:off x="0" y="350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400">
                    <a:solidFill>
                      <a:srgbClr val="007BA1"/>
                    </a:solidFill>
                    <a:latin typeface="Material Icons"/>
                    <a:ea typeface="Material Icons"/>
                    <a:cs typeface="Material Icons"/>
                    <a:sym typeface="Material Icons"/>
                  </a:rPr>
                  <a:t>auto_awesome</a:t>
                </a:r>
                <a:endParaRPr sz="2400">
                  <a:solidFill>
                    <a:srgbClr val="007BA1"/>
                  </a:solidFill>
                  <a:latin typeface="Material Icons"/>
                  <a:ea typeface="Material Icons"/>
                  <a:cs typeface="Material Icons"/>
                  <a:sym typeface="Material Icons"/>
                </a:endParaRPr>
              </a:p>
            </p:txBody>
          </p:sp>
        </p:grpSp>
        <p:grpSp>
          <p:nvGrpSpPr>
            <p:cNvPr id="371" name="Google Shape;371;p35"/>
            <p:cNvGrpSpPr/>
            <p:nvPr/>
          </p:nvGrpSpPr>
          <p:grpSpPr>
            <a:xfrm>
              <a:off x="762000" y="228600"/>
              <a:ext cx="4152900" cy="1733700"/>
              <a:chOff x="0" y="0"/>
              <a:chExt cx="4152900" cy="1733700"/>
            </a:xfrm>
          </p:grpSpPr>
          <p:sp>
            <p:nvSpPr>
              <p:cNvPr id="372" name="Google Shape;372;p35"/>
              <p:cNvSpPr/>
              <p:nvPr/>
            </p:nvSpPr>
            <p:spPr>
              <a:xfrm>
                <a:off x="0" y="0"/>
                <a:ext cx="4152900" cy="1733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3" name="Google Shape;373;p35"/>
              <p:cNvSpPr txBox="1"/>
              <p:nvPr/>
            </p:nvSpPr>
            <p:spPr>
              <a:xfrm>
                <a:off x="0" y="0"/>
                <a:ext cx="4152900" cy="173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E293B"/>
                    </a:solidFill>
                    <a:latin typeface="Calibri"/>
                    <a:ea typeface="Calibri"/>
                    <a:cs typeface="Calibri"/>
                    <a:sym typeface="Calibri"/>
                  </a:rPr>
                  <a:t>Clean data from messy sources</a:t>
                </a:r>
                <a:endParaRPr sz="2200" b="1">
                  <a:solidFill>
                    <a:srgbClr val="1E293B"/>
                  </a:solidFill>
                  <a:latin typeface="Calibri"/>
                  <a:ea typeface="Calibri"/>
                  <a:cs typeface="Calibri"/>
                  <a:sym typeface="Calibri"/>
                </a:endParaRPr>
              </a:p>
              <a:p>
                <a:pPr marL="0" lvl="0" indent="0" algn="l" rtl="0">
                  <a:spcBef>
                    <a:spcPts val="750"/>
                  </a:spcBef>
                  <a:spcAft>
                    <a:spcPts val="0"/>
                  </a:spcAft>
                  <a:buNone/>
                </a:pPr>
                <a:r>
                  <a:rPr lang="en-US" sz="1700" b="0">
                    <a:solidFill>
                      <a:srgbClr val="475569"/>
                    </a:solidFill>
                    <a:latin typeface="Calibri"/>
                    <a:ea typeface="Calibri"/>
                    <a:cs typeface="Calibri"/>
                    <a:sym typeface="Calibri"/>
                  </a:rPr>
                  <a:t>Legacy ERPs, complex exports, dirty spreadsheets. Dashbud imports and cleans automatically. Lightning-fast queries on millions of rows.</a:t>
                </a:r>
                <a:endParaRPr sz="2100" b="0">
                  <a:solidFill>
                    <a:srgbClr val="475569"/>
                  </a:solidFill>
                  <a:latin typeface="Calibri"/>
                  <a:ea typeface="Calibri"/>
                  <a:cs typeface="Calibri"/>
                  <a:sym typeface="Calibri"/>
                </a:endParaRPr>
              </a:p>
            </p:txBody>
          </p:sp>
        </p:grpSp>
      </p:grpSp>
      <p:grpSp>
        <p:nvGrpSpPr>
          <p:cNvPr id="374" name="Google Shape;374;p35"/>
          <p:cNvGrpSpPr/>
          <p:nvPr/>
        </p:nvGrpSpPr>
        <p:grpSpPr>
          <a:xfrm>
            <a:off x="6286500" y="3905250"/>
            <a:ext cx="5143500" cy="2190900"/>
            <a:chOff x="0" y="0"/>
            <a:chExt cx="5143500" cy="2190900"/>
          </a:xfrm>
        </p:grpSpPr>
        <p:sp>
          <p:nvSpPr>
            <p:cNvPr id="375" name="Google Shape;375;p35"/>
            <p:cNvSpPr/>
            <p:nvPr/>
          </p:nvSpPr>
          <p:spPr>
            <a:xfrm>
              <a:off x="0" y="0"/>
              <a:ext cx="5143500" cy="2190900"/>
            </a:xfrm>
            <a:prstGeom prst="roundRect">
              <a:avLst>
                <a:gd name="adj" fmla="val 5217"/>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376" name="Google Shape;376;p35"/>
            <p:cNvSpPr/>
            <p:nvPr/>
          </p:nvSpPr>
          <p:spPr>
            <a:xfrm>
              <a:off x="0" y="228600"/>
              <a:ext cx="38100" cy="381000"/>
            </a:xfrm>
            <a:prstGeom prst="roundRect">
              <a:avLst>
                <a:gd name="adj" fmla="val 50000"/>
              </a:avLst>
            </a:prstGeom>
            <a:solidFill>
              <a:srgbClr val="007BA1"/>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grpSp>
          <p:nvGrpSpPr>
            <p:cNvPr id="377" name="Google Shape;377;p35"/>
            <p:cNvGrpSpPr/>
            <p:nvPr/>
          </p:nvGrpSpPr>
          <p:grpSpPr>
            <a:xfrm>
              <a:off x="228600" y="228600"/>
              <a:ext cx="381000" cy="416052"/>
              <a:chOff x="0" y="0"/>
              <a:chExt cx="381000" cy="416052"/>
            </a:xfrm>
          </p:grpSpPr>
          <p:sp>
            <p:nvSpPr>
              <p:cNvPr id="378" name="Google Shape;378;p35"/>
              <p:cNvSpPr/>
              <p:nvPr/>
            </p:nvSpPr>
            <p:spPr>
              <a:xfrm>
                <a:off x="0" y="0"/>
                <a:ext cx="381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379" name="Google Shape;379;p35"/>
              <p:cNvSpPr txBox="1"/>
              <p:nvPr/>
            </p:nvSpPr>
            <p:spPr>
              <a:xfrm>
                <a:off x="0" y="3505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800">
                    <a:solidFill>
                      <a:srgbClr val="007BA1"/>
                    </a:solidFill>
                    <a:latin typeface="Material Icons"/>
                    <a:ea typeface="Material Icons"/>
                    <a:cs typeface="Material Icons"/>
                    <a:sym typeface="Material Icons"/>
                  </a:rPr>
                  <a:t>shield</a:t>
                </a:r>
                <a:endParaRPr sz="2800">
                  <a:solidFill>
                    <a:srgbClr val="007BA1"/>
                  </a:solidFill>
                  <a:latin typeface="Material Icons"/>
                  <a:ea typeface="Material Icons"/>
                  <a:cs typeface="Material Icons"/>
                  <a:sym typeface="Material Icons"/>
                </a:endParaRPr>
              </a:p>
            </p:txBody>
          </p:sp>
        </p:grpSp>
        <p:grpSp>
          <p:nvGrpSpPr>
            <p:cNvPr id="380" name="Google Shape;380;p35"/>
            <p:cNvGrpSpPr/>
            <p:nvPr/>
          </p:nvGrpSpPr>
          <p:grpSpPr>
            <a:xfrm>
              <a:off x="762000" y="228600"/>
              <a:ext cx="4152900" cy="1733700"/>
              <a:chOff x="0" y="0"/>
              <a:chExt cx="4152900" cy="1733700"/>
            </a:xfrm>
          </p:grpSpPr>
          <p:sp>
            <p:nvSpPr>
              <p:cNvPr id="381" name="Google Shape;381;p35"/>
              <p:cNvSpPr/>
              <p:nvPr/>
            </p:nvSpPr>
            <p:spPr>
              <a:xfrm>
                <a:off x="0" y="0"/>
                <a:ext cx="4152900" cy="1733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1800"/>
              </a:p>
            </p:txBody>
          </p:sp>
          <p:sp>
            <p:nvSpPr>
              <p:cNvPr id="382" name="Google Shape;382;p35"/>
              <p:cNvSpPr txBox="1"/>
              <p:nvPr/>
            </p:nvSpPr>
            <p:spPr>
              <a:xfrm>
                <a:off x="0" y="0"/>
                <a:ext cx="4152900" cy="173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E293B"/>
                    </a:solidFill>
                    <a:latin typeface="Calibri"/>
                    <a:ea typeface="Calibri"/>
                    <a:cs typeface="Calibri"/>
                    <a:sym typeface="Calibri"/>
                  </a:rPr>
                  <a:t>Privacy-safe analysis</a:t>
                </a:r>
                <a:endParaRPr sz="2200" b="1">
                  <a:solidFill>
                    <a:srgbClr val="1E293B"/>
                  </a:solidFill>
                  <a:latin typeface="Calibri"/>
                  <a:ea typeface="Calibri"/>
                  <a:cs typeface="Calibri"/>
                  <a:sym typeface="Calibri"/>
                </a:endParaRPr>
              </a:p>
              <a:p>
                <a:pPr marL="0" lvl="0" indent="0" algn="l" rtl="0">
                  <a:spcBef>
                    <a:spcPts val="750"/>
                  </a:spcBef>
                  <a:spcAft>
                    <a:spcPts val="0"/>
                  </a:spcAft>
                  <a:buNone/>
                </a:pPr>
                <a:r>
                  <a:rPr lang="en-US" sz="1700" b="0">
                    <a:solidFill>
                      <a:srgbClr val="475569"/>
                    </a:solidFill>
                    <a:latin typeface="Calibri"/>
                    <a:ea typeface="Calibri"/>
                    <a:cs typeface="Calibri"/>
                    <a:sym typeface="Calibri"/>
                  </a:rPr>
                  <a:t>Your data stays yours. No AI ever sees raw values. Sensitive data — medical, financial, legal — stays in your database or in secure managed storage.</a:t>
                </a:r>
                <a:endParaRPr sz="1700" b="0">
                  <a:solidFill>
                    <a:srgbClr val="475569"/>
                  </a:solidFill>
                  <a:latin typeface="Calibri"/>
                  <a:ea typeface="Calibri"/>
                  <a:cs typeface="Calibri"/>
                  <a:sym typeface="Calibri"/>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7BA1"/>
        </a:solidFill>
        <a:effectLst/>
      </p:bgPr>
    </p:bg>
    <p:spTree>
      <p:nvGrpSpPr>
        <p:cNvPr id="1" name="Shape 386"/>
        <p:cNvGrpSpPr/>
        <p:nvPr/>
      </p:nvGrpSpPr>
      <p:grpSpPr>
        <a:xfrm>
          <a:off x="0" y="0"/>
          <a:ext cx="0" cy="0"/>
          <a:chOff x="0" y="0"/>
          <a:chExt cx="0" cy="0"/>
        </a:xfrm>
      </p:grpSpPr>
      <p:sp>
        <p:nvSpPr>
          <p:cNvPr id="387" name="Google Shape;387;p36"/>
          <p:cNvSpPr txBox="1"/>
          <p:nvPr/>
        </p:nvSpPr>
        <p:spPr>
          <a:xfrm>
            <a:off x="1371600" y="2286000"/>
            <a:ext cx="9144000" cy="137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FFFFFF"/>
                </a:solidFill>
                <a:latin typeface="Calibri"/>
                <a:ea typeface="Calibri"/>
                <a:cs typeface="Calibri"/>
                <a:sym typeface="Calibri"/>
              </a:rPr>
              <a:t>Q&amp;A</a:t>
            </a:r>
            <a:endParaRPr sz="1400" b="0" i="0" u="none" strike="noStrike" cap="none">
              <a:solidFill>
                <a:srgbClr val="000000"/>
              </a:solidFill>
              <a:latin typeface="Arial"/>
              <a:ea typeface="Arial"/>
              <a:cs typeface="Arial"/>
              <a:sym typeface="Arial"/>
            </a:endParaRPr>
          </a:p>
        </p:txBody>
      </p:sp>
      <p:sp>
        <p:nvSpPr>
          <p:cNvPr id="388" name="Google Shape;388;p36"/>
          <p:cNvSpPr txBox="1"/>
          <p:nvPr/>
        </p:nvSpPr>
        <p:spPr>
          <a:xfrm>
            <a:off x="1371600" y="3840480"/>
            <a:ext cx="91440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E0F4F9"/>
                </a:solidFill>
                <a:latin typeface="Calibri"/>
                <a:ea typeface="Calibri"/>
                <a:cs typeface="Calibri"/>
                <a:sym typeface="Calibri"/>
              </a:rPr>
              <a:t>What questions do you have?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546E"/>
        </a:solidFill>
        <a:effectLst/>
      </p:bgPr>
    </p:bg>
    <p:spTree>
      <p:nvGrpSpPr>
        <p:cNvPr id="1" name="Shape 392"/>
        <p:cNvGrpSpPr/>
        <p:nvPr/>
      </p:nvGrpSpPr>
      <p:grpSpPr>
        <a:xfrm>
          <a:off x="0" y="0"/>
          <a:ext cx="0" cy="0"/>
          <a:chOff x="0" y="0"/>
          <a:chExt cx="0" cy="0"/>
        </a:xfrm>
      </p:grpSpPr>
      <p:sp>
        <p:nvSpPr>
          <p:cNvPr id="393" name="Google Shape;393;p37"/>
          <p:cNvSpPr txBox="1"/>
          <p:nvPr/>
        </p:nvSpPr>
        <p:spPr>
          <a:xfrm>
            <a:off x="762000" y="571500"/>
            <a:ext cx="10668000" cy="1238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4200"/>
              <a:buFont typeface="Arial"/>
              <a:buNone/>
            </a:pPr>
            <a:r>
              <a:rPr lang="en-US" sz="4200" b="1" i="0" u="none" strike="noStrike" cap="none">
                <a:solidFill>
                  <a:srgbClr val="FFFFFF"/>
                </a:solidFill>
                <a:latin typeface="Calibri"/>
                <a:ea typeface="Calibri"/>
                <a:cs typeface="Calibri"/>
                <a:sym typeface="Calibri"/>
              </a:rPr>
              <a:t>Get started today</a:t>
            </a:r>
            <a:endParaRPr sz="4200" b="1" i="0" u="none" strike="noStrike" cap="none">
              <a:solidFill>
                <a:srgbClr val="FFFFFF"/>
              </a:solidFill>
              <a:latin typeface="Calibri"/>
              <a:ea typeface="Calibri"/>
              <a:cs typeface="Calibri"/>
              <a:sym typeface="Calibri"/>
            </a:endParaRPr>
          </a:p>
          <a:p>
            <a:pPr marL="0" marR="0" lvl="0" indent="0" algn="ctr" rtl="0">
              <a:lnSpc>
                <a:spcPct val="100000"/>
              </a:lnSpc>
              <a:spcBef>
                <a:spcPts val="750"/>
              </a:spcBef>
              <a:spcAft>
                <a:spcPts val="0"/>
              </a:spcAft>
              <a:buClr>
                <a:srgbClr val="000000"/>
              </a:buClr>
              <a:buSzPts val="2200"/>
              <a:buFont typeface="Arial"/>
              <a:buNone/>
            </a:pPr>
            <a:r>
              <a:rPr lang="en-US" sz="2200" b="0" i="0" u="none" strike="noStrike" cap="none">
                <a:solidFill>
                  <a:srgbClr val="E0F4F9"/>
                </a:solidFill>
                <a:latin typeface="Calibri"/>
                <a:ea typeface="Calibri"/>
                <a:cs typeface="Calibri"/>
                <a:sym typeface="Calibri"/>
              </a:rPr>
              <a:t>getdashbud.com</a:t>
            </a:r>
            <a:endParaRPr sz="2200" b="0" i="0" u="none" strike="noStrike" cap="none">
              <a:solidFill>
                <a:srgbClr val="E0F4F9"/>
              </a:solidFill>
              <a:latin typeface="Calibri"/>
              <a:ea typeface="Calibri"/>
              <a:cs typeface="Calibri"/>
              <a:sym typeface="Calibri"/>
            </a:endParaRPr>
          </a:p>
        </p:txBody>
      </p:sp>
      <p:grpSp>
        <p:nvGrpSpPr>
          <p:cNvPr id="394" name="Google Shape;394;p37"/>
          <p:cNvGrpSpPr/>
          <p:nvPr/>
        </p:nvGrpSpPr>
        <p:grpSpPr>
          <a:xfrm>
            <a:off x="762000" y="2286000"/>
            <a:ext cx="3238500" cy="2286000"/>
            <a:chOff x="0" y="0"/>
            <a:chExt cx="3238500" cy="2286000"/>
          </a:xfrm>
        </p:grpSpPr>
        <p:sp>
          <p:nvSpPr>
            <p:cNvPr id="395" name="Google Shape;395;p37"/>
            <p:cNvSpPr/>
            <p:nvPr/>
          </p:nvSpPr>
          <p:spPr>
            <a:xfrm>
              <a:off x="0" y="0"/>
              <a:ext cx="3238500" cy="2286000"/>
            </a:xfrm>
            <a:prstGeom prst="roundRect">
              <a:avLst>
                <a:gd name="adj" fmla="val 5000"/>
              </a:avLst>
            </a:prstGeom>
            <a:solidFill>
              <a:srgbClr val="00465C"/>
            </a:solidFill>
            <a:ln w="14300" cap="flat" cmpd="sng">
              <a:solidFill>
                <a:srgbClr val="007BA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37"/>
            <p:cNvSpPr txBox="1"/>
            <p:nvPr/>
          </p:nvSpPr>
          <p:spPr>
            <a:xfrm>
              <a:off x="0" y="0"/>
              <a:ext cx="3238500" cy="2286000"/>
            </a:xfrm>
            <a:prstGeom prst="rect">
              <a:avLst/>
            </a:prstGeom>
            <a:noFill/>
            <a:ln>
              <a:noFill/>
            </a:ln>
          </p:spPr>
          <p:txBody>
            <a:bodyPr spcFirstLastPara="1" wrap="square" lIns="228600" tIns="285750" rIns="228600" bIns="285750" anchor="ctr" anchorCtr="0">
              <a:noAutofit/>
            </a:bodyPr>
            <a:lstStyle/>
            <a:p>
              <a:pPr marL="0" marR="0" lvl="0" indent="0" algn="ctr" rtl="0">
                <a:lnSpc>
                  <a:spcPct val="100000"/>
                </a:lnSpc>
                <a:spcBef>
                  <a:spcPts val="1125"/>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Free Trial</a:t>
              </a:r>
              <a:endParaRPr sz="2000" b="1" i="0" u="none" strike="noStrike" cap="none">
                <a:solidFill>
                  <a:srgbClr val="FFFFFF"/>
                </a:solidFill>
                <a:latin typeface="Calibri"/>
                <a:ea typeface="Calibri"/>
                <a:cs typeface="Calibri"/>
                <a:sym typeface="Calibri"/>
              </a:endParaRPr>
            </a:p>
            <a:p>
              <a:pPr marL="0" marR="0" lvl="0" indent="0" algn="ctr" rtl="0">
                <a:lnSpc>
                  <a:spcPct val="100000"/>
                </a:lnSpc>
                <a:spcBef>
                  <a:spcPts val="750"/>
                </a:spcBef>
                <a:spcAft>
                  <a:spcPts val="0"/>
                </a:spcAft>
                <a:buClr>
                  <a:srgbClr val="000000"/>
                </a:buClr>
                <a:buSzPts val="1300"/>
                <a:buFont typeface="Arial"/>
                <a:buNone/>
              </a:pPr>
              <a:r>
                <a:rPr lang="en-US" sz="1300" b="0" i="0" u="none" strike="noStrike" cap="none">
                  <a:solidFill>
                    <a:srgbClr val="80BBCE"/>
                  </a:solidFill>
                  <a:latin typeface="Calibri"/>
                  <a:ea typeface="Calibri"/>
                  <a:cs typeface="Calibri"/>
                  <a:sym typeface="Calibri"/>
                </a:rPr>
                <a:t>getdashbud.com/signup</a:t>
              </a:r>
              <a:endParaRPr sz="1300" b="0" i="0" u="none" strike="noStrike" cap="none">
                <a:solidFill>
                  <a:srgbClr val="80BBCE"/>
                </a:solidFill>
                <a:latin typeface="Calibri"/>
                <a:ea typeface="Calibri"/>
                <a:cs typeface="Calibri"/>
                <a:sym typeface="Calibri"/>
              </a:endParaRPr>
            </a:p>
          </p:txBody>
        </p:sp>
      </p:grpSp>
      <p:grpSp>
        <p:nvGrpSpPr>
          <p:cNvPr id="397" name="Google Shape;397;p37"/>
          <p:cNvGrpSpPr/>
          <p:nvPr/>
        </p:nvGrpSpPr>
        <p:grpSpPr>
          <a:xfrm>
            <a:off x="4476750" y="2286000"/>
            <a:ext cx="3238500" cy="2286000"/>
            <a:chOff x="0" y="0"/>
            <a:chExt cx="3238500" cy="2286000"/>
          </a:xfrm>
        </p:grpSpPr>
        <p:sp>
          <p:nvSpPr>
            <p:cNvPr id="398" name="Google Shape;398;p37"/>
            <p:cNvSpPr/>
            <p:nvPr/>
          </p:nvSpPr>
          <p:spPr>
            <a:xfrm>
              <a:off x="0" y="0"/>
              <a:ext cx="3238500" cy="2286000"/>
            </a:xfrm>
            <a:prstGeom prst="roundRect">
              <a:avLst>
                <a:gd name="adj" fmla="val 5000"/>
              </a:avLst>
            </a:prstGeom>
            <a:solidFill>
              <a:srgbClr val="00465C"/>
            </a:solidFill>
            <a:ln w="14300" cap="flat" cmpd="sng">
              <a:solidFill>
                <a:srgbClr val="007BA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37"/>
            <p:cNvSpPr txBox="1"/>
            <p:nvPr/>
          </p:nvSpPr>
          <p:spPr>
            <a:xfrm>
              <a:off x="0" y="0"/>
              <a:ext cx="3238500" cy="2286000"/>
            </a:xfrm>
            <a:prstGeom prst="rect">
              <a:avLst/>
            </a:prstGeom>
            <a:noFill/>
            <a:ln>
              <a:noFill/>
            </a:ln>
          </p:spPr>
          <p:txBody>
            <a:bodyPr spcFirstLastPara="1" wrap="square" lIns="228600" tIns="285750" rIns="228600" bIns="285750" anchor="ctr" anchorCtr="0">
              <a:noAutofit/>
            </a:bodyPr>
            <a:lstStyle/>
            <a:p>
              <a:pPr marL="0" marR="0" lvl="0" indent="0" algn="ctr" rtl="0">
                <a:lnSpc>
                  <a:spcPct val="100000"/>
                </a:lnSpc>
                <a:spcBef>
                  <a:spcPts val="1125"/>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Book a Demo</a:t>
              </a:r>
              <a:endParaRPr sz="2000" b="1" i="0" u="none" strike="noStrike" cap="none">
                <a:solidFill>
                  <a:srgbClr val="FFFFFF"/>
                </a:solidFill>
                <a:latin typeface="Calibri"/>
                <a:ea typeface="Calibri"/>
                <a:cs typeface="Calibri"/>
                <a:sym typeface="Calibri"/>
              </a:endParaRPr>
            </a:p>
            <a:p>
              <a:pPr marL="0" marR="0" lvl="0" indent="0" algn="ctr" rtl="0">
                <a:lnSpc>
                  <a:spcPct val="100000"/>
                </a:lnSpc>
                <a:spcBef>
                  <a:spcPts val="750"/>
                </a:spcBef>
                <a:spcAft>
                  <a:spcPts val="0"/>
                </a:spcAft>
                <a:buClr>
                  <a:srgbClr val="000000"/>
                </a:buClr>
                <a:buSzPts val="1150"/>
                <a:buFont typeface="Arial"/>
                <a:buNone/>
              </a:pPr>
              <a:r>
                <a:rPr lang="en-US" sz="1150" b="0" i="0" u="none" strike="noStrike" cap="none">
                  <a:solidFill>
                    <a:srgbClr val="80BBCE"/>
                  </a:solidFill>
                  <a:latin typeface="Calibri"/>
                  <a:ea typeface="Calibri"/>
                  <a:cs typeface="Calibri"/>
                  <a:sym typeface="Calibri"/>
                </a:rPr>
                <a:t>calendly.com/arthur-evolytix/</a:t>
              </a:r>
              <a:br>
                <a:rPr lang="en-US" sz="1150" b="0" i="0" u="none" strike="noStrike" cap="none">
                  <a:solidFill>
                    <a:srgbClr val="80BBCE"/>
                  </a:solidFill>
                  <a:latin typeface="Calibri"/>
                  <a:ea typeface="Calibri"/>
                  <a:cs typeface="Calibri"/>
                  <a:sym typeface="Calibri"/>
                </a:rPr>
              </a:br>
              <a:r>
                <a:rPr lang="en-US" sz="1150" b="0" i="0" u="none" strike="noStrike" cap="none">
                  <a:solidFill>
                    <a:srgbClr val="80BBCE"/>
                  </a:solidFill>
                  <a:latin typeface="Calibri"/>
                  <a:ea typeface="Calibri"/>
                  <a:cs typeface="Calibri"/>
                  <a:sym typeface="Calibri"/>
                </a:rPr>
                <a:t>dashbud-demo-and-setup</a:t>
              </a:r>
              <a:endParaRPr sz="1150" b="0" i="0" u="none" strike="noStrike" cap="none">
                <a:solidFill>
                  <a:srgbClr val="80BBCE"/>
                </a:solidFill>
                <a:latin typeface="Calibri"/>
                <a:ea typeface="Calibri"/>
                <a:cs typeface="Calibri"/>
                <a:sym typeface="Calibri"/>
              </a:endParaRPr>
            </a:p>
          </p:txBody>
        </p:sp>
      </p:grpSp>
      <p:grpSp>
        <p:nvGrpSpPr>
          <p:cNvPr id="400" name="Google Shape;400;p37"/>
          <p:cNvGrpSpPr/>
          <p:nvPr/>
        </p:nvGrpSpPr>
        <p:grpSpPr>
          <a:xfrm>
            <a:off x="8191500" y="2286000"/>
            <a:ext cx="3238500" cy="2286000"/>
            <a:chOff x="0" y="0"/>
            <a:chExt cx="3238500" cy="2286000"/>
          </a:xfrm>
        </p:grpSpPr>
        <p:sp>
          <p:nvSpPr>
            <p:cNvPr id="401" name="Google Shape;401;p37"/>
            <p:cNvSpPr/>
            <p:nvPr/>
          </p:nvSpPr>
          <p:spPr>
            <a:xfrm>
              <a:off x="0" y="0"/>
              <a:ext cx="3238500" cy="2286000"/>
            </a:xfrm>
            <a:prstGeom prst="roundRect">
              <a:avLst>
                <a:gd name="adj" fmla="val 5000"/>
              </a:avLst>
            </a:prstGeom>
            <a:solidFill>
              <a:srgbClr val="00465C"/>
            </a:solidFill>
            <a:ln w="14300" cap="flat" cmpd="sng">
              <a:solidFill>
                <a:srgbClr val="007BA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37"/>
            <p:cNvSpPr txBox="1"/>
            <p:nvPr/>
          </p:nvSpPr>
          <p:spPr>
            <a:xfrm>
              <a:off x="0" y="0"/>
              <a:ext cx="3238500" cy="2286000"/>
            </a:xfrm>
            <a:prstGeom prst="rect">
              <a:avLst/>
            </a:prstGeom>
            <a:noFill/>
            <a:ln>
              <a:noFill/>
            </a:ln>
          </p:spPr>
          <p:txBody>
            <a:bodyPr spcFirstLastPara="1" wrap="square" lIns="228600" tIns="285750" rIns="228600" bIns="285750" anchor="ctr" anchorCtr="0">
              <a:noAutofit/>
            </a:bodyPr>
            <a:lstStyle/>
            <a:p>
              <a:pPr marL="0" marR="0" lvl="0" indent="0" algn="ctr" rtl="0">
                <a:lnSpc>
                  <a:spcPct val="100000"/>
                </a:lnSpc>
                <a:spcBef>
                  <a:spcPts val="1125"/>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Contact</a:t>
              </a:r>
              <a:endParaRPr sz="2000" b="1" i="0" u="none" strike="noStrike" cap="none">
                <a:solidFill>
                  <a:srgbClr val="FFFFFF"/>
                </a:solidFill>
                <a:latin typeface="Calibri"/>
                <a:ea typeface="Calibri"/>
                <a:cs typeface="Calibri"/>
                <a:sym typeface="Calibri"/>
              </a:endParaRPr>
            </a:p>
            <a:p>
              <a:pPr marL="0" marR="0" lvl="0" indent="0" algn="ctr" rtl="0">
                <a:lnSpc>
                  <a:spcPct val="100000"/>
                </a:lnSpc>
                <a:spcBef>
                  <a:spcPts val="750"/>
                </a:spcBef>
                <a:spcAft>
                  <a:spcPts val="0"/>
                </a:spcAft>
                <a:buClr>
                  <a:srgbClr val="000000"/>
                </a:buClr>
                <a:buSzPts val="1300"/>
                <a:buFont typeface="Arial"/>
                <a:buNone/>
              </a:pPr>
              <a:r>
                <a:rPr lang="en-US" sz="1300" b="0" i="0" u="none" strike="noStrike" cap="none">
                  <a:solidFill>
                    <a:srgbClr val="80BBCE"/>
                  </a:solidFill>
                  <a:latin typeface="Calibri"/>
                  <a:ea typeface="Calibri"/>
                  <a:cs typeface="Calibri"/>
                  <a:sym typeface="Calibri"/>
                </a:rPr>
                <a:t>hello@mail.getdashbud.com</a:t>
              </a:r>
              <a:endParaRPr sz="1300" b="0" i="0" u="none" strike="noStrike" cap="none">
                <a:solidFill>
                  <a:srgbClr val="80BBCE"/>
                </a:solidFill>
                <a:latin typeface="Calibri"/>
                <a:ea typeface="Calibri"/>
                <a:cs typeface="Calibri"/>
                <a:sym typeface="Calibri"/>
              </a:endParaRPr>
            </a:p>
          </p:txBody>
        </p:sp>
      </p:grpSp>
      <p:sp>
        <p:nvSpPr>
          <p:cNvPr id="403" name="Google Shape;403;p37"/>
          <p:cNvSpPr txBox="1"/>
          <p:nvPr/>
        </p:nvSpPr>
        <p:spPr>
          <a:xfrm>
            <a:off x="762000" y="4953000"/>
            <a:ext cx="10668000" cy="1333500"/>
          </a:xfrm>
          <a:prstGeom prst="rect">
            <a:avLst/>
          </a:prstGeom>
          <a:noFill/>
          <a:ln>
            <a:noFill/>
          </a:ln>
        </p:spPr>
        <p:txBody>
          <a:bodyPr spcFirstLastPara="1" wrap="square" lIns="381000" tIns="0" rIns="381000" bIns="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1" u="none" strike="noStrike" cap="none">
                <a:solidFill>
                  <a:srgbClr val="E0F4F9"/>
                </a:solidFill>
                <a:latin typeface="Calibri"/>
                <a:ea typeface="Calibri"/>
                <a:cs typeface="Calibri"/>
                <a:sym typeface="Calibri"/>
              </a:rPr>
              <a:t>"If you've got data and you're spending too much time wrangling it into answers — that's what we built Dashbud for."</a:t>
            </a:r>
            <a:endParaRPr sz="1600" b="0" i="1" u="none" strike="noStrike" cap="none">
              <a:solidFill>
                <a:srgbClr val="E0F4F9"/>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8"/>
          <p:cNvSpPr txBox="1"/>
          <p:nvPr/>
        </p:nvSpPr>
        <p:spPr>
          <a:xfrm>
            <a:off x="2106450" y="2473500"/>
            <a:ext cx="7979100" cy="1169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3200">
                <a:solidFill>
                  <a:schemeClr val="dk1"/>
                </a:solidFill>
                <a:latin typeface="Calibri"/>
                <a:ea typeface="Calibri"/>
                <a:cs typeface="Calibri"/>
                <a:sym typeface="Calibri"/>
              </a:rPr>
              <a:t>END</a:t>
            </a:r>
            <a:endParaRPr sz="3200">
              <a:solidFill>
                <a:schemeClr val="dk1"/>
              </a:solidFill>
              <a:latin typeface="Calibri"/>
              <a:ea typeface="Calibri"/>
              <a:cs typeface="Calibri"/>
              <a:sym typeface="Calibri"/>
            </a:endParaRPr>
          </a:p>
          <a:p>
            <a:pPr marL="0" lvl="0" indent="0" algn="ctr" rtl="0">
              <a:spcBef>
                <a:spcPts val="0"/>
              </a:spcBef>
              <a:spcAft>
                <a:spcPts val="0"/>
              </a:spcAft>
              <a:buNone/>
            </a:pPr>
            <a:r>
              <a:rPr lang="en-US" sz="3200">
                <a:solidFill>
                  <a:schemeClr val="dk1"/>
                </a:solidFill>
                <a:latin typeface="Calibri"/>
                <a:ea typeface="Calibri"/>
                <a:cs typeface="Calibri"/>
                <a:sym typeface="Calibri"/>
              </a:rPr>
              <a:t>[Draft slides follow]</a:t>
            </a:r>
            <a:endParaRPr sz="32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9"/>
          <p:cNvSpPr txBox="1"/>
          <p:nvPr/>
        </p:nvSpPr>
        <p:spPr>
          <a:xfrm>
            <a:off x="731520" y="274320"/>
            <a:ext cx="100584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111827"/>
                </a:solidFill>
                <a:latin typeface="Calibri"/>
                <a:ea typeface="Calibri"/>
                <a:cs typeface="Calibri"/>
                <a:sym typeface="Calibri"/>
              </a:rPr>
              <a:t>Start simple. Scale when ready.</a:t>
            </a:r>
            <a:endParaRPr sz="1400" b="0" i="0" u="none" strike="noStrike" cap="none">
              <a:solidFill>
                <a:srgbClr val="000000"/>
              </a:solidFill>
              <a:latin typeface="Arial"/>
              <a:ea typeface="Arial"/>
              <a:cs typeface="Arial"/>
              <a:sym typeface="Arial"/>
            </a:endParaRPr>
          </a:p>
        </p:txBody>
      </p:sp>
      <p:sp>
        <p:nvSpPr>
          <p:cNvPr id="414" name="Google Shape;414;p39"/>
          <p:cNvSpPr txBox="1"/>
          <p:nvPr/>
        </p:nvSpPr>
        <p:spPr>
          <a:xfrm>
            <a:off x="731520" y="1188720"/>
            <a:ext cx="36576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7BA1"/>
                </a:solidFill>
                <a:latin typeface="Calibri"/>
                <a:ea typeface="Calibri"/>
                <a:cs typeface="Calibri"/>
                <a:sym typeface="Calibri"/>
              </a:rPr>
              <a:t>Start with one analysis</a:t>
            </a:r>
            <a:endParaRPr sz="1400" b="0" i="0" u="none" strike="noStrike" cap="none">
              <a:solidFill>
                <a:srgbClr val="000000"/>
              </a:solidFill>
              <a:latin typeface="Arial"/>
              <a:ea typeface="Arial"/>
              <a:cs typeface="Arial"/>
              <a:sym typeface="Arial"/>
            </a:endParaRPr>
          </a:p>
        </p:txBody>
      </p:sp>
      <p:sp>
        <p:nvSpPr>
          <p:cNvPr id="415" name="Google Shape;415;p39"/>
          <p:cNvSpPr txBox="1"/>
          <p:nvPr/>
        </p:nvSpPr>
        <p:spPr>
          <a:xfrm>
            <a:off x="731520" y="1554480"/>
            <a:ext cx="100584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6B7280"/>
                </a:solidFill>
                <a:latin typeface="Calibri"/>
                <a:ea typeface="Calibri"/>
                <a:cs typeface="Calibri"/>
                <a:sym typeface="Calibri"/>
              </a:rPr>
              <a:t>Upload a spreadsheet, ask a question, get a chart.</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Five minutes from signup to your first insight.</a:t>
            </a:r>
            <a:endParaRPr sz="1400" b="0" i="0" u="none" strike="noStrike" cap="none">
              <a:solidFill>
                <a:srgbClr val="000000"/>
              </a:solidFill>
              <a:latin typeface="Arial"/>
              <a:ea typeface="Arial"/>
              <a:cs typeface="Arial"/>
              <a:sym typeface="Arial"/>
            </a:endParaRPr>
          </a:p>
        </p:txBody>
      </p:sp>
      <p:sp>
        <p:nvSpPr>
          <p:cNvPr id="416" name="Google Shape;416;p39"/>
          <p:cNvSpPr txBox="1"/>
          <p:nvPr/>
        </p:nvSpPr>
        <p:spPr>
          <a:xfrm>
            <a:off x="731520" y="2560320"/>
            <a:ext cx="36576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7BA1"/>
                </a:solidFill>
                <a:latin typeface="Calibri"/>
                <a:ea typeface="Calibri"/>
                <a:cs typeface="Calibri"/>
                <a:sym typeface="Calibri"/>
              </a:rPr>
              <a:t>Share your work — free</a:t>
            </a:r>
            <a:endParaRPr sz="1400" b="0" i="0" u="none" strike="noStrike" cap="none">
              <a:solidFill>
                <a:srgbClr val="000000"/>
              </a:solidFill>
              <a:latin typeface="Arial"/>
              <a:ea typeface="Arial"/>
              <a:cs typeface="Arial"/>
              <a:sym typeface="Arial"/>
            </a:endParaRPr>
          </a:p>
        </p:txBody>
      </p:sp>
      <p:sp>
        <p:nvSpPr>
          <p:cNvPr id="417" name="Google Shape;417;p39"/>
          <p:cNvSpPr txBox="1"/>
          <p:nvPr/>
        </p:nvSpPr>
        <p:spPr>
          <a:xfrm>
            <a:off x="731520" y="2926079"/>
            <a:ext cx="100584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6B7280"/>
                </a:solidFill>
                <a:latin typeface="Calibri"/>
                <a:ea typeface="Calibri"/>
                <a:cs typeface="Calibri"/>
                <a:sym typeface="Calibri"/>
              </a:rPr>
              <a:t>Read-only dashboard access is free. Your stakeholders</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don't need to learn the tool — they just see the results.</a:t>
            </a:r>
            <a:endParaRPr sz="1400" b="0" i="0" u="none" strike="noStrike" cap="none">
              <a:solidFill>
                <a:srgbClr val="000000"/>
              </a:solidFill>
              <a:latin typeface="Arial"/>
              <a:ea typeface="Arial"/>
              <a:cs typeface="Arial"/>
              <a:sym typeface="Arial"/>
            </a:endParaRPr>
          </a:p>
        </p:txBody>
      </p:sp>
      <p:sp>
        <p:nvSpPr>
          <p:cNvPr id="418" name="Google Shape;418;p39"/>
          <p:cNvSpPr txBox="1"/>
          <p:nvPr/>
        </p:nvSpPr>
        <p:spPr>
          <a:xfrm>
            <a:off x="731520" y="3931920"/>
            <a:ext cx="36576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7BA1"/>
                </a:solidFill>
                <a:latin typeface="Calibri"/>
                <a:ea typeface="Calibri"/>
                <a:cs typeface="Calibri"/>
                <a:sym typeface="Calibri"/>
              </a:rPr>
              <a:t>Scale with your team</a:t>
            </a:r>
            <a:endParaRPr sz="1400" b="0" i="0" u="none" strike="noStrike" cap="none">
              <a:solidFill>
                <a:srgbClr val="000000"/>
              </a:solidFill>
              <a:latin typeface="Arial"/>
              <a:ea typeface="Arial"/>
              <a:cs typeface="Arial"/>
              <a:sym typeface="Arial"/>
            </a:endParaRPr>
          </a:p>
        </p:txBody>
      </p:sp>
      <p:sp>
        <p:nvSpPr>
          <p:cNvPr id="419" name="Google Shape;419;p39"/>
          <p:cNvSpPr txBox="1"/>
          <p:nvPr/>
        </p:nvSpPr>
        <p:spPr>
          <a:xfrm>
            <a:off x="731520" y="4297680"/>
            <a:ext cx="10058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6B7280"/>
                </a:solidFill>
                <a:latin typeface="Calibri"/>
                <a:ea typeface="Calibri"/>
                <a:cs typeface="Calibri"/>
                <a:sym typeface="Calibri"/>
              </a:rPr>
              <a:t>Add data sources. Build workspaces for different teams.</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Clone a data model without starting over.</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Everyone gets the right access.</a:t>
            </a:r>
            <a:endParaRPr sz="1400" b="0" i="0" u="none" strike="noStrike" cap="none">
              <a:solidFill>
                <a:srgbClr val="000000"/>
              </a:solidFill>
              <a:latin typeface="Arial"/>
              <a:ea typeface="Arial"/>
              <a:cs typeface="Arial"/>
              <a:sym typeface="Arial"/>
            </a:endParaRPr>
          </a:p>
        </p:txBody>
      </p:sp>
      <p:sp>
        <p:nvSpPr>
          <p:cNvPr id="420" name="Google Shape;420;p39"/>
          <p:cNvSpPr txBox="1"/>
          <p:nvPr/>
        </p:nvSpPr>
        <p:spPr>
          <a:xfrm>
            <a:off x="731520" y="5303520"/>
            <a:ext cx="36576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7BA1"/>
                </a:solidFill>
                <a:latin typeface="Calibri"/>
                <a:ea typeface="Calibri"/>
                <a:cs typeface="Calibri"/>
                <a:sym typeface="Calibri"/>
              </a:rPr>
              <a:t>Non-technical people get real answers</a:t>
            </a:r>
            <a:endParaRPr sz="1400" b="0" i="0" u="none" strike="noStrike" cap="none">
              <a:solidFill>
                <a:srgbClr val="000000"/>
              </a:solidFill>
              <a:latin typeface="Arial"/>
              <a:ea typeface="Arial"/>
              <a:cs typeface="Arial"/>
              <a:sym typeface="Arial"/>
            </a:endParaRPr>
          </a:p>
        </p:txBody>
      </p:sp>
      <p:sp>
        <p:nvSpPr>
          <p:cNvPr id="421" name="Google Shape;421;p39"/>
          <p:cNvSpPr txBox="1"/>
          <p:nvPr/>
        </p:nvSpPr>
        <p:spPr>
          <a:xfrm>
            <a:off x="731520" y="5669280"/>
            <a:ext cx="10058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6B7280"/>
                </a:solidFill>
                <a:latin typeface="Calibri"/>
                <a:ea typeface="Calibri"/>
                <a:cs typeface="Calibri"/>
                <a:sym typeface="Calibri"/>
              </a:rPr>
              <a:t>Dashbud's semantic model means the AI understands your</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business context. Anyone can ask questions in plain English</a:t>
            </a:r>
            <a:br>
              <a:rPr lang="en-US" sz="1600" b="0" i="0" u="none" strike="noStrike" cap="none">
                <a:solidFill>
                  <a:srgbClr val="6B7280"/>
                </a:solidFill>
                <a:latin typeface="Calibri"/>
                <a:ea typeface="Calibri"/>
                <a:cs typeface="Calibri"/>
                <a:sym typeface="Calibri"/>
              </a:rPr>
            </a:br>
            <a:r>
              <a:rPr lang="en-US" sz="1600" b="0" i="0" u="none" strike="noStrike" cap="none">
                <a:solidFill>
                  <a:srgbClr val="6B7280"/>
                </a:solidFill>
                <a:latin typeface="Calibri"/>
                <a:ea typeface="Calibri"/>
                <a:cs typeface="Calibri"/>
                <a:sym typeface="Calibri"/>
              </a:rPr>
              <a:t>and get accurate, trustworthy answers.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0"/>
          <p:cNvSpPr txBox="1"/>
          <p:nvPr/>
        </p:nvSpPr>
        <p:spPr>
          <a:xfrm>
            <a:off x="731520" y="274320"/>
            <a:ext cx="100584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111827"/>
                </a:solidFill>
                <a:latin typeface="Calibri"/>
                <a:ea typeface="Calibri"/>
                <a:cs typeface="Calibri"/>
                <a:sym typeface="Calibri"/>
              </a:rPr>
              <a:t>What you're NOT giving up</a:t>
            </a:r>
            <a:endParaRPr sz="1400" b="0" i="0" u="none" strike="noStrike" cap="none">
              <a:solidFill>
                <a:srgbClr val="000000"/>
              </a:solidFill>
              <a:latin typeface="Arial"/>
              <a:ea typeface="Arial"/>
              <a:cs typeface="Arial"/>
              <a:sym typeface="Arial"/>
            </a:endParaRPr>
          </a:p>
        </p:txBody>
      </p:sp>
      <p:sp>
        <p:nvSpPr>
          <p:cNvPr id="427" name="Google Shape;427;p40"/>
          <p:cNvSpPr txBox="1"/>
          <p:nvPr/>
        </p:nvSpPr>
        <p:spPr>
          <a:xfrm>
            <a:off x="731520" y="1371600"/>
            <a:ext cx="9144000" cy="4572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111827"/>
                </a:solidFill>
                <a:latin typeface="Calibri"/>
                <a:ea typeface="Calibri"/>
                <a:cs typeface="Calibri"/>
                <a:sym typeface="Calibri"/>
              </a:rPr>
              <a:t>❌  You're NOT replacing your ERP, CRM, or any existing system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2200"/>
              <a:buFont typeface="Arial"/>
              <a:buNone/>
            </a:pPr>
            <a:r>
              <a:rPr lang="en-US" sz="2200" b="0" i="0" u="none" strike="noStrike" cap="none">
                <a:solidFill>
                  <a:srgbClr val="111827"/>
                </a:solidFill>
                <a:latin typeface="Calibri"/>
                <a:ea typeface="Calibri"/>
                <a:cs typeface="Calibri"/>
                <a:sym typeface="Calibri"/>
              </a:rPr>
              <a:t>❌  You're NOT learning SQL or a new query language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2200"/>
              <a:buFont typeface="Arial"/>
              <a:buNone/>
            </a:pPr>
            <a:r>
              <a:rPr lang="en-US" sz="2200" b="0" i="0" u="none" strike="noStrike" cap="none">
                <a:solidFill>
                  <a:srgbClr val="111827"/>
                </a:solidFill>
                <a:latin typeface="Calibri"/>
                <a:ea typeface="Calibri"/>
                <a:cs typeface="Calibri"/>
                <a:sym typeface="Calibri"/>
              </a:rPr>
              <a:t>❌  You're NOT hiring a data team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2200"/>
              <a:buFont typeface="Arial"/>
              <a:buNone/>
            </a:pPr>
            <a:r>
              <a:rPr lang="en-US" sz="2200" b="0" i="0" u="none" strike="noStrike" cap="none">
                <a:solidFill>
                  <a:srgbClr val="111827"/>
                </a:solidFill>
                <a:latin typeface="Calibri"/>
                <a:ea typeface="Calibri"/>
                <a:cs typeface="Calibri"/>
                <a:sym typeface="Calibri"/>
              </a:rPr>
              <a:t>❌  You're NOT building a data warehouse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2200"/>
              <a:buFont typeface="Arial"/>
              <a:buNone/>
            </a:pPr>
            <a:r>
              <a:rPr lang="en-US" sz="2200" b="0" i="0" u="none" strike="noStrike" cap="none">
                <a:solidFill>
                  <a:srgbClr val="111827"/>
                </a:solidFill>
                <a:latin typeface="Calibri"/>
                <a:ea typeface="Calibri"/>
                <a:cs typeface="Calibri"/>
                <a:sym typeface="Calibri"/>
              </a:rPr>
              <a:t>❌  You're NOT committing to a six-month implementation</a:t>
            </a:r>
            <a:endParaRPr sz="1400" b="0" i="0" u="none" strike="noStrike" cap="none">
              <a:solidFill>
                <a:srgbClr val="000000"/>
              </a:solidFill>
              <a:latin typeface="Arial"/>
              <a:ea typeface="Arial"/>
              <a:cs typeface="Arial"/>
              <a:sym typeface="Arial"/>
            </a:endParaRPr>
          </a:p>
        </p:txBody>
      </p:sp>
      <p:sp>
        <p:nvSpPr>
          <p:cNvPr id="428" name="Google Shape;428;p40"/>
          <p:cNvSpPr txBox="1"/>
          <p:nvPr/>
        </p:nvSpPr>
        <p:spPr>
          <a:xfrm>
            <a:off x="731520" y="5029200"/>
            <a:ext cx="9144000" cy="7315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7BA1"/>
                </a:solidFill>
                <a:latin typeface="Calibri"/>
                <a:ea typeface="Calibri"/>
                <a:cs typeface="Calibri"/>
                <a:sym typeface="Calibri"/>
              </a:rPr>
              <a:t>Most teams are up and running in days.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1838</Words>
  <Application>Microsoft Macintosh PowerPoint</Application>
  <PresentationFormat>Widescreen</PresentationFormat>
  <Paragraphs>232</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Inter</vt:lpstr>
      <vt:lpstr>Inter ExtraBold</vt:lpstr>
      <vt:lpstr>Inter Medium</vt:lpstr>
      <vt:lpstr>Calibri</vt:lpstr>
      <vt:lpstr>Arial</vt:lpstr>
      <vt:lpstr>Material Icons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Arthur Dobelis</cp:lastModifiedBy>
  <cp:revision>1</cp:revision>
  <dcterms:modified xsi:type="dcterms:W3CDTF">2026-07-22T19:53:20Z</dcterms:modified>
</cp:coreProperties>
</file>