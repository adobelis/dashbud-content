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81" r:id="rId10"/>
    <p:sldId id="264" r:id="rId11"/>
    <p:sldId id="265" r:id="rId12"/>
    <p:sldId id="280"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66" r:id="rId26"/>
    <p:sldId id="267" r:id="rId27"/>
  </p:sldIdLst>
  <p:sldSz cx="12192000" cy="6858000"/>
  <p:notesSz cx="6858000" cy="9144000"/>
  <p:embeddedFontLst>
    <p:embeddedFont>
      <p:font typeface="Calibri" panose="020F0502020204030204" pitchFamily="34" charset="0"/>
      <p:regular r:id="rId29"/>
      <p:bold r:id="rId30"/>
      <p:italic r:id="rId31"/>
      <p:boldItalic r:id="rId32"/>
    </p:embeddedFont>
    <p:embeddedFont>
      <p:font typeface="Inter" panose="02000503000000020004"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hYfEgCxi4/RqBYHfMcrmCPXzdxx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A8B08B0-5F80-4E81-BA9E-63111AAD865A}">
  <a:tblStyle styleId="{7A8B08B0-5F80-4E81-BA9E-63111AAD865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2"/>
    <p:restoredTop sz="94694"/>
  </p:normalViewPr>
  <p:slideViewPr>
    <p:cSldViewPr snapToGrid="0">
      <p:cViewPr varScale="1">
        <p:scale>
          <a:sx n="93" d="100"/>
          <a:sy n="93" d="100"/>
        </p:scale>
        <p:origin x="216" y="8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8b88611d91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g38b88611d91_0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8b88611d91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g38b88611d91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0072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8b88611d91_0_6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g38b88611d91_0_6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3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2"/>
          <p:cNvSpPr>
            <a:spLocks noGrp="1"/>
          </p:cNvSpPr>
          <p:nvPr>
            <p:ph type="pic" idx="2"/>
          </p:nvPr>
        </p:nvSpPr>
        <p:spPr>
          <a:xfrm>
            <a:off x="1792288" y="612775"/>
            <a:ext cx="5486400" cy="4114800"/>
          </a:xfrm>
          <a:prstGeom prst="rect">
            <a:avLst/>
          </a:prstGeom>
          <a:noFill/>
          <a:ln>
            <a:noFill/>
          </a:ln>
        </p:spPr>
      </p:sp>
      <p:sp>
        <p:nvSpPr>
          <p:cNvPr id="64" name="Google Shape;64;p3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546E"/>
        </a:solidFill>
        <a:effectLst/>
      </p:bgPr>
    </p:bg>
    <p:spTree>
      <p:nvGrpSpPr>
        <p:cNvPr id="1" name="Shape 83"/>
        <p:cNvGrpSpPr/>
        <p:nvPr/>
      </p:nvGrpSpPr>
      <p:grpSpPr>
        <a:xfrm>
          <a:off x="0" y="0"/>
          <a:ext cx="0" cy="0"/>
          <a:chOff x="0" y="0"/>
          <a:chExt cx="0" cy="0"/>
        </a:xfrm>
      </p:grpSpPr>
      <p:sp>
        <p:nvSpPr>
          <p:cNvPr id="84" name="Google Shape;84;p1"/>
          <p:cNvSpPr txBox="1"/>
          <p:nvPr/>
        </p:nvSpPr>
        <p:spPr>
          <a:xfrm>
            <a:off x="1371600" y="1828800"/>
            <a:ext cx="9144000" cy="1371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i="0" u="none" strike="noStrike" cap="none">
                <a:solidFill>
                  <a:srgbClr val="FFFFFF"/>
                </a:solidFill>
                <a:latin typeface="Calibri"/>
                <a:ea typeface="Calibri"/>
                <a:cs typeface="Calibri"/>
                <a:sym typeface="Calibri"/>
              </a:rPr>
              <a:t>Dashbud</a:t>
            </a:r>
            <a:endParaRPr/>
          </a:p>
        </p:txBody>
      </p:sp>
      <p:sp>
        <p:nvSpPr>
          <p:cNvPr id="85" name="Google Shape;85;p1"/>
          <p:cNvSpPr txBox="1"/>
          <p:nvPr/>
        </p:nvSpPr>
        <p:spPr>
          <a:xfrm>
            <a:off x="1371600" y="3200400"/>
            <a:ext cx="9144000"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i="0" u="none" strike="noStrike" cap="none">
                <a:solidFill>
                  <a:srgbClr val="E0F4F9"/>
                </a:solidFill>
                <a:latin typeface="Calibri"/>
                <a:ea typeface="Calibri"/>
                <a:cs typeface="Calibri"/>
                <a:sym typeface="Calibri"/>
              </a:rPr>
              <a:t>AI-powered analytics for all your data</a:t>
            </a:r>
            <a:endParaRPr/>
          </a:p>
        </p:txBody>
      </p:sp>
      <p:sp>
        <p:nvSpPr>
          <p:cNvPr id="86" name="Google Shape;86;p1"/>
          <p:cNvSpPr txBox="1"/>
          <p:nvPr/>
        </p:nvSpPr>
        <p:spPr>
          <a:xfrm>
            <a:off x="1371600" y="5029200"/>
            <a:ext cx="91440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80BBCE"/>
                </a:solidFill>
                <a:latin typeface="Calibri"/>
                <a:ea typeface="Calibri"/>
                <a:cs typeface="Calibri"/>
                <a:sym typeface="Calibri"/>
              </a:rPr>
              <a:t>getdashbud.com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7BA1"/>
        </a:solidFill>
        <a:effectLst/>
      </p:bgPr>
    </p:bg>
    <p:spTree>
      <p:nvGrpSpPr>
        <p:cNvPr id="1" name="Shape 90"/>
        <p:cNvGrpSpPr/>
        <p:nvPr/>
      </p:nvGrpSpPr>
      <p:grpSpPr>
        <a:xfrm>
          <a:off x="0" y="0"/>
          <a:ext cx="0" cy="0"/>
          <a:chOff x="0" y="0"/>
          <a:chExt cx="0" cy="0"/>
        </a:xfrm>
      </p:grpSpPr>
      <p:sp>
        <p:nvSpPr>
          <p:cNvPr id="91" name="Google Shape;91;p2"/>
          <p:cNvSpPr txBox="1"/>
          <p:nvPr/>
        </p:nvSpPr>
        <p:spPr>
          <a:xfrm>
            <a:off x="1371600" y="2286000"/>
            <a:ext cx="9144000" cy="1371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i="0" u="none" strike="noStrike" cap="none">
                <a:solidFill>
                  <a:srgbClr val="FFFFFF"/>
                </a:solidFill>
                <a:latin typeface="Calibri"/>
                <a:ea typeface="Calibri"/>
                <a:cs typeface="Calibri"/>
                <a:sym typeface="Calibri"/>
              </a:rPr>
              <a:t>Let's start with you</a:t>
            </a:r>
            <a:endParaRPr/>
          </a:p>
        </p:txBody>
      </p:sp>
      <p:sp>
        <p:nvSpPr>
          <p:cNvPr id="92" name="Google Shape;92;p2"/>
          <p:cNvSpPr txBox="1"/>
          <p:nvPr/>
        </p:nvSpPr>
        <p:spPr>
          <a:xfrm>
            <a:off x="1371600" y="3840480"/>
            <a:ext cx="9144000"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0" i="0" u="none" strike="noStrike" cap="none">
                <a:solidFill>
                  <a:srgbClr val="E0F4F9"/>
                </a:solidFill>
                <a:latin typeface="Calibri"/>
                <a:ea typeface="Calibri"/>
                <a:cs typeface="Calibri"/>
                <a:sym typeface="Calibri"/>
              </a:rPr>
              <a:t>How do you work with data today?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txBox="1"/>
          <p:nvPr/>
        </p:nvSpPr>
        <p:spPr>
          <a:xfrm>
            <a:off x="731520" y="457200"/>
            <a:ext cx="10058400"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11827"/>
                </a:solidFill>
                <a:latin typeface="Calibri"/>
                <a:ea typeface="Calibri"/>
                <a:cs typeface="Calibri"/>
                <a:sym typeface="Calibri"/>
              </a:rPr>
              <a:t>What data tools do you use?</a:t>
            </a:r>
            <a:endParaRPr/>
          </a:p>
        </p:txBody>
      </p:sp>
      <p:sp>
        <p:nvSpPr>
          <p:cNvPr id="98" name="Google Shape;98;p3"/>
          <p:cNvSpPr txBox="1"/>
          <p:nvPr/>
        </p:nvSpPr>
        <p:spPr>
          <a:xfrm>
            <a:off x="731524" y="1371600"/>
            <a:ext cx="9828600" cy="234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rgbClr val="111827"/>
                </a:solidFill>
                <a:latin typeface="Calibri"/>
                <a:ea typeface="Calibri"/>
                <a:cs typeface="Calibri"/>
                <a:sym typeface="Calibri"/>
              </a:rPr>
              <a:t>📊  Spreadsheets — Excel, Google Sheets</a:t>
            </a:r>
            <a:endParaRPr/>
          </a:p>
          <a:p>
            <a:pPr marL="0" marR="0" lvl="0" indent="0" algn="l" rtl="0">
              <a:spcBef>
                <a:spcPts val="1400"/>
              </a:spcBef>
              <a:spcAft>
                <a:spcPts val="0"/>
              </a:spcAft>
              <a:buNone/>
            </a:pPr>
            <a:r>
              <a:rPr lang="en-US" sz="2000" b="0" i="0" u="none" strike="noStrike" cap="none">
                <a:solidFill>
                  <a:srgbClr val="111827"/>
                </a:solidFill>
                <a:latin typeface="Calibri"/>
                <a:ea typeface="Calibri"/>
                <a:cs typeface="Calibri"/>
                <a:sym typeface="Calibri"/>
              </a:rPr>
              <a:t>📈  Application dashboards — QuickBooks, Google Analytics, Meta Ads, Shopify</a:t>
            </a:r>
            <a:endParaRPr/>
          </a:p>
          <a:p>
            <a:pPr marL="0" marR="0" lvl="0" indent="0" algn="l" rtl="0">
              <a:spcBef>
                <a:spcPts val="1400"/>
              </a:spcBef>
              <a:spcAft>
                <a:spcPts val="0"/>
              </a:spcAft>
              <a:buNone/>
            </a:pPr>
            <a:r>
              <a:rPr lang="en-US" sz="2000" b="0" i="0" u="none" strike="noStrike" cap="none">
                <a:solidFill>
                  <a:srgbClr val="111827"/>
                </a:solidFill>
                <a:latin typeface="Calibri"/>
                <a:ea typeface="Calibri"/>
                <a:cs typeface="Calibri"/>
                <a:sym typeface="Calibri"/>
              </a:rPr>
              <a:t>🔬  BI / analysis platforms — Tableau, Power BI, Looker</a:t>
            </a:r>
            <a:endParaRPr/>
          </a:p>
          <a:p>
            <a:pPr marL="0" marR="0" lvl="0" indent="0" algn="l" rtl="0">
              <a:spcBef>
                <a:spcPts val="1400"/>
              </a:spcBef>
              <a:spcAft>
                <a:spcPts val="0"/>
              </a:spcAft>
              <a:buNone/>
            </a:pPr>
            <a:r>
              <a:rPr lang="en-US" sz="2000" b="0" i="0" u="none" strike="noStrike" cap="none">
                <a:solidFill>
                  <a:srgbClr val="111827"/>
                </a:solidFill>
                <a:latin typeface="Calibri"/>
                <a:ea typeface="Calibri"/>
                <a:cs typeface="Calibri"/>
                <a:sym typeface="Calibri"/>
              </a:rPr>
              <a:t>🤖  AI-based workflows — Claude, ChatGPT, Gemini</a:t>
            </a:r>
            <a:endParaRPr/>
          </a:p>
          <a:p>
            <a:pPr marL="0" marR="0" lvl="0" indent="0" algn="l" rtl="0">
              <a:spcBef>
                <a:spcPts val="1400"/>
              </a:spcBef>
              <a:spcAft>
                <a:spcPts val="0"/>
              </a:spcAft>
              <a:buNone/>
            </a:pPr>
            <a:r>
              <a:rPr lang="en-US" sz="2000" b="0" i="0" u="none" strike="noStrike" cap="none">
                <a:solidFill>
                  <a:srgbClr val="111827"/>
                </a:solidFill>
                <a:latin typeface="Calibri"/>
                <a:ea typeface="Calibri"/>
                <a:cs typeface="Calibri"/>
                <a:sym typeface="Calibri"/>
              </a:rPr>
              <a:t>💻  Code — Python, Jupyter Notebooks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
        <p:cNvGrpSpPr/>
        <p:nvPr/>
      </p:nvGrpSpPr>
      <p:grpSpPr>
        <a:xfrm>
          <a:off x="0" y="0"/>
          <a:ext cx="0" cy="0"/>
          <a:chOff x="0" y="0"/>
          <a:chExt cx="0" cy="0"/>
        </a:xfrm>
      </p:grpSpPr>
      <p:grpSp>
        <p:nvGrpSpPr>
          <p:cNvPr id="103" name="Google Shape;103;p4"/>
          <p:cNvGrpSpPr/>
          <p:nvPr/>
        </p:nvGrpSpPr>
        <p:grpSpPr>
          <a:xfrm>
            <a:off x="762000" y="952500"/>
            <a:ext cx="4953000" cy="4953000"/>
            <a:chOff x="0" y="0"/>
            <a:chExt cx="4953000" cy="4953000"/>
          </a:xfrm>
        </p:grpSpPr>
        <p:sp>
          <p:nvSpPr>
            <p:cNvPr id="104" name="Google Shape;104;p4"/>
            <p:cNvSpPr/>
            <p:nvPr/>
          </p:nvSpPr>
          <p:spPr>
            <a:xfrm>
              <a:off x="0" y="0"/>
              <a:ext cx="4953000" cy="4953000"/>
            </a:xfrm>
            <a:prstGeom prst="roundRect">
              <a:avLst>
                <a:gd name="adj" fmla="val 3076"/>
              </a:avLst>
            </a:prstGeom>
            <a:solidFill>
              <a:srgbClr val="FFFFFF"/>
            </a:solidFill>
            <a:ln w="1905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5" name="Google Shape;105;p4"/>
            <p:cNvSpPr txBox="1"/>
            <p:nvPr/>
          </p:nvSpPr>
          <p:spPr>
            <a:xfrm>
              <a:off x="0" y="0"/>
              <a:ext cx="4953000" cy="4953000"/>
            </a:xfrm>
            <a:prstGeom prst="rect">
              <a:avLst/>
            </a:prstGeom>
            <a:noFill/>
            <a:ln>
              <a:noFill/>
            </a:ln>
          </p:spPr>
          <p:txBody>
            <a:bodyPr spcFirstLastPara="1" wrap="square" lIns="381000" tIns="381000" rIns="381000" bIns="381000" anchor="t" anchorCtr="0">
              <a:noAutofit/>
            </a:bodyPr>
            <a:lstStyle/>
            <a:p>
              <a:pPr marL="0" lvl="0" indent="0" algn="l" rtl="0">
                <a:spcBef>
                  <a:spcPts val="0"/>
                </a:spcBef>
                <a:spcAft>
                  <a:spcPts val="0"/>
                </a:spcAft>
                <a:buNone/>
              </a:pPr>
              <a:r>
                <a:rPr lang="en-US" sz="2400" b="1">
                  <a:solidFill>
                    <a:srgbClr val="111827"/>
                  </a:solidFill>
                  <a:latin typeface="Inter"/>
                  <a:ea typeface="Inter"/>
                  <a:cs typeface="Inter"/>
                  <a:sym typeface="Inter"/>
                </a:rPr>
                <a:t>What do you track?</a:t>
              </a:r>
              <a:endParaRPr>
                <a:latin typeface="Inter"/>
                <a:ea typeface="Inter"/>
                <a:cs typeface="Inter"/>
                <a:sym typeface="Inter"/>
              </a:endParaRPr>
            </a:p>
            <a:p>
              <a:pPr marL="457200" lvl="0" indent="-342900" algn="l" rtl="0">
                <a:lnSpc>
                  <a:spcPct val="150000"/>
                </a:lnSpc>
                <a:spcBef>
                  <a:spcPts val="2250"/>
                </a:spcBef>
                <a:spcAft>
                  <a:spcPts val="0"/>
                </a:spcAft>
                <a:buClr>
                  <a:srgbClr val="334155"/>
                </a:buClr>
                <a:buSzPts val="1800"/>
                <a:buFont typeface="Inter"/>
                <a:buChar char="●"/>
              </a:pPr>
              <a:r>
                <a:rPr lang="en-US" sz="1800">
                  <a:solidFill>
                    <a:srgbClr val="334155"/>
                  </a:solidFill>
                  <a:latin typeface="Inter"/>
                  <a:ea typeface="Inter"/>
                  <a:cs typeface="Inter"/>
                  <a:sym typeface="Inter"/>
                </a:rPr>
                <a:t>Sales, revenue, pipeline</a:t>
              </a:r>
              <a:endParaRPr sz="1800">
                <a:solidFill>
                  <a:srgbClr val="334155"/>
                </a:solidFill>
                <a:latin typeface="Inter"/>
                <a:ea typeface="Inter"/>
                <a:cs typeface="Inter"/>
                <a:sym typeface="Inter"/>
              </a:endParaRPr>
            </a:p>
            <a:p>
              <a:pPr marL="457200" lvl="0" indent="-342900" algn="l" rtl="0">
                <a:lnSpc>
                  <a:spcPct val="150000"/>
                </a:lnSpc>
                <a:spcBef>
                  <a:spcPts val="0"/>
                </a:spcBef>
                <a:spcAft>
                  <a:spcPts val="0"/>
                </a:spcAft>
                <a:buClr>
                  <a:srgbClr val="334155"/>
                </a:buClr>
                <a:buSzPts val="1800"/>
                <a:buFont typeface="Inter"/>
                <a:buChar char="●"/>
              </a:pPr>
              <a:r>
                <a:rPr lang="en-US" sz="1800">
                  <a:solidFill>
                    <a:srgbClr val="334155"/>
                  </a:solidFill>
                  <a:latin typeface="Inter"/>
                  <a:ea typeface="Inter"/>
                  <a:cs typeface="Inter"/>
                  <a:sym typeface="Inter"/>
                </a:rPr>
                <a:t>Expenses, budgets, profitability</a:t>
              </a:r>
              <a:endParaRPr sz="1800">
                <a:solidFill>
                  <a:srgbClr val="334155"/>
                </a:solidFill>
                <a:latin typeface="Inter"/>
                <a:ea typeface="Inter"/>
                <a:cs typeface="Inter"/>
                <a:sym typeface="Inter"/>
              </a:endParaRPr>
            </a:p>
            <a:p>
              <a:pPr marL="457200" lvl="0" indent="-342900" algn="l" rtl="0">
                <a:lnSpc>
                  <a:spcPct val="150000"/>
                </a:lnSpc>
                <a:spcBef>
                  <a:spcPts val="0"/>
                </a:spcBef>
                <a:spcAft>
                  <a:spcPts val="0"/>
                </a:spcAft>
                <a:buClr>
                  <a:srgbClr val="334155"/>
                </a:buClr>
                <a:buSzPts val="1800"/>
                <a:buFont typeface="Inter"/>
                <a:buChar char="●"/>
              </a:pPr>
              <a:r>
                <a:rPr lang="en-US" sz="1800">
                  <a:solidFill>
                    <a:srgbClr val="334155"/>
                  </a:solidFill>
                  <a:latin typeface="Inter"/>
                  <a:ea typeface="Inter"/>
                  <a:cs typeface="Inter"/>
                  <a:sym typeface="Inter"/>
                </a:rPr>
                <a:t>Marketing performance</a:t>
              </a:r>
              <a:endParaRPr sz="1800">
                <a:solidFill>
                  <a:srgbClr val="334155"/>
                </a:solidFill>
                <a:latin typeface="Inter"/>
                <a:ea typeface="Inter"/>
                <a:cs typeface="Inter"/>
                <a:sym typeface="Inter"/>
              </a:endParaRPr>
            </a:p>
            <a:p>
              <a:pPr marL="457200" lvl="0" indent="-342900" algn="l" rtl="0">
                <a:lnSpc>
                  <a:spcPct val="150000"/>
                </a:lnSpc>
                <a:spcBef>
                  <a:spcPts val="0"/>
                </a:spcBef>
                <a:spcAft>
                  <a:spcPts val="0"/>
                </a:spcAft>
                <a:buClr>
                  <a:srgbClr val="334155"/>
                </a:buClr>
                <a:buSzPts val="1800"/>
                <a:buFont typeface="Inter"/>
                <a:buChar char="●"/>
              </a:pPr>
              <a:r>
                <a:rPr lang="en-US" sz="1800">
                  <a:solidFill>
                    <a:srgbClr val="334155"/>
                  </a:solidFill>
                  <a:latin typeface="Inter"/>
                  <a:ea typeface="Inter"/>
                  <a:cs typeface="Inter"/>
                  <a:sym typeface="Inter"/>
                </a:rPr>
                <a:t>Operations, inventory, fulfillment</a:t>
              </a:r>
              <a:endParaRPr sz="1800">
                <a:solidFill>
                  <a:srgbClr val="334155"/>
                </a:solidFill>
                <a:latin typeface="Inter"/>
                <a:ea typeface="Inter"/>
                <a:cs typeface="Inter"/>
                <a:sym typeface="Inter"/>
              </a:endParaRPr>
            </a:p>
            <a:p>
              <a:pPr marL="457200" lvl="0" indent="-342900" algn="l" rtl="0">
                <a:lnSpc>
                  <a:spcPct val="150000"/>
                </a:lnSpc>
                <a:spcBef>
                  <a:spcPts val="0"/>
                </a:spcBef>
                <a:spcAft>
                  <a:spcPts val="0"/>
                </a:spcAft>
                <a:buClr>
                  <a:srgbClr val="334155"/>
                </a:buClr>
                <a:buSzPts val="1800"/>
                <a:buFont typeface="Inter"/>
                <a:buChar char="●"/>
              </a:pPr>
              <a:r>
                <a:rPr lang="en-US" sz="1800">
                  <a:solidFill>
                    <a:srgbClr val="334155"/>
                  </a:solidFill>
                  <a:latin typeface="Inter"/>
                  <a:ea typeface="Inter"/>
                  <a:cs typeface="Inter"/>
                  <a:sym typeface="Inter"/>
                </a:rPr>
                <a:t>Customer behavior, retention</a:t>
              </a:r>
              <a:endParaRPr sz="1800">
                <a:solidFill>
                  <a:srgbClr val="334155"/>
                </a:solidFill>
                <a:latin typeface="Inter"/>
                <a:ea typeface="Inter"/>
                <a:cs typeface="Inter"/>
                <a:sym typeface="Inter"/>
              </a:endParaRPr>
            </a:p>
            <a:p>
              <a:pPr marL="457200" lvl="0" indent="-342900" algn="l" rtl="0">
                <a:lnSpc>
                  <a:spcPct val="150000"/>
                </a:lnSpc>
                <a:spcBef>
                  <a:spcPts val="0"/>
                </a:spcBef>
                <a:spcAft>
                  <a:spcPts val="0"/>
                </a:spcAft>
                <a:buClr>
                  <a:srgbClr val="334155"/>
                </a:buClr>
                <a:buSzPts val="1800"/>
                <a:buFont typeface="Inter"/>
                <a:buChar char="●"/>
              </a:pPr>
              <a:r>
                <a:rPr lang="en-US" sz="1800">
                  <a:solidFill>
                    <a:srgbClr val="334155"/>
                  </a:solidFill>
                  <a:latin typeface="Inter"/>
                  <a:ea typeface="Inter"/>
                  <a:cs typeface="Inter"/>
                  <a:sym typeface="Inter"/>
                </a:rPr>
                <a:t>Compliance, stakeholder reporting</a:t>
              </a:r>
              <a:endParaRPr sz="1800">
                <a:solidFill>
                  <a:srgbClr val="334155"/>
                </a:solidFill>
                <a:latin typeface="Inter"/>
                <a:ea typeface="Inter"/>
                <a:cs typeface="Inter"/>
                <a:sym typeface="Inter"/>
              </a:endParaRPr>
            </a:p>
          </p:txBody>
        </p:sp>
      </p:grpSp>
      <p:grpSp>
        <p:nvGrpSpPr>
          <p:cNvPr id="106" name="Google Shape;106;p4"/>
          <p:cNvGrpSpPr/>
          <p:nvPr/>
        </p:nvGrpSpPr>
        <p:grpSpPr>
          <a:xfrm>
            <a:off x="6477000" y="952500"/>
            <a:ext cx="4953000" cy="4953000"/>
            <a:chOff x="0" y="0"/>
            <a:chExt cx="4953000" cy="4953000"/>
          </a:xfrm>
        </p:grpSpPr>
        <p:sp>
          <p:nvSpPr>
            <p:cNvPr id="107" name="Google Shape;107;p4"/>
            <p:cNvSpPr/>
            <p:nvPr/>
          </p:nvSpPr>
          <p:spPr>
            <a:xfrm>
              <a:off x="0" y="0"/>
              <a:ext cx="4953000" cy="4953000"/>
            </a:xfrm>
            <a:prstGeom prst="roundRect">
              <a:avLst>
                <a:gd name="adj" fmla="val 3076"/>
              </a:avLst>
            </a:prstGeom>
            <a:solidFill>
              <a:srgbClr val="FFFFFF"/>
            </a:solidFill>
            <a:ln w="1905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8" name="Google Shape;108;p4"/>
            <p:cNvSpPr txBox="1"/>
            <p:nvPr/>
          </p:nvSpPr>
          <p:spPr>
            <a:xfrm>
              <a:off x="0" y="0"/>
              <a:ext cx="4953000" cy="4953000"/>
            </a:xfrm>
            <a:prstGeom prst="rect">
              <a:avLst/>
            </a:prstGeom>
            <a:noFill/>
            <a:ln>
              <a:noFill/>
            </a:ln>
          </p:spPr>
          <p:txBody>
            <a:bodyPr spcFirstLastPara="1" wrap="square" lIns="381000" tIns="381000" rIns="381000" bIns="381000" anchor="t" anchorCtr="0">
              <a:noAutofit/>
            </a:bodyPr>
            <a:lstStyle/>
            <a:p>
              <a:pPr marL="0" lvl="0" indent="0" algn="l" rtl="0">
                <a:spcBef>
                  <a:spcPts val="0"/>
                </a:spcBef>
                <a:spcAft>
                  <a:spcPts val="0"/>
                </a:spcAft>
                <a:buNone/>
              </a:pPr>
              <a:r>
                <a:rPr lang="en-US" sz="2400" b="1">
                  <a:solidFill>
                    <a:srgbClr val="111827"/>
                  </a:solidFill>
                  <a:latin typeface="Inter"/>
                  <a:ea typeface="Inter"/>
                  <a:cs typeface="Inter"/>
                  <a:sym typeface="Inter"/>
                </a:rPr>
                <a:t>How often?</a:t>
              </a:r>
              <a:endParaRPr>
                <a:latin typeface="Inter"/>
                <a:ea typeface="Inter"/>
                <a:cs typeface="Inter"/>
                <a:sym typeface="Inter"/>
              </a:endParaRPr>
            </a:p>
            <a:p>
              <a:pPr marL="457200" lvl="0" indent="-342900" algn="l" rtl="0">
                <a:lnSpc>
                  <a:spcPct val="150000"/>
                </a:lnSpc>
                <a:spcBef>
                  <a:spcPts val="2250"/>
                </a:spcBef>
                <a:spcAft>
                  <a:spcPts val="0"/>
                </a:spcAft>
                <a:buClr>
                  <a:srgbClr val="334155"/>
                </a:buClr>
                <a:buSzPts val="1800"/>
                <a:buFont typeface="Inter"/>
                <a:buChar char="●"/>
              </a:pPr>
              <a:r>
                <a:rPr lang="en-US" sz="1800">
                  <a:solidFill>
                    <a:srgbClr val="334155"/>
                  </a:solidFill>
                  <a:latin typeface="Inter"/>
                  <a:ea typeface="Inter"/>
                  <a:cs typeface="Inter"/>
                  <a:sym typeface="Inter"/>
                </a:rPr>
                <a:t>Multiple times per day</a:t>
              </a:r>
              <a:endParaRPr sz="1800">
                <a:solidFill>
                  <a:srgbClr val="334155"/>
                </a:solidFill>
                <a:latin typeface="Inter"/>
                <a:ea typeface="Inter"/>
                <a:cs typeface="Inter"/>
                <a:sym typeface="Inter"/>
              </a:endParaRPr>
            </a:p>
            <a:p>
              <a:pPr marL="457200" lvl="0" indent="-342900" algn="l" rtl="0">
                <a:lnSpc>
                  <a:spcPct val="150000"/>
                </a:lnSpc>
                <a:spcBef>
                  <a:spcPts val="0"/>
                </a:spcBef>
                <a:spcAft>
                  <a:spcPts val="0"/>
                </a:spcAft>
                <a:buClr>
                  <a:srgbClr val="334155"/>
                </a:buClr>
                <a:buSzPts val="1800"/>
                <a:buFont typeface="Inter"/>
                <a:buChar char="●"/>
              </a:pPr>
              <a:r>
                <a:rPr lang="en-US" sz="1800">
                  <a:solidFill>
                    <a:srgbClr val="334155"/>
                  </a:solidFill>
                  <a:latin typeface="Inter"/>
                  <a:ea typeface="Inter"/>
                  <a:cs typeface="Inter"/>
                  <a:sym typeface="Inter"/>
                </a:rPr>
                <a:t>Daily</a:t>
              </a:r>
              <a:endParaRPr sz="1800">
                <a:solidFill>
                  <a:srgbClr val="334155"/>
                </a:solidFill>
                <a:latin typeface="Inter"/>
                <a:ea typeface="Inter"/>
                <a:cs typeface="Inter"/>
                <a:sym typeface="Inter"/>
              </a:endParaRPr>
            </a:p>
            <a:p>
              <a:pPr marL="457200" lvl="0" indent="-342900" algn="l" rtl="0">
                <a:lnSpc>
                  <a:spcPct val="150000"/>
                </a:lnSpc>
                <a:spcBef>
                  <a:spcPts val="0"/>
                </a:spcBef>
                <a:spcAft>
                  <a:spcPts val="0"/>
                </a:spcAft>
                <a:buClr>
                  <a:srgbClr val="334155"/>
                </a:buClr>
                <a:buSzPts val="1800"/>
                <a:buFont typeface="Inter"/>
                <a:buChar char="●"/>
              </a:pPr>
              <a:r>
                <a:rPr lang="en-US" sz="1800">
                  <a:solidFill>
                    <a:srgbClr val="334155"/>
                  </a:solidFill>
                  <a:latin typeface="Inter"/>
                  <a:ea typeface="Inter"/>
                  <a:cs typeface="Inter"/>
                  <a:sym typeface="Inter"/>
                </a:rPr>
                <a:t>Weekly</a:t>
              </a:r>
              <a:endParaRPr sz="1800">
                <a:solidFill>
                  <a:srgbClr val="334155"/>
                </a:solidFill>
                <a:latin typeface="Inter"/>
                <a:ea typeface="Inter"/>
                <a:cs typeface="Inter"/>
                <a:sym typeface="Inter"/>
              </a:endParaRPr>
            </a:p>
            <a:p>
              <a:pPr marL="457200" lvl="0" indent="-342900" algn="l" rtl="0">
                <a:lnSpc>
                  <a:spcPct val="150000"/>
                </a:lnSpc>
                <a:spcBef>
                  <a:spcPts val="0"/>
                </a:spcBef>
                <a:spcAft>
                  <a:spcPts val="0"/>
                </a:spcAft>
                <a:buClr>
                  <a:srgbClr val="334155"/>
                </a:buClr>
                <a:buSzPts val="1800"/>
                <a:buFont typeface="Inter"/>
                <a:buChar char="●"/>
              </a:pPr>
              <a:r>
                <a:rPr lang="en-US" sz="1800">
                  <a:solidFill>
                    <a:srgbClr val="334155"/>
                  </a:solidFill>
                  <a:latin typeface="Inter"/>
                  <a:ea typeface="Inter"/>
                  <a:cs typeface="Inter"/>
                  <a:sym typeface="Inter"/>
                </a:rPr>
                <a:t>Monthly / quarterly</a:t>
              </a:r>
              <a:endParaRPr sz="1800">
                <a:solidFill>
                  <a:srgbClr val="334155"/>
                </a:solidFill>
                <a:latin typeface="Inter"/>
                <a:ea typeface="Inter"/>
                <a:cs typeface="Inter"/>
                <a:sym typeface="Inter"/>
              </a:endParaRPr>
            </a:p>
            <a:p>
              <a:pPr marL="457200" lvl="0" indent="-342900" algn="l" rtl="0">
                <a:lnSpc>
                  <a:spcPct val="150000"/>
                </a:lnSpc>
                <a:spcBef>
                  <a:spcPts val="0"/>
                </a:spcBef>
                <a:spcAft>
                  <a:spcPts val="0"/>
                </a:spcAft>
                <a:buClr>
                  <a:srgbClr val="334155"/>
                </a:buClr>
                <a:buSzPts val="1800"/>
                <a:buFont typeface="Inter"/>
                <a:buChar char="●"/>
              </a:pPr>
              <a:r>
                <a:rPr lang="en-US" sz="1800" i="1">
                  <a:solidFill>
                    <a:srgbClr val="334155"/>
                  </a:solidFill>
                  <a:latin typeface="Inter"/>
                  <a:ea typeface="Inter"/>
                  <a:cs typeface="Inter"/>
                  <a:sym typeface="Inter"/>
                </a:rPr>
                <a:t>Ad hoc </a:t>
              </a:r>
              <a:r>
                <a:rPr lang="en-US" sz="1800">
                  <a:solidFill>
                    <a:srgbClr val="334155"/>
                  </a:solidFill>
                  <a:latin typeface="Inter"/>
                  <a:ea typeface="Inter"/>
                  <a:cs typeface="Inter"/>
                  <a:sym typeface="Inter"/>
                </a:rPr>
                <a:t>– “whenever I need a number"</a:t>
              </a:r>
              <a:endParaRPr sz="1800">
                <a:solidFill>
                  <a:srgbClr val="334155"/>
                </a:solidFill>
                <a:latin typeface="Inter"/>
                <a:ea typeface="Inter"/>
                <a:cs typeface="Inter"/>
                <a:sym typeface="In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7BA1"/>
        </a:solidFill>
        <a:effectLst/>
      </p:bgPr>
    </p:bg>
    <p:spTree>
      <p:nvGrpSpPr>
        <p:cNvPr id="1" name="Shape 112"/>
        <p:cNvGrpSpPr/>
        <p:nvPr/>
      </p:nvGrpSpPr>
      <p:grpSpPr>
        <a:xfrm>
          <a:off x="0" y="0"/>
          <a:ext cx="0" cy="0"/>
          <a:chOff x="0" y="0"/>
          <a:chExt cx="0" cy="0"/>
        </a:xfrm>
      </p:grpSpPr>
      <p:sp>
        <p:nvSpPr>
          <p:cNvPr id="113" name="Google Shape;113;p5"/>
          <p:cNvSpPr txBox="1"/>
          <p:nvPr/>
        </p:nvSpPr>
        <p:spPr>
          <a:xfrm>
            <a:off x="1371600" y="2286000"/>
            <a:ext cx="91440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i="0" u="none" strike="noStrike" cap="none">
                <a:solidFill>
                  <a:srgbClr val="FFFFFF"/>
                </a:solidFill>
                <a:latin typeface="Calibri"/>
                <a:ea typeface="Calibri"/>
                <a:cs typeface="Calibri"/>
                <a:sym typeface="Calibri"/>
              </a:rPr>
              <a:t>The problem</a:t>
            </a:r>
            <a:endParaRPr/>
          </a:p>
        </p:txBody>
      </p:sp>
      <p:sp>
        <p:nvSpPr>
          <p:cNvPr id="114" name="Google Shape;114;p5"/>
          <p:cNvSpPr txBox="1"/>
          <p:nvPr/>
        </p:nvSpPr>
        <p:spPr>
          <a:xfrm>
            <a:off x="1371600" y="3840480"/>
            <a:ext cx="9144000"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0" i="0" u="none" strike="noStrike" cap="none">
                <a:solidFill>
                  <a:srgbClr val="E0F4F9"/>
                </a:solidFill>
                <a:latin typeface="Calibri"/>
                <a:ea typeface="Calibri"/>
                <a:cs typeface="Calibri"/>
                <a:sym typeface="Calibri"/>
              </a:rPr>
              <a:t>Data is valuable. Getting answers from it is painful.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6"/>
          <p:cNvSpPr txBox="1"/>
          <p:nvPr/>
        </p:nvSpPr>
        <p:spPr>
          <a:xfrm>
            <a:off x="731520" y="274320"/>
            <a:ext cx="10058400"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11827"/>
                </a:solidFill>
                <a:latin typeface="Calibri"/>
                <a:ea typeface="Calibri"/>
                <a:cs typeface="Calibri"/>
                <a:sym typeface="Calibri"/>
              </a:rPr>
              <a:t>Every approach has trade-offs</a:t>
            </a:r>
            <a:endParaRPr/>
          </a:p>
        </p:txBody>
      </p:sp>
      <p:graphicFrame>
        <p:nvGraphicFramePr>
          <p:cNvPr id="120" name="Google Shape;120;p6"/>
          <p:cNvGraphicFramePr/>
          <p:nvPr>
            <p:extLst>
              <p:ext uri="{D42A27DB-BD31-4B8C-83A1-F6EECF244321}">
                <p14:modId xmlns:p14="http://schemas.microsoft.com/office/powerpoint/2010/main" val="211939839"/>
              </p:ext>
            </p:extLst>
          </p:nvPr>
        </p:nvGraphicFramePr>
        <p:xfrm>
          <a:off x="731520" y="1188720"/>
          <a:ext cx="10515600" cy="4533625"/>
        </p:xfrm>
        <a:graphic>
          <a:graphicData uri="http://schemas.openxmlformats.org/drawingml/2006/table">
            <a:tbl>
              <a:tblPr firstRow="1" bandRow="1">
                <a:noFill/>
                <a:tableStyleId>{7A8B08B0-5F80-4E81-BA9E-63111AAD865A}</a:tableStyleId>
              </a:tblPr>
              <a:tblGrid>
                <a:gridCol w="2264475">
                  <a:extLst>
                    <a:ext uri="{9D8B030D-6E8A-4147-A177-3AD203B41FA5}">
                      <a16:colId xmlns:a16="http://schemas.microsoft.com/office/drawing/2014/main" val="20000"/>
                    </a:ext>
                  </a:extLst>
                </a:gridCol>
                <a:gridCol w="3222250">
                  <a:extLst>
                    <a:ext uri="{9D8B030D-6E8A-4147-A177-3AD203B41FA5}">
                      <a16:colId xmlns:a16="http://schemas.microsoft.com/office/drawing/2014/main" val="20001"/>
                    </a:ext>
                  </a:extLst>
                </a:gridCol>
                <a:gridCol w="5028875">
                  <a:extLst>
                    <a:ext uri="{9D8B030D-6E8A-4147-A177-3AD203B41FA5}">
                      <a16:colId xmlns:a16="http://schemas.microsoft.com/office/drawing/2014/main" val="20002"/>
                    </a:ext>
                  </a:extLst>
                </a:gridCol>
              </a:tblGrid>
              <a:tr h="432275">
                <a:tc>
                  <a:txBody>
                    <a:bodyPr/>
                    <a:lstStyle/>
                    <a:p>
                      <a:pPr marL="0" marR="0" lvl="0" indent="0" algn="l" rtl="0">
                        <a:spcBef>
                          <a:spcPts val="0"/>
                        </a:spcBef>
                        <a:spcAft>
                          <a:spcPts val="0"/>
                        </a:spcAft>
                        <a:buNone/>
                      </a:pPr>
                      <a:r>
                        <a:rPr lang="en-US" sz="1500">
                          <a:solidFill>
                            <a:srgbClr val="FFFFFF"/>
                          </a:solidFill>
                        </a:rPr>
                        <a:t>Approach</a:t>
                      </a:r>
                      <a:endParaRPr sz="1500"/>
                    </a:p>
                  </a:txBody>
                  <a:tcPr marL="91450" marR="91450" marT="45725" marB="45725">
                    <a:solidFill>
                      <a:srgbClr val="007BA1"/>
                    </a:solidFill>
                  </a:tcPr>
                </a:tc>
                <a:tc>
                  <a:txBody>
                    <a:bodyPr/>
                    <a:lstStyle/>
                    <a:p>
                      <a:pPr marL="0" marR="0" lvl="0" indent="0" algn="l" rtl="0">
                        <a:spcBef>
                          <a:spcPts val="0"/>
                        </a:spcBef>
                        <a:spcAft>
                          <a:spcPts val="0"/>
                        </a:spcAft>
                        <a:buNone/>
                      </a:pPr>
                      <a:r>
                        <a:rPr lang="en-US" sz="1500">
                          <a:solidFill>
                            <a:srgbClr val="FFFFFF"/>
                          </a:solidFill>
                        </a:rPr>
                        <a:t>Positives</a:t>
                      </a:r>
                      <a:endParaRPr sz="1500"/>
                    </a:p>
                  </a:txBody>
                  <a:tcPr marL="91450" marR="91450" marT="45725" marB="45725">
                    <a:solidFill>
                      <a:srgbClr val="007BA1"/>
                    </a:solidFill>
                  </a:tcPr>
                </a:tc>
                <a:tc>
                  <a:txBody>
                    <a:bodyPr/>
                    <a:lstStyle/>
                    <a:p>
                      <a:pPr marL="0" marR="0" lvl="0" indent="0" algn="l" rtl="0">
                        <a:spcBef>
                          <a:spcPts val="0"/>
                        </a:spcBef>
                        <a:spcAft>
                          <a:spcPts val="0"/>
                        </a:spcAft>
                        <a:buNone/>
                      </a:pPr>
                      <a:r>
                        <a:rPr lang="en-US" sz="1500">
                          <a:solidFill>
                            <a:srgbClr val="FFFFFF"/>
                          </a:solidFill>
                        </a:rPr>
                        <a:t>Negative</a:t>
                      </a:r>
                      <a:endParaRPr sz="1500"/>
                    </a:p>
                  </a:txBody>
                  <a:tcPr marL="91450" marR="91450" marT="45725" marB="45725">
                    <a:solidFill>
                      <a:srgbClr val="007BA1"/>
                    </a:solidFill>
                  </a:tcPr>
                </a:tc>
                <a:extLst>
                  <a:ext uri="{0D108BD9-81ED-4DB2-BD59-A6C34878D82A}">
                    <a16:rowId xmlns:a16="http://schemas.microsoft.com/office/drawing/2014/main" val="10000"/>
                  </a:ext>
                </a:extLst>
              </a:tr>
              <a:tr h="1005850">
                <a:tc>
                  <a:txBody>
                    <a:bodyPr/>
                    <a:lstStyle/>
                    <a:p>
                      <a:pPr marL="0" marR="0" lvl="0" indent="0" algn="l" rtl="0">
                        <a:spcBef>
                          <a:spcPts val="0"/>
                        </a:spcBef>
                        <a:spcAft>
                          <a:spcPts val="0"/>
                        </a:spcAft>
                        <a:buNone/>
                      </a:pPr>
                      <a:r>
                        <a:rPr lang="en-US" sz="1800" b="1" u="none" strike="noStrike" cap="none">
                          <a:solidFill>
                            <a:srgbClr val="111827"/>
                          </a:solidFill>
                        </a:rPr>
                        <a:t>SaaS dashboards</a:t>
                      </a:r>
                      <a:endParaRPr sz="1700" b="1"/>
                    </a:p>
                    <a:p>
                      <a:pPr marL="0" marR="0" lvl="0" indent="0" algn="l" rtl="0">
                        <a:spcBef>
                          <a:spcPts val="0"/>
                        </a:spcBef>
                        <a:spcAft>
                          <a:spcPts val="0"/>
                        </a:spcAft>
                        <a:buNone/>
                      </a:pPr>
                      <a:r>
                        <a:rPr lang="en-US" sz="1800">
                          <a:solidFill>
                            <a:srgbClr val="111827"/>
                          </a:solidFill>
                        </a:rPr>
                        <a:t>(</a:t>
                      </a:r>
                      <a:r>
                        <a:rPr lang="en-US" sz="1800" b="0" u="none" strike="noStrike" cap="none">
                          <a:solidFill>
                            <a:srgbClr val="111827"/>
                          </a:solidFill>
                          <a:latin typeface="Calibri"/>
                          <a:ea typeface="Calibri"/>
                          <a:cs typeface="Calibri"/>
                          <a:sym typeface="Calibri"/>
                        </a:rPr>
                        <a:t>QuickBooks, G</a:t>
                      </a:r>
                      <a:r>
                        <a:rPr lang="en-US" sz="1800">
                          <a:solidFill>
                            <a:srgbClr val="111827"/>
                          </a:solidFill>
                        </a:rPr>
                        <a:t>oogle Analytics</a:t>
                      </a:r>
                      <a:r>
                        <a:rPr lang="en-US" sz="1800" b="0" u="none" strike="noStrike" cap="none">
                          <a:solidFill>
                            <a:srgbClr val="111827"/>
                          </a:solidFill>
                          <a:latin typeface="Calibri"/>
                          <a:ea typeface="Calibri"/>
                          <a:cs typeface="Calibri"/>
                          <a:sym typeface="Calibri"/>
                        </a:rPr>
                        <a:t>, etc.)</a:t>
                      </a:r>
                      <a:endParaRPr sz="1700"/>
                    </a:p>
                  </a:txBody>
                  <a:tcPr marL="91450" marR="91450" marT="45725" marB="45725"/>
                </a:tc>
                <a:tc>
                  <a:txBody>
                    <a:bodyPr/>
                    <a:lstStyle/>
                    <a:p>
                      <a:pPr marL="457200" marR="0" lvl="0" indent="-342900" algn="l" rtl="0">
                        <a:spcBef>
                          <a:spcPts val="0"/>
                        </a:spcBef>
                        <a:spcAft>
                          <a:spcPts val="0"/>
                        </a:spcAft>
                        <a:buClr>
                          <a:srgbClr val="111827"/>
                        </a:buClr>
                        <a:buSzPts val="1800"/>
                        <a:buFont typeface="Calibri"/>
                        <a:buChar char="●"/>
                      </a:pPr>
                      <a:r>
                        <a:rPr lang="en-US" sz="1800" b="0" u="none" strike="noStrike" cap="none">
                          <a:solidFill>
                            <a:srgbClr val="111827"/>
                          </a:solidFill>
                          <a:latin typeface="Calibri"/>
                          <a:ea typeface="Calibri"/>
                          <a:cs typeface="Calibri"/>
                          <a:sym typeface="Calibri"/>
                        </a:rPr>
                        <a:t>Built in, no setup</a:t>
                      </a:r>
                      <a:endParaRPr sz="1700"/>
                    </a:p>
                  </a:txBody>
                  <a:tcPr marL="91450" marR="91450" marT="45725" marB="45725"/>
                </a:tc>
                <a:tc>
                  <a:txBody>
                    <a:bodyPr/>
                    <a:lstStyle/>
                    <a:p>
                      <a:pPr marL="400050" marR="0" lvl="0" indent="-285750" algn="l" rtl="0">
                        <a:spcBef>
                          <a:spcPts val="0"/>
                        </a:spcBef>
                        <a:spcAft>
                          <a:spcPts val="0"/>
                        </a:spcAft>
                        <a:buClr>
                          <a:srgbClr val="111827"/>
                        </a:buClr>
                        <a:buSzPts val="1800"/>
                        <a:buFont typeface="Arial" panose="020B0604020202020204" pitchFamily="34" charset="0"/>
                        <a:buChar char="•"/>
                      </a:pPr>
                      <a:r>
                        <a:rPr lang="en-US" sz="1800" b="0" u="none" strike="noStrike" cap="none" dirty="0">
                          <a:solidFill>
                            <a:srgbClr val="111827"/>
                          </a:solidFill>
                          <a:latin typeface="Calibri"/>
                          <a:ea typeface="Calibri"/>
                          <a:cs typeface="Calibri"/>
                          <a:sym typeface="Calibri"/>
                        </a:rPr>
                        <a:t>Clunky interfaces</a:t>
                      </a:r>
                      <a:endParaRPr sz="1800" b="0" u="none" strike="noStrike" cap="none" dirty="0">
                        <a:solidFill>
                          <a:srgbClr val="111827"/>
                        </a:solidFill>
                        <a:latin typeface="Calibri"/>
                        <a:ea typeface="Calibri"/>
                        <a:cs typeface="Calibri"/>
                        <a:sym typeface="Calibri"/>
                      </a:endParaRPr>
                    </a:p>
                    <a:p>
                      <a:pPr marL="425450" marR="0" lvl="0" indent="-285750" algn="l" rtl="0">
                        <a:spcBef>
                          <a:spcPts val="0"/>
                        </a:spcBef>
                        <a:spcAft>
                          <a:spcPts val="0"/>
                        </a:spcAft>
                        <a:buSzPts val="1400"/>
                        <a:buFont typeface="Arial" panose="020B0604020202020204" pitchFamily="34" charset="0"/>
                        <a:buChar char="•"/>
                      </a:pPr>
                      <a:r>
                        <a:rPr lang="en-US" sz="1800" dirty="0">
                          <a:solidFill>
                            <a:srgbClr val="111827"/>
                          </a:solidFill>
                        </a:rPr>
                        <a:t>S</a:t>
                      </a:r>
                      <a:r>
                        <a:rPr lang="en-US" sz="1800" b="0" u="none" strike="noStrike" cap="none" dirty="0">
                          <a:solidFill>
                            <a:srgbClr val="111827"/>
                          </a:solidFill>
                          <a:latin typeface="Calibri"/>
                          <a:ea typeface="Calibri"/>
                          <a:cs typeface="Calibri"/>
                          <a:sym typeface="Calibri"/>
                        </a:rPr>
                        <a:t>iloed, can't cross</a:t>
                      </a:r>
                      <a:r>
                        <a:rPr lang="en-US" sz="1700" dirty="0"/>
                        <a:t> </a:t>
                      </a:r>
                      <a:r>
                        <a:rPr lang="en-US" sz="1800" b="0" u="none" strike="noStrike" cap="none" dirty="0">
                          <a:solidFill>
                            <a:srgbClr val="111827"/>
                          </a:solidFill>
                          <a:latin typeface="Calibri"/>
                          <a:ea typeface="Calibri"/>
                          <a:cs typeface="Calibri"/>
                          <a:sym typeface="Calibri"/>
                        </a:rPr>
                        <a:t>data sources</a:t>
                      </a:r>
                      <a:endParaRPr sz="1700" dirty="0"/>
                    </a:p>
                  </a:txBody>
                  <a:tcPr marL="91450" marR="91450" marT="45725" marB="45725"/>
                </a:tc>
                <a:extLst>
                  <a:ext uri="{0D108BD9-81ED-4DB2-BD59-A6C34878D82A}">
                    <a16:rowId xmlns:a16="http://schemas.microsoft.com/office/drawing/2014/main" val="10001"/>
                  </a:ext>
                </a:extLst>
              </a:tr>
              <a:tr h="802150">
                <a:tc>
                  <a:txBody>
                    <a:bodyPr/>
                    <a:lstStyle/>
                    <a:p>
                      <a:pPr marL="0" marR="0" lvl="0" indent="0" algn="l" rtl="0">
                        <a:spcBef>
                          <a:spcPts val="0"/>
                        </a:spcBef>
                        <a:spcAft>
                          <a:spcPts val="0"/>
                        </a:spcAft>
                        <a:buNone/>
                      </a:pPr>
                      <a:r>
                        <a:rPr lang="en-US" sz="1800" b="1" u="none" strike="noStrike" cap="none">
                          <a:solidFill>
                            <a:srgbClr val="111827"/>
                          </a:solidFill>
                        </a:rPr>
                        <a:t>BI tools</a:t>
                      </a:r>
                      <a:endParaRPr sz="1700" b="1"/>
                    </a:p>
                    <a:p>
                      <a:pPr marL="0" marR="0" lvl="0" indent="0" algn="l" rtl="0">
                        <a:spcBef>
                          <a:spcPts val="0"/>
                        </a:spcBef>
                        <a:spcAft>
                          <a:spcPts val="0"/>
                        </a:spcAft>
                        <a:buNone/>
                      </a:pPr>
                      <a:r>
                        <a:rPr lang="en-US" sz="1800" b="0" u="none" strike="noStrike" cap="none">
                          <a:solidFill>
                            <a:srgbClr val="111827"/>
                          </a:solidFill>
                          <a:latin typeface="Calibri"/>
                          <a:ea typeface="Calibri"/>
                          <a:cs typeface="Calibri"/>
                          <a:sym typeface="Calibri"/>
                        </a:rPr>
                        <a:t>(Power BI, Tableau)</a:t>
                      </a:r>
                      <a:endParaRPr sz="1700"/>
                    </a:p>
                  </a:txBody>
                  <a:tcPr marL="91450" marR="91450" marT="45725" marB="45725">
                    <a:solidFill>
                      <a:srgbClr val="F3F4F6"/>
                    </a:solidFill>
                  </a:tcPr>
                </a:tc>
                <a:tc>
                  <a:txBody>
                    <a:bodyPr/>
                    <a:lstStyle/>
                    <a:p>
                      <a:pPr marL="457200" marR="0" lvl="0" indent="-317500" algn="l" rtl="0">
                        <a:spcBef>
                          <a:spcPts val="0"/>
                        </a:spcBef>
                        <a:spcAft>
                          <a:spcPts val="0"/>
                        </a:spcAft>
                        <a:buSzPts val="1400"/>
                        <a:buChar char="●"/>
                      </a:pPr>
                      <a:r>
                        <a:rPr lang="en-US" sz="1800" b="0" u="none" strike="noStrike" cap="none">
                          <a:solidFill>
                            <a:srgbClr val="111827"/>
                          </a:solidFill>
                          <a:latin typeface="Calibri"/>
                          <a:ea typeface="Calibri"/>
                          <a:cs typeface="Calibri"/>
                          <a:sym typeface="Calibri"/>
                        </a:rPr>
                        <a:t>Powerful,</a:t>
                      </a:r>
                      <a:r>
                        <a:rPr lang="en-US" sz="1700"/>
                        <a:t> </a:t>
                      </a:r>
                      <a:r>
                        <a:rPr lang="en-US" sz="1800" b="0" u="none" strike="noStrike" cap="none">
                          <a:solidFill>
                            <a:srgbClr val="111827"/>
                          </a:solidFill>
                          <a:latin typeface="Calibri"/>
                          <a:ea typeface="Calibri"/>
                          <a:cs typeface="Calibri"/>
                          <a:sym typeface="Calibri"/>
                        </a:rPr>
                        <a:t>enterprise-grade</a:t>
                      </a:r>
                      <a:endParaRPr sz="1700"/>
                    </a:p>
                  </a:txBody>
                  <a:tcPr marL="91450" marR="91450" marT="45725" marB="45725">
                    <a:solidFill>
                      <a:srgbClr val="F3F4F6"/>
                    </a:solidFill>
                  </a:tcPr>
                </a:tc>
                <a:tc>
                  <a:txBody>
                    <a:bodyPr/>
                    <a:lstStyle/>
                    <a:p>
                      <a:pPr marL="425450" marR="0" lvl="0" indent="-285750" algn="l" rtl="0">
                        <a:spcBef>
                          <a:spcPts val="0"/>
                        </a:spcBef>
                        <a:spcAft>
                          <a:spcPts val="0"/>
                        </a:spcAft>
                        <a:buSzPts val="1400"/>
                        <a:buFont typeface="Arial" panose="020B0604020202020204" pitchFamily="34" charset="0"/>
                        <a:buChar char="•"/>
                      </a:pPr>
                      <a:r>
                        <a:rPr lang="en-US" sz="1800" b="0" u="none" strike="noStrike" cap="none" dirty="0">
                          <a:solidFill>
                            <a:srgbClr val="111827"/>
                          </a:solidFill>
                          <a:latin typeface="Calibri"/>
                          <a:ea typeface="Calibri"/>
                          <a:cs typeface="Calibri"/>
                          <a:sym typeface="Calibri"/>
                        </a:rPr>
                        <a:t>Finicky, hard to learn,</a:t>
                      </a:r>
                      <a:r>
                        <a:rPr lang="en-US" sz="1700" dirty="0"/>
                        <a:t> </a:t>
                      </a:r>
                      <a:r>
                        <a:rPr lang="en-US" sz="1800" b="0" u="none" strike="noStrike" cap="none" dirty="0">
                          <a:solidFill>
                            <a:srgbClr val="111827"/>
                          </a:solidFill>
                          <a:latin typeface="Calibri"/>
                          <a:ea typeface="Calibri"/>
                          <a:cs typeface="Calibri"/>
                          <a:sym typeface="Calibri"/>
                        </a:rPr>
                        <a:t>expensive</a:t>
                      </a:r>
                      <a:endParaRPr sz="1800" dirty="0">
                        <a:solidFill>
                          <a:srgbClr val="111827"/>
                        </a:solidFill>
                      </a:endParaRPr>
                    </a:p>
                    <a:p>
                      <a:pPr marL="400050" marR="0" lvl="0" indent="-285750" algn="l" rtl="0">
                        <a:spcBef>
                          <a:spcPts val="0"/>
                        </a:spcBef>
                        <a:spcAft>
                          <a:spcPts val="0"/>
                        </a:spcAft>
                        <a:buClr>
                          <a:srgbClr val="111827"/>
                        </a:buClr>
                        <a:buSzPts val="1800"/>
                        <a:buFont typeface="Arial" panose="020B0604020202020204" pitchFamily="34" charset="0"/>
                        <a:buChar char="•"/>
                      </a:pPr>
                      <a:r>
                        <a:rPr lang="en-US" sz="1800" dirty="0">
                          <a:solidFill>
                            <a:srgbClr val="111827"/>
                          </a:solidFill>
                        </a:rPr>
                        <a:t>Often: </a:t>
                      </a:r>
                      <a:r>
                        <a:rPr lang="en-US" sz="1800" b="0" u="none" strike="noStrike" cap="none" dirty="0">
                          <a:solidFill>
                            <a:srgbClr val="111827"/>
                          </a:solidFill>
                          <a:latin typeface="Calibri"/>
                          <a:ea typeface="Calibri"/>
                          <a:cs typeface="Calibri"/>
                          <a:sym typeface="Calibri"/>
                        </a:rPr>
                        <a:t>need a data team or d</a:t>
                      </a:r>
                      <a:r>
                        <a:rPr lang="en-US" sz="1800" dirty="0">
                          <a:solidFill>
                            <a:srgbClr val="111827"/>
                          </a:solidFill>
                        </a:rPr>
                        <a:t>edicated resource</a:t>
                      </a:r>
                      <a:endParaRPr sz="1700" dirty="0"/>
                    </a:p>
                  </a:txBody>
                  <a:tcPr marL="91450" marR="91450" marT="45725" marB="45725">
                    <a:solidFill>
                      <a:srgbClr val="F3F4F6"/>
                    </a:solidFill>
                  </a:tcPr>
                </a:tc>
                <a:extLst>
                  <a:ext uri="{0D108BD9-81ED-4DB2-BD59-A6C34878D82A}">
                    <a16:rowId xmlns:a16="http://schemas.microsoft.com/office/drawing/2014/main" val="10002"/>
                  </a:ext>
                </a:extLst>
              </a:tr>
              <a:tr h="830300">
                <a:tc>
                  <a:txBody>
                    <a:bodyPr/>
                    <a:lstStyle/>
                    <a:p>
                      <a:pPr marL="0" marR="0" lvl="0" indent="0" algn="l" rtl="0">
                        <a:spcBef>
                          <a:spcPts val="0"/>
                        </a:spcBef>
                        <a:spcAft>
                          <a:spcPts val="0"/>
                        </a:spcAft>
                        <a:buNone/>
                      </a:pPr>
                      <a:r>
                        <a:rPr lang="en-US" sz="1800" b="1" u="none" strike="noStrike" cap="none">
                          <a:solidFill>
                            <a:srgbClr val="111827"/>
                          </a:solidFill>
                        </a:rPr>
                        <a:t>Spreadsheets</a:t>
                      </a:r>
                      <a:endParaRPr sz="1700" b="1"/>
                    </a:p>
                    <a:p>
                      <a:pPr marL="0" marR="0" lvl="0" indent="0" algn="l" rtl="0">
                        <a:spcBef>
                          <a:spcPts val="0"/>
                        </a:spcBef>
                        <a:spcAft>
                          <a:spcPts val="0"/>
                        </a:spcAft>
                        <a:buNone/>
                      </a:pPr>
                      <a:r>
                        <a:rPr lang="en-US" sz="1800" b="0" u="none" strike="noStrike" cap="none">
                          <a:solidFill>
                            <a:srgbClr val="111827"/>
                          </a:solidFill>
                          <a:latin typeface="Calibri"/>
                          <a:ea typeface="Calibri"/>
                          <a:cs typeface="Calibri"/>
                          <a:sym typeface="Calibri"/>
                        </a:rPr>
                        <a:t>(Excel, Google Sheets)</a:t>
                      </a:r>
                      <a:endParaRPr sz="1700"/>
                    </a:p>
                  </a:txBody>
                  <a:tcPr marL="91450" marR="91450" marT="45725" marB="45725"/>
                </a:tc>
                <a:tc>
                  <a:txBody>
                    <a:bodyPr/>
                    <a:lstStyle/>
                    <a:p>
                      <a:pPr marL="457200" marR="0" lvl="0" indent="-317500" algn="l" rtl="0">
                        <a:spcBef>
                          <a:spcPts val="0"/>
                        </a:spcBef>
                        <a:spcAft>
                          <a:spcPts val="0"/>
                        </a:spcAft>
                        <a:buSzPts val="1400"/>
                        <a:buChar char="●"/>
                      </a:pPr>
                      <a:r>
                        <a:rPr lang="en-US" sz="1800" b="0" u="none" strike="noStrike" cap="none">
                          <a:solidFill>
                            <a:srgbClr val="111827"/>
                          </a:solidFill>
                          <a:latin typeface="Calibri"/>
                          <a:ea typeface="Calibri"/>
                          <a:cs typeface="Calibri"/>
                          <a:sym typeface="Calibri"/>
                        </a:rPr>
                        <a:t>Flexible,</a:t>
                      </a:r>
                      <a:r>
                        <a:rPr lang="en-US" sz="1700"/>
                        <a:t> </a:t>
                      </a:r>
                      <a:r>
                        <a:rPr lang="en-US" sz="1800" b="0" u="none" strike="noStrike" cap="none">
                          <a:solidFill>
                            <a:srgbClr val="111827"/>
                          </a:solidFill>
                          <a:latin typeface="Calibri"/>
                          <a:ea typeface="Calibri"/>
                          <a:cs typeface="Calibri"/>
                          <a:sym typeface="Calibri"/>
                        </a:rPr>
                        <a:t>you control it</a:t>
                      </a:r>
                      <a:endParaRPr sz="1700"/>
                    </a:p>
                  </a:txBody>
                  <a:tcPr marL="91450" marR="91450" marT="45725" marB="45725"/>
                </a:tc>
                <a:tc>
                  <a:txBody>
                    <a:bodyPr/>
                    <a:lstStyle/>
                    <a:p>
                      <a:pPr marL="425450" marR="0" lvl="0" indent="-285750" algn="l" rtl="0">
                        <a:spcBef>
                          <a:spcPts val="0"/>
                        </a:spcBef>
                        <a:spcAft>
                          <a:spcPts val="0"/>
                        </a:spcAft>
                        <a:buSzPts val="1400"/>
                        <a:buFont typeface="Arial" panose="020B0604020202020204" pitchFamily="34" charset="0"/>
                        <a:buChar char="•"/>
                      </a:pPr>
                      <a:r>
                        <a:rPr lang="en-US" sz="1800" b="0" u="none" strike="noStrike" cap="none">
                          <a:solidFill>
                            <a:srgbClr val="111827"/>
                          </a:solidFill>
                          <a:latin typeface="Calibri"/>
                          <a:ea typeface="Calibri"/>
                          <a:cs typeface="Calibri"/>
                          <a:sym typeface="Calibri"/>
                        </a:rPr>
                        <a:t>Fragile, time-consuming</a:t>
                      </a:r>
                      <a:r>
                        <a:rPr lang="en-US" sz="1700"/>
                        <a:t> </a:t>
                      </a:r>
                      <a:r>
                        <a:rPr lang="en-US" sz="1800" b="0" u="none" strike="noStrike" cap="none">
                          <a:solidFill>
                            <a:srgbClr val="111827"/>
                          </a:solidFill>
                          <a:latin typeface="Calibri"/>
                          <a:ea typeface="Calibri"/>
                          <a:cs typeface="Calibri"/>
                          <a:sym typeface="Calibri"/>
                        </a:rPr>
                        <a:t>to update </a:t>
                      </a:r>
                      <a:endParaRPr sz="1800" b="0" u="none" strike="noStrike" cap="none">
                        <a:solidFill>
                          <a:srgbClr val="111827"/>
                        </a:solidFill>
                        <a:latin typeface="Calibri"/>
                        <a:ea typeface="Calibri"/>
                        <a:cs typeface="Calibri"/>
                        <a:sym typeface="Calibri"/>
                      </a:endParaRPr>
                    </a:p>
                    <a:p>
                      <a:pPr marL="400050" marR="0" lvl="0" indent="-285750" algn="l" rtl="0">
                        <a:spcBef>
                          <a:spcPts val="0"/>
                        </a:spcBef>
                        <a:spcAft>
                          <a:spcPts val="0"/>
                        </a:spcAft>
                        <a:buClr>
                          <a:srgbClr val="111827"/>
                        </a:buClr>
                        <a:buSzPts val="1800"/>
                        <a:buFont typeface="Arial" panose="020B0604020202020204" pitchFamily="34" charset="0"/>
                        <a:buChar char="•"/>
                      </a:pPr>
                      <a:r>
                        <a:rPr lang="en-US" sz="1800">
                          <a:solidFill>
                            <a:srgbClr val="111827"/>
                          </a:solidFill>
                        </a:rPr>
                        <a:t>H</a:t>
                      </a:r>
                      <a:r>
                        <a:rPr lang="en-US" sz="1800" b="0" u="none" strike="noStrike" cap="none">
                          <a:solidFill>
                            <a:srgbClr val="111827"/>
                          </a:solidFill>
                          <a:latin typeface="Calibri"/>
                          <a:ea typeface="Calibri"/>
                          <a:cs typeface="Calibri"/>
                          <a:sym typeface="Calibri"/>
                        </a:rPr>
                        <a:t>ard to share, competence penalty</a:t>
                      </a:r>
                      <a:endParaRPr sz="1700"/>
                    </a:p>
                  </a:txBody>
                  <a:tcPr marL="91450" marR="91450" marT="45725" marB="45725"/>
                </a:tc>
                <a:extLst>
                  <a:ext uri="{0D108BD9-81ED-4DB2-BD59-A6C34878D82A}">
                    <a16:rowId xmlns:a16="http://schemas.microsoft.com/office/drawing/2014/main" val="10003"/>
                  </a:ext>
                </a:extLst>
              </a:tr>
              <a:tr h="1415000">
                <a:tc>
                  <a:txBody>
                    <a:bodyPr/>
                    <a:lstStyle/>
                    <a:p>
                      <a:pPr marL="0" marR="0" lvl="0" indent="0" algn="l" rtl="0">
                        <a:spcBef>
                          <a:spcPts val="0"/>
                        </a:spcBef>
                        <a:spcAft>
                          <a:spcPts val="0"/>
                        </a:spcAft>
                        <a:buNone/>
                      </a:pPr>
                      <a:r>
                        <a:rPr lang="en-US" sz="1800" b="1" u="none" strike="noStrike" cap="none">
                          <a:solidFill>
                            <a:srgbClr val="111827"/>
                          </a:solidFill>
                        </a:rPr>
                        <a:t>AI workflows</a:t>
                      </a:r>
                      <a:endParaRPr sz="1700" b="1"/>
                    </a:p>
                    <a:p>
                      <a:pPr marL="0" marR="0" lvl="0" indent="0" algn="l" rtl="0">
                        <a:spcBef>
                          <a:spcPts val="0"/>
                        </a:spcBef>
                        <a:spcAft>
                          <a:spcPts val="0"/>
                        </a:spcAft>
                        <a:buNone/>
                      </a:pPr>
                      <a:r>
                        <a:rPr lang="en-US" sz="1800" b="0" u="none" strike="noStrike" cap="none">
                          <a:solidFill>
                            <a:srgbClr val="111827"/>
                          </a:solidFill>
                          <a:latin typeface="Calibri"/>
                          <a:ea typeface="Calibri"/>
                          <a:cs typeface="Calibri"/>
                          <a:sym typeface="Calibri"/>
                        </a:rPr>
                        <a:t>(Claude, ChatGPT)</a:t>
                      </a:r>
                      <a:endParaRPr sz="1700"/>
                    </a:p>
                  </a:txBody>
                  <a:tcPr marL="91450" marR="91450" marT="45725" marB="45725">
                    <a:solidFill>
                      <a:srgbClr val="F3F4F6"/>
                    </a:solidFill>
                  </a:tcPr>
                </a:tc>
                <a:tc>
                  <a:txBody>
                    <a:bodyPr/>
                    <a:lstStyle/>
                    <a:p>
                      <a:pPr marL="457200" marR="0" lvl="0" indent="-342900" algn="l" rtl="0">
                        <a:spcBef>
                          <a:spcPts val="0"/>
                        </a:spcBef>
                        <a:spcAft>
                          <a:spcPts val="0"/>
                        </a:spcAft>
                        <a:buClr>
                          <a:srgbClr val="111827"/>
                        </a:buClr>
                        <a:buSzPts val="1800"/>
                        <a:buChar char="●"/>
                      </a:pPr>
                      <a:r>
                        <a:rPr lang="en-US" sz="1800" b="0" u="none" strike="noStrike" cap="none">
                          <a:solidFill>
                            <a:srgbClr val="111827"/>
                          </a:solidFill>
                          <a:latin typeface="Calibri"/>
                          <a:ea typeface="Calibri"/>
                          <a:cs typeface="Calibri"/>
                          <a:sym typeface="Calibri"/>
                        </a:rPr>
                        <a:t>Fast for one-off</a:t>
                      </a:r>
                      <a:r>
                        <a:rPr lang="en-US" sz="1800">
                          <a:solidFill>
                            <a:srgbClr val="111827"/>
                          </a:solidFill>
                        </a:rPr>
                        <a:t> analysis and periodic reports</a:t>
                      </a:r>
                      <a:endParaRPr sz="1700"/>
                    </a:p>
                    <a:p>
                      <a:pPr marL="457200" marR="0" lvl="0" indent="-342900" algn="l" rtl="0">
                        <a:spcBef>
                          <a:spcPts val="0"/>
                        </a:spcBef>
                        <a:spcAft>
                          <a:spcPts val="0"/>
                        </a:spcAft>
                        <a:buClr>
                          <a:srgbClr val="111827"/>
                        </a:buClr>
                        <a:buSzPts val="1800"/>
                        <a:buChar char="●"/>
                      </a:pPr>
                      <a:r>
                        <a:rPr lang="en-US" sz="1800">
                          <a:solidFill>
                            <a:srgbClr val="111827"/>
                          </a:solidFill>
                        </a:rPr>
                        <a:t>S</a:t>
                      </a:r>
                      <a:r>
                        <a:rPr lang="en-US" sz="1800" b="0" u="none" strike="noStrike" cap="none">
                          <a:solidFill>
                            <a:srgbClr val="111827"/>
                          </a:solidFill>
                          <a:latin typeface="Calibri"/>
                          <a:ea typeface="Calibri"/>
                          <a:cs typeface="Calibri"/>
                          <a:sym typeface="Calibri"/>
                        </a:rPr>
                        <a:t>urprisingly capable</a:t>
                      </a:r>
                      <a:endParaRPr sz="1700"/>
                    </a:p>
                  </a:txBody>
                  <a:tcPr marL="91450" marR="91450" marT="45725" marB="45725">
                    <a:solidFill>
                      <a:srgbClr val="F3F4F6"/>
                    </a:solidFill>
                  </a:tcPr>
                </a:tc>
                <a:tc>
                  <a:txBody>
                    <a:bodyPr/>
                    <a:lstStyle/>
                    <a:p>
                      <a:pPr marL="400050" marR="0" lvl="0" indent="-285750" algn="l" rtl="0">
                        <a:spcBef>
                          <a:spcPts val="0"/>
                        </a:spcBef>
                        <a:spcAft>
                          <a:spcPts val="0"/>
                        </a:spcAft>
                        <a:buClr>
                          <a:srgbClr val="111827"/>
                        </a:buClr>
                        <a:buSzPts val="1800"/>
                        <a:buFont typeface="Arial" panose="020B0604020202020204" pitchFamily="34" charset="0"/>
                        <a:buChar char="•"/>
                      </a:pPr>
                      <a:r>
                        <a:rPr lang="en-US" sz="1800" dirty="0">
                          <a:solidFill>
                            <a:srgbClr val="111827"/>
                          </a:solidFill>
                        </a:rPr>
                        <a:t>Doesn’t scale</a:t>
                      </a:r>
                      <a:r>
                        <a:rPr lang="en-US" sz="1800" b="0" u="none" strike="noStrike" cap="none" dirty="0">
                          <a:solidFill>
                            <a:srgbClr val="111827"/>
                          </a:solidFill>
                          <a:latin typeface="Calibri"/>
                          <a:ea typeface="Calibri"/>
                          <a:cs typeface="Calibri"/>
                          <a:sym typeface="Calibri"/>
                        </a:rPr>
                        <a:t> - mu</a:t>
                      </a:r>
                      <a:r>
                        <a:rPr lang="en-US" sz="1800" dirty="0">
                          <a:solidFill>
                            <a:srgbClr val="111827"/>
                          </a:solidFill>
                        </a:rPr>
                        <a:t>ltiple one-offs</a:t>
                      </a:r>
                      <a:endParaRPr sz="1800" dirty="0">
                        <a:solidFill>
                          <a:srgbClr val="111827"/>
                        </a:solidFill>
                      </a:endParaRPr>
                    </a:p>
                    <a:p>
                      <a:pPr marL="425450" marR="0" lvl="0" indent="-285750" algn="l" rtl="0">
                        <a:spcBef>
                          <a:spcPts val="0"/>
                        </a:spcBef>
                        <a:spcAft>
                          <a:spcPts val="0"/>
                        </a:spcAft>
                        <a:buSzPts val="1400"/>
                        <a:buFont typeface="Arial" panose="020B0604020202020204" pitchFamily="34" charset="0"/>
                        <a:buChar char="•"/>
                      </a:pPr>
                      <a:r>
                        <a:rPr lang="en-US" sz="1800" dirty="0">
                          <a:solidFill>
                            <a:srgbClr val="111827"/>
                          </a:solidFill>
                        </a:rPr>
                        <a:t>Y</a:t>
                      </a:r>
                      <a:r>
                        <a:rPr lang="en-US" sz="1800" b="0" u="none" strike="noStrike" cap="none" dirty="0">
                          <a:solidFill>
                            <a:srgbClr val="111827"/>
                          </a:solidFill>
                          <a:latin typeface="Calibri"/>
                          <a:ea typeface="Calibri"/>
                          <a:cs typeface="Calibri"/>
                          <a:sym typeface="Calibri"/>
                        </a:rPr>
                        <a:t>ou become</a:t>
                      </a:r>
                      <a:r>
                        <a:rPr lang="en-US" sz="1700" dirty="0"/>
                        <a:t> </a:t>
                      </a:r>
                      <a:r>
                        <a:rPr lang="en-US" sz="1800" b="0" u="none" strike="noStrike" cap="none" dirty="0">
                          <a:solidFill>
                            <a:srgbClr val="111827"/>
                          </a:solidFill>
                          <a:latin typeface="Calibri"/>
                          <a:ea typeface="Calibri"/>
                          <a:cs typeface="Calibri"/>
                          <a:sym typeface="Calibri"/>
                        </a:rPr>
                        <a:t>the infrastructure</a:t>
                      </a:r>
                      <a:endParaRPr sz="1800" b="0" u="none" strike="noStrike" cap="none" dirty="0">
                        <a:solidFill>
                          <a:srgbClr val="111827"/>
                        </a:solidFill>
                        <a:latin typeface="Calibri"/>
                        <a:ea typeface="Calibri"/>
                        <a:cs typeface="Calibri"/>
                        <a:sym typeface="Calibri"/>
                      </a:endParaRPr>
                    </a:p>
                    <a:p>
                      <a:pPr marL="400050" marR="0" lvl="0" indent="-285750" algn="l" rtl="0">
                        <a:spcBef>
                          <a:spcPts val="0"/>
                        </a:spcBef>
                        <a:spcAft>
                          <a:spcPts val="0"/>
                        </a:spcAft>
                        <a:buClr>
                          <a:srgbClr val="111827"/>
                        </a:buClr>
                        <a:buSzPts val="1800"/>
                        <a:buFont typeface="Arial" panose="020B0604020202020204" pitchFamily="34" charset="0"/>
                        <a:buChar char="•"/>
                      </a:pPr>
                      <a:r>
                        <a:rPr lang="en-US" sz="1800" dirty="0">
                          <a:solidFill>
                            <a:srgbClr val="111827"/>
                          </a:solidFill>
                        </a:rPr>
                        <a:t>Calculations → COMPLICATIONS (who audits?)</a:t>
                      </a:r>
                      <a:endParaRPr sz="1800" dirty="0">
                        <a:solidFill>
                          <a:srgbClr val="111827"/>
                        </a:solidFill>
                      </a:endParaRPr>
                    </a:p>
                    <a:p>
                      <a:pPr marL="400050" marR="0" lvl="0" indent="-285750" algn="l" rtl="0">
                        <a:spcBef>
                          <a:spcPts val="0"/>
                        </a:spcBef>
                        <a:spcAft>
                          <a:spcPts val="0"/>
                        </a:spcAft>
                        <a:buClr>
                          <a:srgbClr val="111827"/>
                        </a:buClr>
                        <a:buSzPts val="1800"/>
                        <a:buFont typeface="Arial" panose="020B0604020202020204" pitchFamily="34" charset="0"/>
                        <a:buChar char="•"/>
                      </a:pPr>
                      <a:r>
                        <a:rPr lang="en-US" sz="1800" dirty="0">
                          <a:solidFill>
                            <a:srgbClr val="111827"/>
                          </a:solidFill>
                        </a:rPr>
                        <a:t>The vibe-coding problem (tech debt)</a:t>
                      </a:r>
                    </a:p>
                    <a:p>
                      <a:pPr marL="400050" marR="0" lvl="0" indent="-285750" algn="l" rtl="0">
                        <a:spcBef>
                          <a:spcPts val="0"/>
                        </a:spcBef>
                        <a:spcAft>
                          <a:spcPts val="0"/>
                        </a:spcAft>
                        <a:buClr>
                          <a:srgbClr val="111827"/>
                        </a:buClr>
                        <a:buSzPts val="1800"/>
                        <a:buFont typeface="Arial" panose="020B0604020202020204" pitchFamily="34" charset="0"/>
                        <a:buChar char="•"/>
                      </a:pPr>
                      <a:r>
                        <a:rPr lang="en-US" sz="1800" dirty="0">
                          <a:solidFill>
                            <a:srgbClr val="111827"/>
                          </a:solidFill>
                        </a:rPr>
                        <a:t>Privacy + security (your data </a:t>
                      </a:r>
                      <a:r>
                        <a:rPr lang="en-US" sz="1800" dirty="0">
                          <a:solidFill>
                            <a:srgbClr val="111827"/>
                          </a:solidFill>
                          <a:sym typeface="Wingdings" pitchFamily="2" charset="2"/>
                        </a:rPr>
                        <a:t></a:t>
                      </a:r>
                      <a:r>
                        <a:rPr lang="en-US" sz="1800" dirty="0">
                          <a:solidFill>
                            <a:srgbClr val="111827"/>
                          </a:solidFill>
                        </a:rPr>
                        <a:t> AI agent)</a:t>
                      </a:r>
                      <a:endParaRPr sz="1800" dirty="0">
                        <a:solidFill>
                          <a:srgbClr val="111827"/>
                        </a:solidFill>
                      </a:endParaRPr>
                    </a:p>
                  </a:txBody>
                  <a:tcPr marL="91450" marR="91450" marT="45725" marB="45725">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7"/>
          <p:cNvSpPr txBox="1"/>
          <p:nvPr/>
        </p:nvSpPr>
        <p:spPr>
          <a:xfrm>
            <a:off x="731520" y="274320"/>
            <a:ext cx="100584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11827"/>
                </a:solidFill>
                <a:latin typeface="Calibri"/>
                <a:ea typeface="Calibri"/>
                <a:cs typeface="Calibri"/>
                <a:sym typeface="Calibri"/>
              </a:rPr>
              <a:t>Drilldown: t</a:t>
            </a:r>
            <a:r>
              <a:rPr lang="en-US" sz="3200" b="1" i="0" u="none" strike="noStrike" cap="none">
                <a:solidFill>
                  <a:srgbClr val="111827"/>
                </a:solidFill>
                <a:latin typeface="Calibri"/>
                <a:ea typeface="Calibri"/>
                <a:cs typeface="Calibri"/>
                <a:sym typeface="Calibri"/>
              </a:rPr>
              <a:t>he AI workflow trap(</a:t>
            </a:r>
            <a:r>
              <a:rPr lang="en-US" sz="3200" b="1">
                <a:solidFill>
                  <a:srgbClr val="111827"/>
                </a:solidFill>
                <a:latin typeface="Calibri"/>
                <a:ea typeface="Calibri"/>
                <a:cs typeface="Calibri"/>
                <a:sym typeface="Calibri"/>
              </a:rPr>
              <a:t>s)</a:t>
            </a:r>
            <a:endParaRPr/>
          </a:p>
        </p:txBody>
      </p:sp>
      <p:sp>
        <p:nvSpPr>
          <p:cNvPr id="126" name="Google Shape;126;p7"/>
          <p:cNvSpPr txBox="1"/>
          <p:nvPr/>
        </p:nvSpPr>
        <p:spPr>
          <a:xfrm>
            <a:off x="731520" y="1097280"/>
            <a:ext cx="9144000" cy="1097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rgbClr val="6B7280"/>
                </a:solidFill>
                <a:latin typeface="Calibri"/>
                <a:ea typeface="Calibri"/>
                <a:cs typeface="Calibri"/>
                <a:sym typeface="Calibri"/>
              </a:rPr>
              <a:t>You can absolutely build a reporting workflow in Claude or ChatGPT. Get it to write a Python script, hook up a cron job, pipe the output to email. It works!</a:t>
            </a:r>
            <a:endParaRPr/>
          </a:p>
        </p:txBody>
      </p:sp>
      <p:sp>
        <p:nvSpPr>
          <p:cNvPr id="127" name="Google Shape;127;p7"/>
          <p:cNvSpPr txBox="1"/>
          <p:nvPr/>
        </p:nvSpPr>
        <p:spPr>
          <a:xfrm>
            <a:off x="731525" y="2089650"/>
            <a:ext cx="10058400" cy="2308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2400" b="1" dirty="0">
                <a:solidFill>
                  <a:srgbClr val="111827"/>
                </a:solidFill>
                <a:latin typeface="Calibri"/>
                <a:ea typeface="Calibri"/>
                <a:cs typeface="Calibri"/>
                <a:sym typeface="Calibri"/>
              </a:rPr>
              <a:t>Question 1: what happens next?</a:t>
            </a:r>
            <a:endParaRPr dirty="0">
              <a:solidFill>
                <a:schemeClr val="dk1"/>
              </a:solidFill>
            </a:endParaRPr>
          </a:p>
          <a:p>
            <a:pPr marL="457200" lvl="0" indent="-355600" algn="l" rtl="0">
              <a:spcBef>
                <a:spcPts val="0"/>
              </a:spcBef>
              <a:spcAft>
                <a:spcPts val="0"/>
              </a:spcAft>
              <a:buClr>
                <a:srgbClr val="111827"/>
              </a:buClr>
              <a:buSzPts val="2000"/>
              <a:buFont typeface="Calibri"/>
              <a:buChar char="●"/>
            </a:pPr>
            <a:r>
              <a:rPr lang="en-US" sz="2000" dirty="0">
                <a:solidFill>
                  <a:srgbClr val="111827"/>
                </a:solidFill>
                <a:latin typeface="Calibri"/>
                <a:ea typeface="Calibri"/>
                <a:cs typeface="Calibri"/>
                <a:sym typeface="Calibri"/>
              </a:rPr>
              <a:t>Who maintains the script, modifies it when it needs updating?</a:t>
            </a:r>
            <a:endParaRPr dirty="0">
              <a:solidFill>
                <a:schemeClr val="dk1"/>
              </a:solidFill>
            </a:endParaRPr>
          </a:p>
          <a:p>
            <a:pPr marL="457200" lvl="0" indent="-355600" algn="l" rtl="0">
              <a:spcBef>
                <a:spcPts val="0"/>
              </a:spcBef>
              <a:spcAft>
                <a:spcPts val="0"/>
              </a:spcAft>
              <a:buClr>
                <a:srgbClr val="111827"/>
              </a:buClr>
              <a:buSzPts val="2000"/>
              <a:buFont typeface="Calibri"/>
              <a:buChar char="●"/>
            </a:pPr>
            <a:r>
              <a:rPr lang="en-US" sz="2000" dirty="0">
                <a:solidFill>
                  <a:srgbClr val="111827"/>
                </a:solidFill>
                <a:latin typeface="Calibri"/>
                <a:ea typeface="Calibri"/>
                <a:cs typeface="Calibri"/>
                <a:sym typeface="Calibri"/>
              </a:rPr>
              <a:t>What happens when you </a:t>
            </a:r>
            <a:r>
              <a:rPr lang="en-US" sz="2000" b="1" dirty="0">
                <a:solidFill>
                  <a:srgbClr val="111827"/>
                </a:solidFill>
                <a:latin typeface="Calibri"/>
                <a:ea typeface="Calibri"/>
                <a:cs typeface="Calibri"/>
                <a:sym typeface="Calibri"/>
              </a:rPr>
              <a:t>share it</a:t>
            </a:r>
            <a:r>
              <a:rPr lang="en-US" sz="2000" dirty="0">
                <a:solidFill>
                  <a:srgbClr val="111827"/>
                </a:solidFill>
                <a:latin typeface="Calibri"/>
                <a:ea typeface="Calibri"/>
                <a:cs typeface="Calibri"/>
                <a:sym typeface="Calibri"/>
              </a:rPr>
              <a:t>, and someone wants a different view of the data, e.g. filtered?</a:t>
            </a:r>
            <a:endParaRPr sz="2000" dirty="0">
              <a:solidFill>
                <a:srgbClr val="111827"/>
              </a:solidFill>
              <a:latin typeface="Calibri"/>
              <a:ea typeface="Calibri"/>
              <a:cs typeface="Calibri"/>
              <a:sym typeface="Calibri"/>
            </a:endParaRPr>
          </a:p>
          <a:p>
            <a:pPr marL="457200" lvl="0" indent="-355600" algn="l" rtl="0">
              <a:spcBef>
                <a:spcPts val="0"/>
              </a:spcBef>
              <a:spcAft>
                <a:spcPts val="0"/>
              </a:spcAft>
              <a:buClr>
                <a:srgbClr val="111827"/>
              </a:buClr>
              <a:buSzPts val="2000"/>
              <a:buFont typeface="Calibri"/>
              <a:buChar char="●"/>
            </a:pPr>
            <a:r>
              <a:rPr lang="en-US" sz="2000" dirty="0">
                <a:solidFill>
                  <a:srgbClr val="111827"/>
                </a:solidFill>
                <a:latin typeface="Calibri"/>
                <a:ea typeface="Calibri"/>
                <a:cs typeface="Calibri"/>
                <a:sym typeface="Calibri"/>
              </a:rPr>
              <a:t>This is the </a:t>
            </a:r>
            <a:r>
              <a:rPr lang="en-US" sz="2000" b="1" dirty="0">
                <a:solidFill>
                  <a:srgbClr val="111827"/>
                </a:solidFill>
                <a:latin typeface="Calibri"/>
                <a:ea typeface="Calibri"/>
                <a:cs typeface="Calibri"/>
                <a:sym typeface="Calibri"/>
              </a:rPr>
              <a:t>competence penalty</a:t>
            </a:r>
            <a:r>
              <a:rPr lang="en-US" sz="2000" dirty="0">
                <a:solidFill>
                  <a:srgbClr val="111827"/>
                </a:solidFill>
                <a:latin typeface="Calibri"/>
                <a:ea typeface="Calibri"/>
                <a:cs typeface="Calibri"/>
                <a:sym typeface="Calibri"/>
              </a:rPr>
              <a:t> – anyone who has created a great spreadsheet knows the perils of becoming the owner of “the spreadsheet.” </a:t>
            </a:r>
            <a:endParaRPr sz="2000" dirty="0">
              <a:solidFill>
                <a:srgbClr val="111827"/>
              </a:solidFill>
              <a:latin typeface="Calibri"/>
              <a:ea typeface="Calibri"/>
              <a:cs typeface="Calibri"/>
              <a:sym typeface="Calibri"/>
            </a:endParaRPr>
          </a:p>
          <a:p>
            <a:pPr marL="457200" lvl="0" indent="-355600" algn="l" rtl="0">
              <a:spcBef>
                <a:spcPts val="0"/>
              </a:spcBef>
              <a:spcAft>
                <a:spcPts val="0"/>
              </a:spcAft>
              <a:buClr>
                <a:srgbClr val="111827"/>
              </a:buClr>
              <a:buSzPts val="2000"/>
              <a:buFont typeface="Calibri"/>
              <a:buChar char="●"/>
            </a:pPr>
            <a:r>
              <a:rPr lang="en-US" sz="2000" dirty="0">
                <a:solidFill>
                  <a:srgbClr val="111827"/>
                </a:solidFill>
                <a:latin typeface="Calibri"/>
                <a:ea typeface="Calibri"/>
                <a:cs typeface="Calibri"/>
                <a:sym typeface="Calibri"/>
              </a:rPr>
              <a:t>But </a:t>
            </a:r>
            <a:r>
              <a:rPr lang="en-US" sz="2000" b="1" dirty="0">
                <a:solidFill>
                  <a:srgbClr val="111827"/>
                </a:solidFill>
                <a:latin typeface="Calibri"/>
                <a:ea typeface="Calibri"/>
                <a:cs typeface="Calibri"/>
                <a:sym typeface="Calibri"/>
              </a:rPr>
              <a:t>different</a:t>
            </a:r>
            <a:r>
              <a:rPr lang="en-US" sz="2000" dirty="0">
                <a:solidFill>
                  <a:srgbClr val="111827"/>
                </a:solidFill>
                <a:latin typeface="Calibri"/>
                <a:ea typeface="Calibri"/>
                <a:cs typeface="Calibri"/>
                <a:sym typeface="Calibri"/>
              </a:rPr>
              <a:t> and </a:t>
            </a:r>
            <a:r>
              <a:rPr lang="en-US" sz="2000" b="1" dirty="0">
                <a:solidFill>
                  <a:srgbClr val="111827"/>
                </a:solidFill>
                <a:latin typeface="Calibri"/>
                <a:ea typeface="Calibri"/>
                <a:cs typeface="Calibri"/>
                <a:sym typeface="Calibri"/>
              </a:rPr>
              <a:t>worse</a:t>
            </a:r>
            <a:r>
              <a:rPr lang="en-US" sz="2000" dirty="0">
                <a:solidFill>
                  <a:srgbClr val="111827"/>
                </a:solidFill>
                <a:latin typeface="Calibri"/>
                <a:ea typeface="Calibri"/>
                <a:cs typeface="Calibri"/>
                <a:sym typeface="Calibri"/>
              </a:rPr>
              <a:t>: now it’s code, and code you didn’t write yourself.</a:t>
            </a:r>
            <a:endParaRPr sz="2000" dirty="0">
              <a:solidFill>
                <a:srgbClr val="111827"/>
              </a:solidFill>
              <a:latin typeface="Calibri"/>
              <a:ea typeface="Calibri"/>
              <a:cs typeface="Calibri"/>
              <a:sym typeface="Calibri"/>
            </a:endParaRPr>
          </a:p>
        </p:txBody>
      </p:sp>
      <p:sp>
        <p:nvSpPr>
          <p:cNvPr id="128" name="Google Shape;128;p7"/>
          <p:cNvSpPr txBox="1"/>
          <p:nvPr/>
        </p:nvSpPr>
        <p:spPr>
          <a:xfrm>
            <a:off x="731525" y="4453625"/>
            <a:ext cx="100584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a:solidFill>
                  <a:srgbClr val="007BA1"/>
                </a:solidFill>
                <a:latin typeface="Calibri"/>
                <a:ea typeface="Calibri"/>
                <a:cs typeface="Calibri"/>
                <a:sym typeface="Calibri"/>
              </a:rPr>
              <a:t>You can build yourself a report. But now you're the data team, the DevOps team, and the support desk – none of which is your actual job.</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g38b88611d91_0_2"/>
          <p:cNvSpPr txBox="1"/>
          <p:nvPr/>
        </p:nvSpPr>
        <p:spPr>
          <a:xfrm>
            <a:off x="731520" y="274320"/>
            <a:ext cx="100584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11827"/>
                </a:solidFill>
                <a:latin typeface="Calibri"/>
                <a:ea typeface="Calibri"/>
                <a:cs typeface="Calibri"/>
                <a:sym typeface="Calibri"/>
              </a:rPr>
              <a:t>Drilldown: t</a:t>
            </a:r>
            <a:r>
              <a:rPr lang="en-US" sz="3200" b="1" i="0" u="none" strike="noStrike" cap="none">
                <a:solidFill>
                  <a:srgbClr val="111827"/>
                </a:solidFill>
                <a:latin typeface="Calibri"/>
                <a:ea typeface="Calibri"/>
                <a:cs typeface="Calibri"/>
                <a:sym typeface="Calibri"/>
              </a:rPr>
              <a:t>he AI workflow trap(</a:t>
            </a:r>
            <a:r>
              <a:rPr lang="en-US" sz="3200" b="1">
                <a:solidFill>
                  <a:srgbClr val="111827"/>
                </a:solidFill>
                <a:latin typeface="Calibri"/>
                <a:ea typeface="Calibri"/>
                <a:cs typeface="Calibri"/>
                <a:sym typeface="Calibri"/>
              </a:rPr>
              <a:t>s)</a:t>
            </a:r>
            <a:endParaRPr/>
          </a:p>
        </p:txBody>
      </p:sp>
      <p:sp>
        <p:nvSpPr>
          <p:cNvPr id="134" name="Google Shape;134;g38b88611d91_0_2"/>
          <p:cNvSpPr txBox="1"/>
          <p:nvPr/>
        </p:nvSpPr>
        <p:spPr>
          <a:xfrm>
            <a:off x="731520" y="1097280"/>
            <a:ext cx="91440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rgbClr val="6B7280"/>
                </a:solidFill>
                <a:latin typeface="Calibri"/>
                <a:ea typeface="Calibri"/>
                <a:cs typeface="Calibri"/>
                <a:sym typeface="Calibri"/>
              </a:rPr>
              <a:t>You can absolutely build a reporting workflow in Claude or ChatGPT. Get it to write a Python script, hook up a cron job, pipe the output to email. It works!</a:t>
            </a:r>
            <a:endParaRPr/>
          </a:p>
        </p:txBody>
      </p:sp>
      <p:sp>
        <p:nvSpPr>
          <p:cNvPr id="135" name="Google Shape;135;g38b88611d91_0_2"/>
          <p:cNvSpPr txBox="1"/>
          <p:nvPr/>
        </p:nvSpPr>
        <p:spPr>
          <a:xfrm>
            <a:off x="731526" y="4990175"/>
            <a:ext cx="103479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007BA1"/>
                </a:solidFill>
                <a:latin typeface="Calibri"/>
                <a:ea typeface="Calibri"/>
                <a:cs typeface="Calibri"/>
                <a:sym typeface="Calibri"/>
              </a:rPr>
              <a:t>You can build yourself a report. But even </a:t>
            </a:r>
            <a:r>
              <a:rPr lang="en-US" sz="2000" b="1">
                <a:solidFill>
                  <a:srgbClr val="007BA1"/>
                </a:solidFill>
                <a:latin typeface="Calibri"/>
                <a:ea typeface="Calibri"/>
                <a:cs typeface="Calibri"/>
                <a:sym typeface="Calibri"/>
              </a:rPr>
              <a:t>the least complexity requires you to audit and justify the calculations, and AI workflows make this more difficult.</a:t>
            </a:r>
            <a:endParaRPr/>
          </a:p>
        </p:txBody>
      </p:sp>
      <p:sp>
        <p:nvSpPr>
          <p:cNvPr id="136" name="Google Shape;136;g38b88611d91_0_2"/>
          <p:cNvSpPr txBox="1"/>
          <p:nvPr/>
        </p:nvSpPr>
        <p:spPr>
          <a:xfrm>
            <a:off x="731525" y="2043225"/>
            <a:ext cx="10347900" cy="2709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a:solidFill>
                  <a:srgbClr val="111827"/>
                </a:solidFill>
                <a:latin typeface="Calibri"/>
                <a:ea typeface="Calibri"/>
                <a:cs typeface="Calibri"/>
                <a:sym typeface="Calibri"/>
              </a:rPr>
              <a:t>Question 2: flexibility, scope, and accuracy</a:t>
            </a:r>
            <a:endParaRPr>
              <a:solidFill>
                <a:schemeClr val="dk1"/>
              </a:solidFill>
            </a:endParaRPr>
          </a:p>
          <a:p>
            <a:pPr marL="457200" lvl="0" indent="-355600" algn="l" rtl="0">
              <a:spcBef>
                <a:spcPts val="0"/>
              </a:spcBef>
              <a:spcAft>
                <a:spcPts val="0"/>
              </a:spcAft>
              <a:buClr>
                <a:srgbClr val="111827"/>
              </a:buClr>
              <a:buSzPts val="2000"/>
              <a:buFont typeface="Calibri"/>
              <a:buChar char="●"/>
            </a:pPr>
            <a:r>
              <a:rPr lang="en-US" sz="2000">
                <a:solidFill>
                  <a:srgbClr val="111827"/>
                </a:solidFill>
                <a:latin typeface="Calibri"/>
                <a:ea typeface="Calibri"/>
                <a:cs typeface="Calibri"/>
                <a:sym typeface="Calibri"/>
              </a:rPr>
              <a:t>AI workflows are is fine for simple reports: “pull these 6 numbers out of these two SaaS APIs.”</a:t>
            </a:r>
            <a:endParaRPr>
              <a:solidFill>
                <a:schemeClr val="dk1"/>
              </a:solidFill>
            </a:endParaRPr>
          </a:p>
          <a:p>
            <a:pPr marL="457200" lvl="0" indent="-355600" algn="l" rtl="0">
              <a:spcBef>
                <a:spcPts val="0"/>
              </a:spcBef>
              <a:spcAft>
                <a:spcPts val="0"/>
              </a:spcAft>
              <a:buClr>
                <a:srgbClr val="111827"/>
              </a:buClr>
              <a:buSzPts val="2000"/>
              <a:buFont typeface="Calibri"/>
              <a:buChar char="●"/>
            </a:pPr>
            <a:r>
              <a:rPr lang="en-US" sz="2000">
                <a:solidFill>
                  <a:srgbClr val="111827"/>
                </a:solidFill>
                <a:latin typeface="Calibri"/>
                <a:ea typeface="Calibri"/>
                <a:cs typeface="Calibri"/>
                <a:sym typeface="Calibri"/>
              </a:rPr>
              <a:t>Complications arise when you make a </a:t>
            </a:r>
            <a:r>
              <a:rPr lang="en-US" sz="2000" b="1">
                <a:solidFill>
                  <a:srgbClr val="111827"/>
                </a:solidFill>
                <a:latin typeface="Calibri"/>
                <a:ea typeface="Calibri"/>
                <a:cs typeface="Calibri"/>
                <a:sym typeface="Calibri"/>
              </a:rPr>
              <a:t>calculation</a:t>
            </a:r>
            <a:r>
              <a:rPr lang="en-US" sz="2000">
                <a:solidFill>
                  <a:srgbClr val="111827"/>
                </a:solidFill>
                <a:latin typeface="Calibri"/>
                <a:ea typeface="Calibri"/>
                <a:cs typeface="Calibri"/>
                <a:sym typeface="Calibri"/>
              </a:rPr>
              <a:t> – even just to combine two numbers. </a:t>
            </a:r>
            <a:endParaRPr sz="2000">
              <a:solidFill>
                <a:srgbClr val="111827"/>
              </a:solidFill>
              <a:latin typeface="Calibri"/>
              <a:ea typeface="Calibri"/>
              <a:cs typeface="Calibri"/>
              <a:sym typeface="Calibri"/>
            </a:endParaRPr>
          </a:p>
          <a:p>
            <a:pPr marL="457200" lvl="0" indent="-355600" algn="l" rtl="0">
              <a:spcBef>
                <a:spcPts val="0"/>
              </a:spcBef>
              <a:spcAft>
                <a:spcPts val="0"/>
              </a:spcAft>
              <a:buClr>
                <a:srgbClr val="111827"/>
              </a:buClr>
              <a:buSzPts val="2000"/>
              <a:buFont typeface="Calibri"/>
              <a:buChar char="●"/>
            </a:pPr>
            <a:r>
              <a:rPr lang="en-US" sz="2000">
                <a:solidFill>
                  <a:srgbClr val="111827"/>
                </a:solidFill>
                <a:latin typeface="Calibri"/>
                <a:ea typeface="Calibri"/>
                <a:cs typeface="Calibri"/>
                <a:sym typeface="Calibri"/>
              </a:rPr>
              <a:t>Calculations involve </a:t>
            </a:r>
            <a:r>
              <a:rPr lang="en-US" sz="2000" b="1">
                <a:solidFill>
                  <a:srgbClr val="111827"/>
                </a:solidFill>
                <a:latin typeface="Calibri"/>
                <a:ea typeface="Calibri"/>
                <a:cs typeface="Calibri"/>
                <a:sym typeface="Calibri"/>
              </a:rPr>
              <a:t>assumptions</a:t>
            </a:r>
            <a:r>
              <a:rPr lang="en-US" sz="2000">
                <a:solidFill>
                  <a:srgbClr val="111827"/>
                </a:solidFill>
                <a:latin typeface="Calibri"/>
                <a:ea typeface="Calibri"/>
                <a:cs typeface="Calibri"/>
                <a:sym typeface="Calibri"/>
              </a:rPr>
              <a:t> and need to be </a:t>
            </a:r>
            <a:r>
              <a:rPr lang="en-US" sz="2000" b="1">
                <a:solidFill>
                  <a:srgbClr val="111827"/>
                </a:solidFill>
                <a:latin typeface="Calibri"/>
                <a:ea typeface="Calibri"/>
                <a:cs typeface="Calibri"/>
                <a:sym typeface="Calibri"/>
              </a:rPr>
              <a:t>audited</a:t>
            </a:r>
            <a:r>
              <a:rPr lang="en-US" sz="2000">
                <a:solidFill>
                  <a:srgbClr val="111827"/>
                </a:solidFill>
                <a:latin typeface="Calibri"/>
                <a:ea typeface="Calibri"/>
                <a:cs typeface="Calibri"/>
                <a:sym typeface="Calibri"/>
              </a:rPr>
              <a:t>. Who checks the calculations and confirms the sources and assumptions are correct?</a:t>
            </a:r>
            <a:endParaRPr sz="2000">
              <a:solidFill>
                <a:srgbClr val="111827"/>
              </a:solidFill>
              <a:latin typeface="Calibri"/>
              <a:ea typeface="Calibri"/>
              <a:cs typeface="Calibri"/>
              <a:sym typeface="Calibri"/>
            </a:endParaRPr>
          </a:p>
          <a:p>
            <a:pPr marL="457200" lvl="0" indent="-355600" algn="l" rtl="0">
              <a:spcBef>
                <a:spcPts val="0"/>
              </a:spcBef>
              <a:spcAft>
                <a:spcPts val="0"/>
              </a:spcAft>
              <a:buClr>
                <a:srgbClr val="111827"/>
              </a:buClr>
              <a:buSzPts val="2000"/>
              <a:buFont typeface="Calibri"/>
              <a:buChar char="●"/>
            </a:pPr>
            <a:r>
              <a:rPr lang="en-US" sz="2000">
                <a:solidFill>
                  <a:srgbClr val="111827"/>
                </a:solidFill>
                <a:latin typeface="Calibri"/>
                <a:ea typeface="Calibri"/>
                <a:cs typeface="Calibri"/>
                <a:sym typeface="Calibri"/>
              </a:rPr>
              <a:t>AI wrote you a Python script. Can you read it and guarantee it’s coded correctly?</a:t>
            </a:r>
            <a:endParaRPr sz="2000">
              <a:solidFill>
                <a:srgbClr val="111827"/>
              </a:solidFill>
              <a:latin typeface="Calibri"/>
              <a:ea typeface="Calibri"/>
              <a:cs typeface="Calibri"/>
              <a:sym typeface="Calibri"/>
            </a:endParaRPr>
          </a:p>
          <a:p>
            <a:pPr marL="457200" lvl="0" indent="-355600" algn="l" rtl="0">
              <a:spcBef>
                <a:spcPts val="0"/>
              </a:spcBef>
              <a:spcAft>
                <a:spcPts val="0"/>
              </a:spcAft>
              <a:buClr>
                <a:srgbClr val="111827"/>
              </a:buClr>
              <a:buSzPts val="2000"/>
              <a:buFont typeface="Calibri"/>
              <a:buChar char="●"/>
            </a:pPr>
            <a:r>
              <a:rPr lang="en-US" sz="2000">
                <a:solidFill>
                  <a:srgbClr val="111827"/>
                </a:solidFill>
                <a:latin typeface="Calibri"/>
                <a:ea typeface="Calibri"/>
                <a:cs typeface="Calibri"/>
                <a:sym typeface="Calibri"/>
              </a:rPr>
              <a:t>This is the </a:t>
            </a:r>
            <a:r>
              <a:rPr lang="en-US" sz="2000" b="1">
                <a:solidFill>
                  <a:srgbClr val="111827"/>
                </a:solidFill>
                <a:latin typeface="Calibri"/>
                <a:ea typeface="Calibri"/>
                <a:cs typeface="Calibri"/>
                <a:sym typeface="Calibri"/>
              </a:rPr>
              <a:t>dueling reports </a:t>
            </a:r>
            <a:r>
              <a:rPr lang="en-US" sz="2000">
                <a:solidFill>
                  <a:srgbClr val="111827"/>
                </a:solidFill>
                <a:latin typeface="Calibri"/>
                <a:ea typeface="Calibri"/>
                <a:cs typeface="Calibri"/>
                <a:sym typeface="Calibri"/>
              </a:rPr>
              <a:t>problem: Candace’s report says x, Mike’s says y. Except worse, because AI makes the reports more opaque and difficult to audit.</a:t>
            </a:r>
            <a:endParaRPr sz="2000">
              <a:solidFill>
                <a:srgbClr val="111827"/>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g38b88611d91_0_2"/>
          <p:cNvSpPr txBox="1"/>
          <p:nvPr/>
        </p:nvSpPr>
        <p:spPr>
          <a:xfrm>
            <a:off x="731520" y="274320"/>
            <a:ext cx="100584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111827"/>
                </a:solidFill>
                <a:latin typeface="Calibri"/>
                <a:ea typeface="Calibri"/>
                <a:cs typeface="Calibri"/>
                <a:sym typeface="Calibri"/>
              </a:rPr>
              <a:t>Drilldown: AI workflows – privacy and security</a:t>
            </a:r>
            <a:endParaRPr dirty="0"/>
          </a:p>
        </p:txBody>
      </p:sp>
      <p:sp>
        <p:nvSpPr>
          <p:cNvPr id="134" name="Google Shape;134;g38b88611d91_0_2"/>
          <p:cNvSpPr txBox="1"/>
          <p:nvPr/>
        </p:nvSpPr>
        <p:spPr>
          <a:xfrm>
            <a:off x="731520" y="1097280"/>
            <a:ext cx="91440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dirty="0">
                <a:solidFill>
                  <a:srgbClr val="6B7280"/>
                </a:solidFill>
                <a:latin typeface="Calibri"/>
                <a:ea typeface="Calibri"/>
                <a:cs typeface="Calibri"/>
                <a:sym typeface="Calibri"/>
              </a:rPr>
              <a:t>You can absolutely build a reporting workflow in Claude or </a:t>
            </a:r>
            <a:r>
              <a:rPr lang="en-US" sz="2000" b="0" i="0" u="none" strike="noStrike" cap="none" dirty="0" err="1">
                <a:solidFill>
                  <a:srgbClr val="6B7280"/>
                </a:solidFill>
                <a:latin typeface="Calibri"/>
                <a:ea typeface="Calibri"/>
                <a:cs typeface="Calibri"/>
                <a:sym typeface="Calibri"/>
              </a:rPr>
              <a:t>ChatGPT</a:t>
            </a:r>
            <a:r>
              <a:rPr lang="en-US" sz="2000" b="0" i="0" u="none" strike="noStrike" cap="none" dirty="0">
                <a:solidFill>
                  <a:srgbClr val="6B7280"/>
                </a:solidFill>
                <a:latin typeface="Calibri"/>
                <a:ea typeface="Calibri"/>
                <a:cs typeface="Calibri"/>
                <a:sym typeface="Calibri"/>
              </a:rPr>
              <a:t>. Get it to write a Python script, hook up a </a:t>
            </a:r>
            <a:r>
              <a:rPr lang="en-US" sz="2000" b="0" i="0" u="none" strike="noStrike" cap="none" dirty="0" err="1">
                <a:solidFill>
                  <a:srgbClr val="6B7280"/>
                </a:solidFill>
                <a:latin typeface="Calibri"/>
                <a:ea typeface="Calibri"/>
                <a:cs typeface="Calibri"/>
                <a:sym typeface="Calibri"/>
              </a:rPr>
              <a:t>cron</a:t>
            </a:r>
            <a:r>
              <a:rPr lang="en-US" sz="2000" b="0" i="0" u="none" strike="noStrike" cap="none" dirty="0">
                <a:solidFill>
                  <a:srgbClr val="6B7280"/>
                </a:solidFill>
                <a:latin typeface="Calibri"/>
                <a:ea typeface="Calibri"/>
                <a:cs typeface="Calibri"/>
                <a:sym typeface="Calibri"/>
              </a:rPr>
              <a:t> job, pipe the output to email. It works!</a:t>
            </a:r>
            <a:endParaRPr dirty="0"/>
          </a:p>
        </p:txBody>
      </p:sp>
      <p:sp>
        <p:nvSpPr>
          <p:cNvPr id="135" name="Google Shape;135;g38b88611d91_0_2"/>
          <p:cNvSpPr txBox="1"/>
          <p:nvPr/>
        </p:nvSpPr>
        <p:spPr>
          <a:xfrm>
            <a:off x="731526" y="4990175"/>
            <a:ext cx="10347900"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rgbClr val="007BA1"/>
                </a:solidFill>
                <a:latin typeface="Calibri"/>
                <a:ea typeface="Calibri"/>
                <a:cs typeface="Calibri"/>
                <a:sym typeface="Calibri"/>
              </a:rPr>
              <a:t>It is possible to build secure data workflows with AI, but giving generalist AI tools such as GPT or Claude code acces</a:t>
            </a:r>
            <a:r>
              <a:rPr lang="en-US" sz="2000" b="1" dirty="0">
                <a:solidFill>
                  <a:srgbClr val="007BA1"/>
                </a:solidFill>
                <a:latin typeface="Calibri"/>
                <a:ea typeface="Calibri"/>
                <a:cs typeface="Calibri"/>
                <a:sym typeface="Calibri"/>
              </a:rPr>
              <a:t>s to private and/or sensitive data is a recipe for disaster.</a:t>
            </a:r>
            <a:endParaRPr dirty="0"/>
          </a:p>
        </p:txBody>
      </p:sp>
      <p:sp>
        <p:nvSpPr>
          <p:cNvPr id="136" name="Google Shape;136;g38b88611d91_0_2"/>
          <p:cNvSpPr txBox="1"/>
          <p:nvPr/>
        </p:nvSpPr>
        <p:spPr>
          <a:xfrm>
            <a:off x="731525" y="2043225"/>
            <a:ext cx="10347900" cy="209285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dirty="0">
                <a:solidFill>
                  <a:srgbClr val="111827"/>
                </a:solidFill>
                <a:latin typeface="Calibri"/>
                <a:ea typeface="Calibri"/>
                <a:cs typeface="Calibri"/>
                <a:sym typeface="Calibri"/>
              </a:rPr>
              <a:t>Question 3: how to ensure privacy and security?</a:t>
            </a:r>
            <a:endParaRPr dirty="0">
              <a:solidFill>
                <a:schemeClr val="dk1"/>
              </a:solidFill>
            </a:endParaRPr>
          </a:p>
          <a:p>
            <a:pPr marL="457200" lvl="0" indent="-355600" algn="l" rtl="0">
              <a:spcBef>
                <a:spcPts val="0"/>
              </a:spcBef>
              <a:spcAft>
                <a:spcPts val="0"/>
              </a:spcAft>
              <a:buClr>
                <a:srgbClr val="111827"/>
              </a:buClr>
              <a:buSzPts val="2000"/>
              <a:buFont typeface="Calibri"/>
              <a:buChar char="●"/>
            </a:pPr>
            <a:r>
              <a:rPr lang="en-US" sz="2000" dirty="0">
                <a:solidFill>
                  <a:srgbClr val="111827"/>
                </a:solidFill>
                <a:latin typeface="Calibri"/>
                <a:ea typeface="Calibri"/>
                <a:cs typeface="Calibri"/>
                <a:sym typeface="Calibri"/>
              </a:rPr>
              <a:t>Generalist AI tools such as Claude Code aren’t private or secure by default. When you invite them to look at your data, they will will inspect sensitive data and may train on it.</a:t>
            </a:r>
          </a:p>
          <a:p>
            <a:pPr marL="457200" lvl="0" indent="-355600" algn="l" rtl="0">
              <a:spcBef>
                <a:spcPts val="0"/>
              </a:spcBef>
              <a:spcAft>
                <a:spcPts val="0"/>
              </a:spcAft>
              <a:buClr>
                <a:srgbClr val="111827"/>
              </a:buClr>
              <a:buSzPts val="2000"/>
              <a:buFont typeface="Calibri"/>
              <a:buChar char="●"/>
            </a:pPr>
            <a:r>
              <a:rPr lang="en-US" sz="2000" dirty="0">
                <a:solidFill>
                  <a:srgbClr val="111827"/>
                </a:solidFill>
                <a:latin typeface="Calibri"/>
                <a:ea typeface="Calibri"/>
                <a:cs typeface="Calibri"/>
                <a:sym typeface="Calibri"/>
              </a:rPr>
              <a:t>You can build a workflow that is secure, but it requires knowledge, discipline, and auditing. </a:t>
            </a:r>
          </a:p>
          <a:p>
            <a:pPr marL="457200" lvl="0" indent="-355600" algn="l" rtl="0">
              <a:spcBef>
                <a:spcPts val="0"/>
              </a:spcBef>
              <a:spcAft>
                <a:spcPts val="0"/>
              </a:spcAft>
              <a:buClr>
                <a:srgbClr val="111827"/>
              </a:buClr>
              <a:buSzPts val="2000"/>
              <a:buFont typeface="Calibri"/>
              <a:buChar char="●"/>
            </a:pPr>
            <a:r>
              <a:rPr lang="en-US" sz="2000" dirty="0">
                <a:solidFill>
                  <a:srgbClr val="111827"/>
                </a:solidFill>
                <a:latin typeface="Calibri"/>
                <a:ea typeface="Calibri"/>
                <a:cs typeface="Calibri"/>
                <a:sym typeface="Calibri"/>
              </a:rPr>
              <a:t>For any regulated industry, such as finance or healthcare, allowing your team to use generalist AI tools with your data is a terrible idea and may in fact be illegal.</a:t>
            </a:r>
            <a:endParaRPr sz="2000" dirty="0">
              <a:solidFill>
                <a:srgbClr val="111827"/>
              </a:solidFill>
              <a:latin typeface="Calibri"/>
              <a:ea typeface="Calibri"/>
              <a:cs typeface="Calibri"/>
              <a:sym typeface="Calibri"/>
            </a:endParaRPr>
          </a:p>
        </p:txBody>
      </p:sp>
    </p:spTree>
    <p:extLst>
      <p:ext uri="{BB962C8B-B14F-4D97-AF65-F5344CB8AC3E}">
        <p14:creationId xmlns:p14="http://schemas.microsoft.com/office/powerpoint/2010/main" val="1159411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7BA1"/>
        </a:solidFill>
        <a:effectLst/>
      </p:bgPr>
    </p:bg>
    <p:spTree>
      <p:nvGrpSpPr>
        <p:cNvPr id="1" name="Shape 140"/>
        <p:cNvGrpSpPr/>
        <p:nvPr/>
      </p:nvGrpSpPr>
      <p:grpSpPr>
        <a:xfrm>
          <a:off x="0" y="0"/>
          <a:ext cx="0" cy="0"/>
          <a:chOff x="0" y="0"/>
          <a:chExt cx="0" cy="0"/>
        </a:xfrm>
      </p:grpSpPr>
      <p:sp>
        <p:nvSpPr>
          <p:cNvPr id="141" name="Google Shape;141;p8"/>
          <p:cNvSpPr txBox="1"/>
          <p:nvPr/>
        </p:nvSpPr>
        <p:spPr>
          <a:xfrm>
            <a:off x="1371600" y="2286000"/>
            <a:ext cx="91440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dirty="0">
                <a:solidFill>
                  <a:srgbClr val="FFFFFF"/>
                </a:solidFill>
                <a:latin typeface="Calibri"/>
                <a:ea typeface="Calibri"/>
                <a:cs typeface="Calibri"/>
                <a:sym typeface="Calibri"/>
              </a:rPr>
              <a:t>The</a:t>
            </a:r>
            <a:r>
              <a:rPr lang="en-US" sz="4000" b="1" i="0" u="none" strike="noStrike" cap="none" dirty="0">
                <a:solidFill>
                  <a:srgbClr val="FFFFFF"/>
                </a:solidFill>
                <a:latin typeface="Calibri"/>
                <a:ea typeface="Calibri"/>
                <a:cs typeface="Calibri"/>
                <a:sym typeface="Calibri"/>
              </a:rPr>
              <a:t> Dashbud </a:t>
            </a:r>
            <a:r>
              <a:rPr lang="en-US" sz="4000" b="1" dirty="0">
                <a:solidFill>
                  <a:srgbClr val="FFFFFF"/>
                </a:solidFill>
                <a:latin typeface="Calibri"/>
                <a:ea typeface="Calibri"/>
                <a:cs typeface="Calibri"/>
                <a:sym typeface="Calibri"/>
              </a:rPr>
              <a:t>difference</a:t>
            </a:r>
            <a:endParaRPr dirty="0"/>
          </a:p>
        </p:txBody>
      </p:sp>
      <p:sp>
        <p:nvSpPr>
          <p:cNvPr id="142" name="Google Shape;142;p8"/>
          <p:cNvSpPr txBox="1"/>
          <p:nvPr/>
        </p:nvSpPr>
        <p:spPr>
          <a:xfrm>
            <a:off x="1371600" y="3840480"/>
            <a:ext cx="9144000" cy="430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0" i="0" u="none" strike="noStrike" cap="none">
                <a:solidFill>
                  <a:srgbClr val="E0F4F9"/>
                </a:solidFill>
                <a:latin typeface="Calibri"/>
                <a:ea typeface="Calibri"/>
                <a:cs typeface="Calibri"/>
                <a:sym typeface="Calibri"/>
              </a:rPr>
              <a:t>AI-powered analytics for all your data and your t</a:t>
            </a:r>
            <a:r>
              <a:rPr lang="en-US" sz="2200">
                <a:solidFill>
                  <a:srgbClr val="E0F4F9"/>
                </a:solidFill>
                <a:latin typeface="Calibri"/>
                <a:ea typeface="Calibri"/>
                <a:cs typeface="Calibri"/>
                <a:sym typeface="Calibri"/>
              </a:rPr>
              <a:t>eam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9"/>
          <p:cNvSpPr txBox="1"/>
          <p:nvPr/>
        </p:nvSpPr>
        <p:spPr>
          <a:xfrm>
            <a:off x="731520" y="274320"/>
            <a:ext cx="100584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111827"/>
                </a:solidFill>
                <a:latin typeface="Calibri"/>
                <a:ea typeface="Calibri"/>
                <a:cs typeface="Calibri"/>
                <a:sym typeface="Calibri"/>
              </a:rPr>
              <a:t>The Dashbud versus…</a:t>
            </a:r>
            <a:endParaRPr dirty="0"/>
          </a:p>
        </p:txBody>
      </p:sp>
      <p:sp>
        <p:nvSpPr>
          <p:cNvPr id="148" name="TextBox 147"/>
          <p:cNvSpPr txBox="1"/>
          <p:nvPr/>
        </p:nvSpPr>
        <p:spPr>
          <a:xfrm>
            <a:off x="731520" y="1188720"/>
            <a:ext cx="2743200" cy="400110"/>
          </a:xfrm>
          <a:prstGeom prst="rect">
            <a:avLst/>
          </a:prstGeom>
          <a:noFill/>
        </p:spPr>
        <p:txBody>
          <a:bodyPr wrap="square">
            <a:spAutoFit/>
          </a:bodyPr>
          <a:lstStyle/>
          <a:p>
            <a:pPr>
              <a:defRPr sz="2000" b="1">
                <a:solidFill>
                  <a:srgbClr val="007BA1"/>
                </a:solidFill>
                <a:latin typeface="Calibri"/>
              </a:defRPr>
            </a:pPr>
            <a:r>
              <a:rPr dirty="0"/>
              <a:t>SaaS dashboards</a:t>
            </a:r>
          </a:p>
        </p:txBody>
      </p:sp>
      <p:sp>
        <p:nvSpPr>
          <p:cNvPr id="149" name="TextBox 148"/>
          <p:cNvSpPr txBox="1"/>
          <p:nvPr/>
        </p:nvSpPr>
        <p:spPr>
          <a:xfrm>
            <a:off x="3474720" y="1188720"/>
            <a:ext cx="7772400" cy="646331"/>
          </a:xfrm>
          <a:prstGeom prst="rect">
            <a:avLst/>
          </a:prstGeom>
          <a:noFill/>
        </p:spPr>
        <p:txBody>
          <a:bodyPr wrap="square">
            <a:spAutoFit/>
          </a:bodyPr>
          <a:lstStyle/>
          <a:p>
            <a:pPr marL="285750" indent="-285750">
              <a:buFont typeface="Arial" panose="020B0604020202020204" pitchFamily="34" charset="0"/>
              <a:buChar char="•"/>
              <a:defRPr sz="1800">
                <a:solidFill>
                  <a:srgbClr val="6B7280"/>
                </a:solidFill>
                <a:latin typeface="Calibri"/>
              </a:defRPr>
            </a:pPr>
            <a:r>
              <a:rPr lang="en-US" dirty="0"/>
              <a:t>Well-designed c</a:t>
            </a:r>
            <a:r>
              <a:rPr dirty="0"/>
              <a:t>onversational interface</a:t>
            </a:r>
            <a:r>
              <a:rPr lang="en-US" dirty="0"/>
              <a:t> – not an afterthought</a:t>
            </a:r>
            <a:r>
              <a:rPr dirty="0"/>
              <a:t>. </a:t>
            </a:r>
            <a:endParaRPr lang="en-US" dirty="0"/>
          </a:p>
          <a:p>
            <a:pPr marL="285750" indent="-285750">
              <a:buFont typeface="Arial" panose="020B0604020202020204" pitchFamily="34" charset="0"/>
              <a:buChar char="•"/>
              <a:defRPr sz="1800">
                <a:solidFill>
                  <a:srgbClr val="6B7280"/>
                </a:solidFill>
                <a:latin typeface="Calibri"/>
              </a:defRPr>
            </a:pPr>
            <a:r>
              <a:rPr dirty="0"/>
              <a:t>Works across multiple data sources — not siloed.</a:t>
            </a:r>
          </a:p>
        </p:txBody>
      </p:sp>
      <p:sp>
        <p:nvSpPr>
          <p:cNvPr id="150" name="TextBox 149"/>
          <p:cNvSpPr txBox="1"/>
          <p:nvPr/>
        </p:nvSpPr>
        <p:spPr>
          <a:xfrm>
            <a:off x="731520" y="2468880"/>
            <a:ext cx="2743200" cy="400110"/>
          </a:xfrm>
          <a:prstGeom prst="rect">
            <a:avLst/>
          </a:prstGeom>
          <a:noFill/>
        </p:spPr>
        <p:txBody>
          <a:bodyPr wrap="square">
            <a:spAutoFit/>
          </a:bodyPr>
          <a:lstStyle/>
          <a:p>
            <a:pPr>
              <a:defRPr sz="2000" b="1">
                <a:solidFill>
                  <a:srgbClr val="007BA1"/>
                </a:solidFill>
                <a:latin typeface="Calibri"/>
              </a:defRPr>
            </a:pPr>
            <a:r>
              <a:rPr dirty="0"/>
              <a:t>BI tools</a:t>
            </a:r>
          </a:p>
        </p:txBody>
      </p:sp>
      <p:sp>
        <p:nvSpPr>
          <p:cNvPr id="151" name="TextBox 150"/>
          <p:cNvSpPr txBox="1"/>
          <p:nvPr/>
        </p:nvSpPr>
        <p:spPr>
          <a:xfrm>
            <a:off x="3474720" y="2468880"/>
            <a:ext cx="7772400" cy="923330"/>
          </a:xfrm>
          <a:prstGeom prst="rect">
            <a:avLst/>
          </a:prstGeom>
          <a:noFill/>
        </p:spPr>
        <p:txBody>
          <a:bodyPr wrap="square">
            <a:spAutoFit/>
          </a:bodyPr>
          <a:lstStyle/>
          <a:p>
            <a:pPr marL="285750" indent="-285750">
              <a:buFont typeface="Arial" panose="020B0604020202020204" pitchFamily="34" charset="0"/>
              <a:buChar char="•"/>
              <a:defRPr sz="1800">
                <a:solidFill>
                  <a:srgbClr val="6B7280"/>
                </a:solidFill>
                <a:latin typeface="Calibri"/>
              </a:defRPr>
            </a:pPr>
            <a:r>
              <a:rPr dirty="0"/>
              <a:t>Same analytical </a:t>
            </a:r>
            <a:r>
              <a:rPr lang="en-US" dirty="0"/>
              <a:t>power and polished display formatting</a:t>
            </a:r>
            <a:r>
              <a:rPr dirty="0"/>
              <a:t>.</a:t>
            </a:r>
            <a:endParaRPr lang="en-US" dirty="0"/>
          </a:p>
          <a:p>
            <a:pPr marL="285750" indent="-285750">
              <a:buFont typeface="Arial" panose="020B0604020202020204" pitchFamily="34" charset="0"/>
              <a:buChar char="•"/>
              <a:defRPr sz="1800">
                <a:solidFill>
                  <a:srgbClr val="6B7280"/>
                </a:solidFill>
                <a:latin typeface="Calibri"/>
              </a:defRPr>
            </a:pPr>
            <a:r>
              <a:rPr lang="en-US" dirty="0"/>
              <a:t>Interactive charts and dashboards out of the box.</a:t>
            </a:r>
            <a:r>
              <a:rPr dirty="0"/>
              <a:t> </a:t>
            </a:r>
            <a:endParaRPr lang="en-US" dirty="0"/>
          </a:p>
          <a:p>
            <a:pPr marL="285750" indent="-285750">
              <a:buFont typeface="Arial" panose="020B0604020202020204" pitchFamily="34" charset="0"/>
              <a:buChar char="•"/>
              <a:defRPr sz="1800">
                <a:solidFill>
                  <a:srgbClr val="6B7280"/>
                </a:solidFill>
                <a:latin typeface="Calibri"/>
              </a:defRPr>
            </a:pPr>
            <a:r>
              <a:rPr lang="en-US" dirty="0"/>
              <a:t>Weeks of p</a:t>
            </a:r>
            <a:r>
              <a:rPr dirty="0"/>
              <a:t>latform training </a:t>
            </a:r>
            <a:r>
              <a:rPr lang="en-US" dirty="0"/>
              <a:t>not </a:t>
            </a:r>
            <a:r>
              <a:rPr dirty="0"/>
              <a:t>required.</a:t>
            </a:r>
          </a:p>
        </p:txBody>
      </p:sp>
      <p:sp>
        <p:nvSpPr>
          <p:cNvPr id="152" name="TextBox 151"/>
          <p:cNvSpPr txBox="1"/>
          <p:nvPr/>
        </p:nvSpPr>
        <p:spPr>
          <a:xfrm>
            <a:off x="731520" y="3749039"/>
            <a:ext cx="2743200" cy="400110"/>
          </a:xfrm>
          <a:prstGeom prst="rect">
            <a:avLst/>
          </a:prstGeom>
          <a:noFill/>
        </p:spPr>
        <p:txBody>
          <a:bodyPr wrap="square">
            <a:spAutoFit/>
          </a:bodyPr>
          <a:lstStyle/>
          <a:p>
            <a:pPr>
              <a:defRPr sz="2000" b="1">
                <a:solidFill>
                  <a:srgbClr val="007BA1"/>
                </a:solidFill>
                <a:latin typeface="Calibri"/>
              </a:defRPr>
            </a:pPr>
            <a:r>
              <a:rPr lang="en-US" dirty="0"/>
              <a:t>S</a:t>
            </a:r>
            <a:r>
              <a:rPr dirty="0"/>
              <a:t>preadsheets</a:t>
            </a:r>
          </a:p>
        </p:txBody>
      </p:sp>
      <p:sp>
        <p:nvSpPr>
          <p:cNvPr id="153" name="TextBox 152"/>
          <p:cNvSpPr txBox="1"/>
          <p:nvPr/>
        </p:nvSpPr>
        <p:spPr>
          <a:xfrm>
            <a:off x="3474720" y="3749039"/>
            <a:ext cx="7772400" cy="646331"/>
          </a:xfrm>
          <a:prstGeom prst="rect">
            <a:avLst/>
          </a:prstGeom>
          <a:noFill/>
        </p:spPr>
        <p:txBody>
          <a:bodyPr wrap="square">
            <a:spAutoFit/>
          </a:bodyPr>
          <a:lstStyle/>
          <a:p>
            <a:pPr marL="285750" indent="-285750">
              <a:buFont typeface="Arial" panose="020B0604020202020204" pitchFamily="34" charset="0"/>
              <a:buChar char="•"/>
              <a:defRPr sz="1800">
                <a:solidFill>
                  <a:srgbClr val="6B7280"/>
                </a:solidFill>
                <a:latin typeface="Calibri"/>
              </a:defRPr>
            </a:pPr>
            <a:r>
              <a:rPr dirty="0"/>
              <a:t>Flexible reporting without the fragility. </a:t>
            </a:r>
            <a:endParaRPr lang="en-US" dirty="0"/>
          </a:p>
          <a:p>
            <a:pPr marL="285750" indent="-285750">
              <a:buFont typeface="Arial" panose="020B0604020202020204" pitchFamily="34" charset="0"/>
              <a:buChar char="•"/>
              <a:defRPr sz="1800">
                <a:solidFill>
                  <a:srgbClr val="6B7280"/>
                </a:solidFill>
                <a:latin typeface="Calibri"/>
              </a:defRPr>
            </a:pPr>
            <a:r>
              <a:rPr dirty="0"/>
              <a:t>Built-in data updates, versioning, rollback.</a:t>
            </a:r>
          </a:p>
        </p:txBody>
      </p:sp>
      <p:sp>
        <p:nvSpPr>
          <p:cNvPr id="154" name="TextBox 153"/>
          <p:cNvSpPr txBox="1"/>
          <p:nvPr/>
        </p:nvSpPr>
        <p:spPr>
          <a:xfrm>
            <a:off x="731520" y="5029199"/>
            <a:ext cx="2743200" cy="400110"/>
          </a:xfrm>
          <a:prstGeom prst="rect">
            <a:avLst/>
          </a:prstGeom>
          <a:noFill/>
        </p:spPr>
        <p:txBody>
          <a:bodyPr wrap="square">
            <a:spAutoFit/>
          </a:bodyPr>
          <a:lstStyle/>
          <a:p>
            <a:pPr>
              <a:defRPr sz="2000" b="1">
                <a:solidFill>
                  <a:srgbClr val="007BA1"/>
                </a:solidFill>
                <a:latin typeface="Calibri"/>
              </a:defRPr>
            </a:pPr>
            <a:r>
              <a:rPr dirty="0"/>
              <a:t>AI workflows</a:t>
            </a:r>
          </a:p>
        </p:txBody>
      </p:sp>
      <p:sp>
        <p:nvSpPr>
          <p:cNvPr id="155" name="TextBox 154"/>
          <p:cNvSpPr txBox="1"/>
          <p:nvPr/>
        </p:nvSpPr>
        <p:spPr>
          <a:xfrm>
            <a:off x="3474720" y="5029199"/>
            <a:ext cx="7772400" cy="1200329"/>
          </a:xfrm>
          <a:prstGeom prst="rect">
            <a:avLst/>
          </a:prstGeom>
          <a:noFill/>
        </p:spPr>
        <p:txBody>
          <a:bodyPr wrap="square">
            <a:spAutoFit/>
          </a:bodyPr>
          <a:lstStyle/>
          <a:p>
            <a:pPr marL="285750" indent="-285750">
              <a:buFont typeface="Arial" panose="020B0604020202020204" pitchFamily="34" charset="0"/>
              <a:buChar char="•"/>
              <a:defRPr sz="1800">
                <a:solidFill>
                  <a:srgbClr val="6B7280"/>
                </a:solidFill>
                <a:latin typeface="Calibri"/>
              </a:defRPr>
            </a:pPr>
            <a:r>
              <a:rPr dirty="0"/>
              <a:t>Same AI-powered outputs — but the infrastructure is built for you.</a:t>
            </a:r>
          </a:p>
          <a:p>
            <a:pPr marL="285750" indent="-285750">
              <a:buFont typeface="Arial" panose="020B0604020202020204" pitchFamily="34" charset="0"/>
              <a:buChar char="•"/>
              <a:defRPr sz="1800">
                <a:solidFill>
                  <a:srgbClr val="6B7280"/>
                </a:solidFill>
                <a:latin typeface="Calibri"/>
              </a:defRPr>
            </a:pPr>
            <a:r>
              <a:rPr dirty="0"/>
              <a:t>Calculations are auditable SQL.</a:t>
            </a:r>
          </a:p>
          <a:p>
            <a:pPr marL="285750" indent="-285750">
              <a:buFont typeface="Arial" panose="020B0604020202020204" pitchFamily="34" charset="0"/>
              <a:buChar char="•"/>
              <a:defRPr sz="1800">
                <a:solidFill>
                  <a:srgbClr val="6B7280"/>
                </a:solidFill>
                <a:latin typeface="Calibri"/>
              </a:defRPr>
            </a:pPr>
            <a:r>
              <a:rPr dirty="0"/>
              <a:t>Business rules and assumptions are share</a:t>
            </a:r>
            <a:r>
              <a:rPr lang="en-US" dirty="0"/>
              <a:t>d: decided</a:t>
            </a:r>
            <a:r>
              <a:rPr dirty="0"/>
              <a:t> by agreement, not </a:t>
            </a:r>
            <a:r>
              <a:rPr lang="en-US" dirty="0"/>
              <a:t>an AI</a:t>
            </a:r>
            <a:r>
              <a:rPr dirty="0"/>
              <a:t> script.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1520" y="274320"/>
            <a:ext cx="10058400" cy="584775"/>
          </a:xfrm>
          <a:prstGeom prst="rect">
            <a:avLst/>
          </a:prstGeom>
          <a:noFill/>
        </p:spPr>
        <p:txBody>
          <a:bodyPr wrap="square">
            <a:spAutoFit/>
          </a:bodyPr>
          <a:lstStyle/>
          <a:p>
            <a:pPr>
              <a:defRPr sz="3200" b="1">
                <a:solidFill>
                  <a:srgbClr val="111827"/>
                </a:solidFill>
                <a:latin typeface="Calibri"/>
              </a:defRPr>
            </a:pPr>
            <a:r>
              <a:rPr lang="en-US" dirty="0"/>
              <a:t>Switching to Dashbud is easy</a:t>
            </a:r>
            <a:endParaRPr dirty="0"/>
          </a:p>
        </p:txBody>
      </p:sp>
      <p:sp>
        <p:nvSpPr>
          <p:cNvPr id="4" name="TextBox 3"/>
          <p:cNvSpPr txBox="1"/>
          <p:nvPr/>
        </p:nvSpPr>
        <p:spPr>
          <a:xfrm>
            <a:off x="731521" y="1188720"/>
            <a:ext cx="2718262" cy="400110"/>
          </a:xfrm>
          <a:prstGeom prst="rect">
            <a:avLst/>
          </a:prstGeom>
          <a:noFill/>
        </p:spPr>
        <p:txBody>
          <a:bodyPr wrap="square">
            <a:spAutoFit/>
          </a:bodyPr>
          <a:lstStyle/>
          <a:p>
            <a:pPr>
              <a:defRPr sz="2000" b="1">
                <a:solidFill>
                  <a:srgbClr val="007BA1"/>
                </a:solidFill>
                <a:latin typeface="Calibri"/>
              </a:defRPr>
            </a:pPr>
            <a:r>
              <a:rPr dirty="0"/>
              <a:t>Your spreadsheets →</a:t>
            </a:r>
          </a:p>
        </p:txBody>
      </p:sp>
      <p:sp>
        <p:nvSpPr>
          <p:cNvPr id="5" name="TextBox 4"/>
          <p:cNvSpPr txBox="1"/>
          <p:nvPr/>
        </p:nvSpPr>
        <p:spPr>
          <a:xfrm>
            <a:off x="3931920" y="1188720"/>
            <a:ext cx="7315200" cy="697627"/>
          </a:xfrm>
          <a:prstGeom prst="rect">
            <a:avLst/>
          </a:prstGeom>
          <a:noFill/>
        </p:spPr>
        <p:txBody>
          <a:bodyPr wrap="square">
            <a:spAutoFit/>
          </a:bodyPr>
          <a:lstStyle/>
          <a:p>
            <a:pPr marL="285750" indent="-285750">
              <a:spcAft>
                <a:spcPts val="400"/>
              </a:spcAft>
              <a:buFont typeface="Arial" panose="020B0604020202020204" pitchFamily="34" charset="0"/>
              <a:buChar char="•"/>
              <a:defRPr sz="1800">
                <a:solidFill>
                  <a:srgbClr val="6B7280"/>
                </a:solidFill>
                <a:latin typeface="Calibri"/>
              </a:defRPr>
            </a:pPr>
            <a:r>
              <a:rPr dirty="0"/>
              <a:t>Upload them. Ask questions in plain English.</a:t>
            </a:r>
          </a:p>
          <a:p>
            <a:pPr marL="285750" indent="-285750">
              <a:spcAft>
                <a:spcPts val="400"/>
              </a:spcAft>
              <a:buFont typeface="Arial" panose="020B0604020202020204" pitchFamily="34" charset="0"/>
              <a:buChar char="•"/>
              <a:defRPr sz="1800">
                <a:solidFill>
                  <a:srgbClr val="6B7280"/>
                </a:solidFill>
                <a:latin typeface="Calibri"/>
              </a:defRPr>
            </a:pPr>
            <a:r>
              <a:rPr lang="en-US" dirty="0"/>
              <a:t>Replace complex, fragile tables with stable reports</a:t>
            </a:r>
            <a:r>
              <a:rPr dirty="0"/>
              <a:t>.</a:t>
            </a:r>
          </a:p>
        </p:txBody>
      </p:sp>
      <p:sp>
        <p:nvSpPr>
          <p:cNvPr id="6" name="TextBox 5"/>
          <p:cNvSpPr txBox="1"/>
          <p:nvPr/>
        </p:nvSpPr>
        <p:spPr>
          <a:xfrm>
            <a:off x="731520" y="2351890"/>
            <a:ext cx="2718263" cy="440121"/>
          </a:xfrm>
          <a:prstGeom prst="rect">
            <a:avLst/>
          </a:prstGeom>
          <a:noFill/>
        </p:spPr>
        <p:txBody>
          <a:bodyPr wrap="square">
            <a:spAutoFit/>
          </a:bodyPr>
          <a:lstStyle/>
          <a:p>
            <a:pPr>
              <a:defRPr sz="2000" b="1">
                <a:solidFill>
                  <a:srgbClr val="007BA1"/>
                </a:solidFill>
                <a:latin typeface="Calibri"/>
              </a:defRPr>
            </a:pPr>
            <a:r>
              <a:rPr dirty="0"/>
              <a:t>Your SaaS platforms →</a:t>
            </a:r>
          </a:p>
        </p:txBody>
      </p:sp>
      <p:sp>
        <p:nvSpPr>
          <p:cNvPr id="7" name="TextBox 6"/>
          <p:cNvSpPr txBox="1"/>
          <p:nvPr/>
        </p:nvSpPr>
        <p:spPr>
          <a:xfrm>
            <a:off x="3931920" y="2337013"/>
            <a:ext cx="7315200" cy="767390"/>
          </a:xfrm>
          <a:prstGeom prst="rect">
            <a:avLst/>
          </a:prstGeom>
          <a:noFill/>
        </p:spPr>
        <p:txBody>
          <a:bodyPr wrap="square">
            <a:spAutoFit/>
          </a:bodyPr>
          <a:lstStyle/>
          <a:p>
            <a:pPr marL="285750" indent="-285750">
              <a:spcAft>
                <a:spcPts val="400"/>
              </a:spcAft>
              <a:buFont typeface="Arial" panose="020B0604020202020204" pitchFamily="34" charset="0"/>
              <a:buChar char="•"/>
              <a:defRPr sz="1800">
                <a:solidFill>
                  <a:srgbClr val="6B7280"/>
                </a:solidFill>
                <a:latin typeface="Calibri"/>
              </a:defRPr>
            </a:pPr>
            <a:r>
              <a:rPr dirty="0"/>
              <a:t>Connect </a:t>
            </a:r>
            <a:r>
              <a:rPr lang="en-US" dirty="0"/>
              <a:t>via API</a:t>
            </a:r>
            <a:r>
              <a:rPr dirty="0"/>
              <a:t>. See all your data in one place.</a:t>
            </a:r>
          </a:p>
          <a:p>
            <a:pPr marL="285750" indent="-285750">
              <a:spcAft>
                <a:spcPts val="400"/>
              </a:spcAft>
              <a:buFont typeface="Arial" panose="020B0604020202020204" pitchFamily="34" charset="0"/>
              <a:buChar char="•"/>
              <a:defRPr sz="1800">
                <a:solidFill>
                  <a:srgbClr val="6B7280"/>
                </a:solidFill>
                <a:latin typeface="Calibri"/>
              </a:defRPr>
            </a:pPr>
            <a:r>
              <a:rPr dirty="0"/>
              <a:t>Stop switching between dashboards.</a:t>
            </a:r>
          </a:p>
        </p:txBody>
      </p:sp>
      <p:sp>
        <p:nvSpPr>
          <p:cNvPr id="8" name="TextBox 7"/>
          <p:cNvSpPr txBox="1"/>
          <p:nvPr/>
        </p:nvSpPr>
        <p:spPr>
          <a:xfrm>
            <a:off x="731520" y="3541214"/>
            <a:ext cx="2718263" cy="400110"/>
          </a:xfrm>
          <a:prstGeom prst="rect">
            <a:avLst/>
          </a:prstGeom>
          <a:noFill/>
        </p:spPr>
        <p:txBody>
          <a:bodyPr wrap="square">
            <a:spAutoFit/>
          </a:bodyPr>
          <a:lstStyle/>
          <a:p>
            <a:pPr>
              <a:defRPr sz="2000" b="1">
                <a:solidFill>
                  <a:srgbClr val="007BA1"/>
                </a:solidFill>
                <a:latin typeface="Calibri"/>
              </a:defRPr>
            </a:pPr>
            <a:r>
              <a:rPr dirty="0"/>
              <a:t>Your database/ERP →</a:t>
            </a:r>
          </a:p>
        </p:txBody>
      </p:sp>
      <p:sp>
        <p:nvSpPr>
          <p:cNvPr id="9" name="TextBox 8"/>
          <p:cNvSpPr txBox="1"/>
          <p:nvPr/>
        </p:nvSpPr>
        <p:spPr>
          <a:xfrm>
            <a:off x="3931920" y="3541214"/>
            <a:ext cx="7315200" cy="697627"/>
          </a:xfrm>
          <a:prstGeom prst="rect">
            <a:avLst/>
          </a:prstGeom>
          <a:noFill/>
        </p:spPr>
        <p:txBody>
          <a:bodyPr wrap="square">
            <a:spAutoFit/>
          </a:bodyPr>
          <a:lstStyle/>
          <a:p>
            <a:pPr marL="285750" indent="-285750">
              <a:spcAft>
                <a:spcPts val="400"/>
              </a:spcAft>
              <a:buFont typeface="Arial" panose="020B0604020202020204" pitchFamily="34" charset="0"/>
              <a:buChar char="•"/>
              <a:defRPr sz="1800">
                <a:solidFill>
                  <a:srgbClr val="6B7280"/>
                </a:solidFill>
                <a:latin typeface="Calibri"/>
              </a:defRPr>
            </a:pPr>
            <a:r>
              <a:rPr dirty="0"/>
              <a:t>Connect </a:t>
            </a:r>
            <a:r>
              <a:rPr lang="en-US" dirty="0"/>
              <a:t>databases </a:t>
            </a:r>
            <a:r>
              <a:rPr dirty="0"/>
              <a:t>directly</a:t>
            </a:r>
            <a:r>
              <a:rPr lang="en-US" dirty="0"/>
              <a:t>; r</a:t>
            </a:r>
            <a:r>
              <a:rPr dirty="0"/>
              <a:t>eports update live.</a:t>
            </a:r>
            <a:endParaRPr lang="en-US" dirty="0"/>
          </a:p>
          <a:p>
            <a:pPr marL="285750" indent="-285750">
              <a:spcAft>
                <a:spcPts val="400"/>
              </a:spcAft>
              <a:buFont typeface="Arial" panose="020B0604020202020204" pitchFamily="34" charset="0"/>
              <a:buChar char="•"/>
              <a:defRPr sz="1800">
                <a:solidFill>
                  <a:srgbClr val="6B7280"/>
                </a:solidFill>
                <a:latin typeface="Calibri"/>
              </a:defRPr>
            </a:pPr>
            <a:r>
              <a:rPr lang="en-US" dirty="0"/>
              <a:t>Dashbud facilitates ingesting exports and ETL.</a:t>
            </a:r>
            <a:endParaRPr dirty="0"/>
          </a:p>
        </p:txBody>
      </p:sp>
      <p:sp>
        <p:nvSpPr>
          <p:cNvPr id="10" name="TextBox 9"/>
          <p:cNvSpPr txBox="1"/>
          <p:nvPr/>
        </p:nvSpPr>
        <p:spPr>
          <a:xfrm>
            <a:off x="731520" y="4710534"/>
            <a:ext cx="2718263" cy="400110"/>
          </a:xfrm>
          <a:prstGeom prst="rect">
            <a:avLst/>
          </a:prstGeom>
          <a:noFill/>
        </p:spPr>
        <p:txBody>
          <a:bodyPr wrap="square">
            <a:spAutoFit/>
          </a:bodyPr>
          <a:lstStyle/>
          <a:p>
            <a:pPr>
              <a:defRPr sz="2000" b="1">
                <a:solidFill>
                  <a:srgbClr val="007BA1"/>
                </a:solidFill>
                <a:latin typeface="Calibri"/>
              </a:defRPr>
            </a:pPr>
            <a:r>
              <a:rPr dirty="0"/>
              <a:t>Your AI workflow</a:t>
            </a:r>
            <a:r>
              <a:rPr lang="en-US" dirty="0"/>
              <a:t>s</a:t>
            </a:r>
            <a:r>
              <a:rPr dirty="0"/>
              <a:t> →</a:t>
            </a:r>
          </a:p>
        </p:txBody>
      </p:sp>
      <p:sp>
        <p:nvSpPr>
          <p:cNvPr id="11" name="TextBox 10"/>
          <p:cNvSpPr txBox="1"/>
          <p:nvPr/>
        </p:nvSpPr>
        <p:spPr>
          <a:xfrm>
            <a:off x="3931920" y="4710534"/>
            <a:ext cx="7315200" cy="1631216"/>
          </a:xfrm>
          <a:prstGeom prst="rect">
            <a:avLst/>
          </a:prstGeom>
          <a:noFill/>
        </p:spPr>
        <p:txBody>
          <a:bodyPr wrap="square">
            <a:spAutoFit/>
          </a:bodyPr>
          <a:lstStyle/>
          <a:p>
            <a:pPr marL="285750" indent="-285750">
              <a:spcAft>
                <a:spcPts val="400"/>
              </a:spcAft>
              <a:buFont typeface="Arial" panose="020B0604020202020204" pitchFamily="34" charset="0"/>
              <a:buChar char="•"/>
              <a:defRPr sz="1800">
                <a:solidFill>
                  <a:srgbClr val="6B7280"/>
                </a:solidFill>
                <a:latin typeface="Calibri"/>
              </a:defRPr>
            </a:pPr>
            <a:r>
              <a:rPr lang="en-US" dirty="0"/>
              <a:t>Create the same</a:t>
            </a:r>
            <a:r>
              <a:rPr dirty="0"/>
              <a:t> </a:t>
            </a:r>
            <a:r>
              <a:rPr lang="en-US" dirty="0"/>
              <a:t>workflows easily; lose the</a:t>
            </a:r>
            <a:r>
              <a:rPr dirty="0"/>
              <a:t> maintenance</a:t>
            </a:r>
            <a:r>
              <a:rPr lang="en-US" dirty="0"/>
              <a:t> and “AI creep”</a:t>
            </a:r>
            <a:endParaRPr dirty="0"/>
          </a:p>
          <a:p>
            <a:pPr marL="285750" indent="-285750">
              <a:spcAft>
                <a:spcPts val="400"/>
              </a:spcAft>
              <a:buFont typeface="Arial" panose="020B0604020202020204" pitchFamily="34" charset="0"/>
              <a:buChar char="•"/>
              <a:defRPr sz="1800">
                <a:solidFill>
                  <a:srgbClr val="6B7280"/>
                </a:solidFill>
                <a:latin typeface="Calibri"/>
              </a:defRPr>
            </a:pPr>
            <a:r>
              <a:rPr dirty="0"/>
              <a:t>Share the result</a:t>
            </a:r>
            <a:r>
              <a:rPr lang="en-US" dirty="0"/>
              <a:t> easily; empower your</a:t>
            </a:r>
            <a:r>
              <a:rPr dirty="0"/>
              <a:t> whole team.</a:t>
            </a:r>
            <a:endParaRPr lang="en-US" dirty="0"/>
          </a:p>
          <a:p>
            <a:pPr marL="285750" indent="-285750">
              <a:spcAft>
                <a:spcPts val="400"/>
              </a:spcAft>
              <a:buFont typeface="Arial" panose="020B0604020202020204" pitchFamily="34" charset="0"/>
              <a:buChar char="•"/>
              <a:defRPr sz="1800">
                <a:solidFill>
                  <a:srgbClr val="6B7280"/>
                </a:solidFill>
                <a:latin typeface="Calibri"/>
              </a:defRPr>
            </a:pPr>
            <a:r>
              <a:rPr lang="en-US" dirty="0"/>
              <a:t>Enable sophisticated reports and analysis with transparency and auditing built-in: clear assumptions, no black box, no drift.</a:t>
            </a:r>
          </a:p>
          <a:p>
            <a:pPr marL="285750" indent="-285750">
              <a:spcAft>
                <a:spcPts val="400"/>
              </a:spcAft>
              <a:buFont typeface="Arial" panose="020B0604020202020204" pitchFamily="34" charset="0"/>
              <a:buChar char="•"/>
              <a:defRPr sz="1800">
                <a:solidFill>
                  <a:srgbClr val="6B7280"/>
                </a:solidFill>
                <a:latin typeface="Calibri"/>
              </a:defRPr>
            </a:pPr>
            <a:r>
              <a:rPr lang="en-US" dirty="0"/>
              <a:t>Dashbud agents never see and can exclude sensitive data from reports.</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7BA1"/>
        </a:solidFill>
        <a:effectLst/>
      </p:bgPr>
    </p:bg>
    <p:spTree>
      <p:nvGrpSpPr>
        <p:cNvPr id="1" name="Shape 180"/>
        <p:cNvGrpSpPr/>
        <p:nvPr/>
      </p:nvGrpSpPr>
      <p:grpSpPr>
        <a:xfrm>
          <a:off x="0" y="0"/>
          <a:ext cx="0" cy="0"/>
          <a:chOff x="0" y="0"/>
          <a:chExt cx="0" cy="0"/>
        </a:xfrm>
      </p:grpSpPr>
      <p:sp>
        <p:nvSpPr>
          <p:cNvPr id="181" name="Google Shape;181;p11"/>
          <p:cNvSpPr txBox="1"/>
          <p:nvPr/>
        </p:nvSpPr>
        <p:spPr>
          <a:xfrm>
            <a:off x="1371600" y="2286000"/>
            <a:ext cx="9144000" cy="1371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i="0" u="none" strike="noStrike" cap="none">
                <a:solidFill>
                  <a:srgbClr val="FFFFFF"/>
                </a:solidFill>
                <a:latin typeface="Calibri"/>
                <a:ea typeface="Calibri"/>
                <a:cs typeface="Calibri"/>
                <a:sym typeface="Calibri"/>
              </a:rPr>
              <a:t>How it works</a:t>
            </a:r>
            <a:endParaRPr/>
          </a:p>
        </p:txBody>
      </p:sp>
      <p:sp>
        <p:nvSpPr>
          <p:cNvPr id="182" name="Google Shape;182;p11"/>
          <p:cNvSpPr txBox="1"/>
          <p:nvPr/>
        </p:nvSpPr>
        <p:spPr>
          <a:xfrm>
            <a:off x="1371600" y="3840480"/>
            <a:ext cx="9144000"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0" i="0" u="none" strike="noStrike" cap="none">
                <a:solidFill>
                  <a:srgbClr val="E0F4F9"/>
                </a:solidFill>
                <a:latin typeface="Calibri"/>
                <a:ea typeface="Calibri"/>
                <a:cs typeface="Calibri"/>
                <a:sym typeface="Calibri"/>
              </a:rPr>
              <a:t>Connect → Model → Explore → Share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2"/>
          <p:cNvSpPr txBox="1"/>
          <p:nvPr/>
        </p:nvSpPr>
        <p:spPr>
          <a:xfrm>
            <a:off x="731520" y="457200"/>
            <a:ext cx="10058400"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007BA1"/>
                </a:solidFill>
                <a:latin typeface="Calibri"/>
                <a:ea typeface="Calibri"/>
                <a:cs typeface="Calibri"/>
                <a:sym typeface="Calibri"/>
              </a:rPr>
              <a:t>1. Connect your data</a:t>
            </a:r>
            <a:endParaRPr/>
          </a:p>
        </p:txBody>
      </p:sp>
      <p:sp>
        <p:nvSpPr>
          <p:cNvPr id="188" name="Google Shape;188;p12"/>
          <p:cNvSpPr txBox="1"/>
          <p:nvPr/>
        </p:nvSpPr>
        <p:spPr>
          <a:xfrm>
            <a:off x="731520" y="1645920"/>
            <a:ext cx="10058400" cy="76940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0" i="0" u="none" strike="noStrike" cap="none" dirty="0">
                <a:solidFill>
                  <a:srgbClr val="6B7280"/>
                </a:solidFill>
                <a:latin typeface="Calibri"/>
                <a:ea typeface="Calibri"/>
                <a:cs typeface="Calibri"/>
                <a:sym typeface="Calibri"/>
              </a:rPr>
              <a:t>Upload spreadsheets, connect directly to databases, or sync from cloud sources.</a:t>
            </a:r>
            <a:br>
              <a:rPr lang="en-US" sz="2200" b="0" i="0" u="none" strike="noStrike" cap="none" dirty="0">
                <a:solidFill>
                  <a:srgbClr val="6B7280"/>
                </a:solidFill>
                <a:latin typeface="Calibri"/>
                <a:ea typeface="Calibri"/>
                <a:cs typeface="Calibri"/>
                <a:sym typeface="Calibri"/>
              </a:rPr>
            </a:br>
            <a:r>
              <a:rPr lang="en-US" sz="2200" b="0" i="0" u="none" strike="noStrike" cap="none" dirty="0">
                <a:solidFill>
                  <a:srgbClr val="6B7280"/>
                </a:solidFill>
                <a:latin typeface="Calibri"/>
                <a:ea typeface="Calibri"/>
                <a:cs typeface="Calibri"/>
                <a:sym typeface="Calibri"/>
              </a:rPr>
              <a:t>Smart data loading cleans messy formats automatically.</a:t>
            </a:r>
            <a:endParaRPr dirty="0"/>
          </a:p>
        </p:txBody>
      </p:sp>
      <p:sp>
        <p:nvSpPr>
          <p:cNvPr id="189" name="Google Shape;189;p12"/>
          <p:cNvSpPr txBox="1"/>
          <p:nvPr/>
        </p:nvSpPr>
        <p:spPr>
          <a:xfrm>
            <a:off x="731520" y="5029200"/>
            <a:ext cx="9144000" cy="9144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rgbClr val="CCCCCC"/>
                </a:solidFill>
                <a:latin typeface="Calibri"/>
                <a:ea typeface="Calibri"/>
                <a:cs typeface="Calibri"/>
                <a:sym typeface="Calibri"/>
              </a:rPr>
              <a:t>[PRODUCT SCREENSHOT]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3"/>
          <p:cNvSpPr txBox="1"/>
          <p:nvPr/>
        </p:nvSpPr>
        <p:spPr>
          <a:xfrm>
            <a:off x="731520" y="457200"/>
            <a:ext cx="10058400"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007BA1"/>
                </a:solidFill>
                <a:latin typeface="Calibri"/>
                <a:ea typeface="Calibri"/>
                <a:cs typeface="Calibri"/>
                <a:sym typeface="Calibri"/>
              </a:rPr>
              <a:t>2. Model through conversation</a:t>
            </a:r>
            <a:endParaRPr/>
          </a:p>
        </p:txBody>
      </p:sp>
      <p:sp>
        <p:nvSpPr>
          <p:cNvPr id="195" name="Google Shape;195;p13"/>
          <p:cNvSpPr txBox="1"/>
          <p:nvPr/>
        </p:nvSpPr>
        <p:spPr>
          <a:xfrm>
            <a:off x="731520" y="1645920"/>
            <a:ext cx="9144000" cy="182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0" i="0" u="none" strike="noStrike" cap="none">
                <a:solidFill>
                  <a:srgbClr val="6B7280"/>
                </a:solidFill>
                <a:latin typeface="Calibri"/>
                <a:ea typeface="Calibri"/>
                <a:cs typeface="Calibri"/>
                <a:sym typeface="Calibri"/>
              </a:rPr>
              <a:t>Tell Dashbud what your data means — in plain language.</a:t>
            </a:r>
            <a:br>
              <a:rPr lang="en-US" sz="2200" b="0" i="0" u="none" strike="noStrike" cap="none">
                <a:solidFill>
                  <a:srgbClr val="6B7280"/>
                </a:solidFill>
                <a:latin typeface="Calibri"/>
                <a:ea typeface="Calibri"/>
                <a:cs typeface="Calibri"/>
                <a:sym typeface="Calibri"/>
              </a:rPr>
            </a:br>
            <a:r>
              <a:rPr lang="en-US" sz="2200" b="0" i="0" u="none" strike="noStrike" cap="none">
                <a:solidFill>
                  <a:srgbClr val="6B7280"/>
                </a:solidFill>
                <a:latin typeface="Calibri"/>
                <a:ea typeface="Calibri"/>
                <a:cs typeface="Calibri"/>
                <a:sym typeface="Calibri"/>
              </a:rPr>
              <a:t>The AI asks questions, you answer. No code, no config files.</a:t>
            </a:r>
            <a:endParaRPr/>
          </a:p>
        </p:txBody>
      </p:sp>
      <p:sp>
        <p:nvSpPr>
          <p:cNvPr id="196" name="Google Shape;196;p13"/>
          <p:cNvSpPr txBox="1"/>
          <p:nvPr/>
        </p:nvSpPr>
        <p:spPr>
          <a:xfrm>
            <a:off x="731520" y="5029200"/>
            <a:ext cx="9144000" cy="9144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rgbClr val="CCCCCC"/>
                </a:solidFill>
                <a:latin typeface="Calibri"/>
                <a:ea typeface="Calibri"/>
                <a:cs typeface="Calibri"/>
                <a:sym typeface="Calibri"/>
              </a:rPr>
              <a:t>[PRODUCT SCREENSHOT]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4"/>
          <p:cNvSpPr txBox="1"/>
          <p:nvPr/>
        </p:nvSpPr>
        <p:spPr>
          <a:xfrm>
            <a:off x="731520" y="457200"/>
            <a:ext cx="10058400"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007BA1"/>
                </a:solidFill>
                <a:latin typeface="Calibri"/>
                <a:ea typeface="Calibri"/>
                <a:cs typeface="Calibri"/>
                <a:sym typeface="Calibri"/>
              </a:rPr>
              <a:t>3. Ask questions, get answers</a:t>
            </a:r>
            <a:endParaRPr/>
          </a:p>
        </p:txBody>
      </p:sp>
      <p:sp>
        <p:nvSpPr>
          <p:cNvPr id="202" name="Google Shape;202;p14"/>
          <p:cNvSpPr txBox="1"/>
          <p:nvPr/>
        </p:nvSpPr>
        <p:spPr>
          <a:xfrm>
            <a:off x="731520" y="1645920"/>
            <a:ext cx="9144000" cy="11079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0" i="0" u="none" strike="noStrike" cap="none" dirty="0">
                <a:solidFill>
                  <a:srgbClr val="6B7280"/>
                </a:solidFill>
                <a:latin typeface="Calibri"/>
                <a:ea typeface="Calibri"/>
                <a:cs typeface="Calibri"/>
                <a:sym typeface="Calibri"/>
              </a:rPr>
              <a:t>Type </a:t>
            </a:r>
            <a:r>
              <a:rPr lang="en-US" sz="2200" dirty="0">
                <a:solidFill>
                  <a:srgbClr val="6B7280"/>
                </a:solidFill>
                <a:latin typeface="Calibri"/>
                <a:ea typeface="Calibri"/>
                <a:cs typeface="Calibri"/>
                <a:sym typeface="Calibri"/>
              </a:rPr>
              <a:t>questions </a:t>
            </a:r>
            <a:r>
              <a:rPr lang="en-US" sz="2200" b="0" i="0" u="none" strike="noStrike" cap="none" dirty="0">
                <a:solidFill>
                  <a:srgbClr val="6B7280"/>
                </a:solidFill>
                <a:latin typeface="Calibri"/>
                <a:ea typeface="Calibri"/>
                <a:cs typeface="Calibri"/>
                <a:sym typeface="Calibri"/>
              </a:rPr>
              <a:t>in Data Explorer</a:t>
            </a:r>
            <a:r>
              <a:rPr lang="en-US" sz="2200" dirty="0">
                <a:solidFill>
                  <a:srgbClr val="6B7280"/>
                </a:solidFill>
                <a:latin typeface="Calibri"/>
                <a:ea typeface="Calibri"/>
                <a:cs typeface="Calibri"/>
                <a:sym typeface="Calibri"/>
              </a:rPr>
              <a:t> r</a:t>
            </a:r>
            <a:r>
              <a:rPr lang="en-US" sz="2200" b="0" i="0" u="none" strike="noStrike" cap="none" dirty="0">
                <a:solidFill>
                  <a:srgbClr val="6B7280"/>
                </a:solidFill>
                <a:latin typeface="Calibri"/>
                <a:ea typeface="Calibri"/>
                <a:cs typeface="Calibri"/>
                <a:sym typeface="Calibri"/>
              </a:rPr>
              <a:t>efine the answer through conversation. </a:t>
            </a:r>
          </a:p>
          <a:p>
            <a:pPr marL="0" marR="0" lvl="0" indent="0" algn="l" rtl="0">
              <a:spcBef>
                <a:spcPts val="0"/>
              </a:spcBef>
              <a:spcAft>
                <a:spcPts val="0"/>
              </a:spcAft>
              <a:buNone/>
            </a:pPr>
            <a:r>
              <a:rPr lang="en-US" sz="2200" b="0" i="0" u="none" strike="noStrike" cap="none" dirty="0">
                <a:solidFill>
                  <a:srgbClr val="6B7280"/>
                </a:solidFill>
                <a:latin typeface="Calibri"/>
                <a:ea typeface="Calibri"/>
                <a:cs typeface="Calibri"/>
                <a:sym typeface="Calibri"/>
              </a:rPr>
              <a:t>Dashbud produces the KPIs, tables</a:t>
            </a:r>
            <a:r>
              <a:rPr lang="en-US" sz="2200" dirty="0">
                <a:solidFill>
                  <a:srgbClr val="6B7280"/>
                </a:solidFill>
                <a:latin typeface="Calibri"/>
                <a:ea typeface="Calibri"/>
                <a:cs typeface="Calibri"/>
                <a:sym typeface="Calibri"/>
              </a:rPr>
              <a:t> and</a:t>
            </a:r>
            <a:r>
              <a:rPr lang="en-US" sz="2200" b="0" i="0" u="none" strike="noStrike" cap="none" dirty="0">
                <a:solidFill>
                  <a:srgbClr val="6B7280"/>
                </a:solidFill>
                <a:latin typeface="Calibri"/>
                <a:ea typeface="Calibri"/>
                <a:cs typeface="Calibri"/>
                <a:sym typeface="Calibri"/>
              </a:rPr>
              <a:t> charts you need.</a:t>
            </a:r>
            <a:br>
              <a:rPr lang="en-US" sz="2200" b="0" i="0" u="none" strike="noStrike" cap="none" dirty="0">
                <a:solidFill>
                  <a:srgbClr val="6B7280"/>
                </a:solidFill>
                <a:latin typeface="Calibri"/>
                <a:ea typeface="Calibri"/>
                <a:cs typeface="Calibri"/>
                <a:sym typeface="Calibri"/>
              </a:rPr>
            </a:br>
            <a:r>
              <a:rPr lang="en-US" sz="2200" b="0" i="0" u="none" strike="noStrike" cap="none" dirty="0">
                <a:solidFill>
                  <a:srgbClr val="6B7280"/>
                </a:solidFill>
                <a:latin typeface="Calibri"/>
                <a:ea typeface="Calibri"/>
                <a:cs typeface="Calibri"/>
                <a:sym typeface="Calibri"/>
              </a:rPr>
              <a:t>Smart formatting; interactive charting out of the box; auditable outputs.</a:t>
            </a:r>
            <a:endParaRPr dirty="0"/>
          </a:p>
        </p:txBody>
      </p:sp>
      <p:sp>
        <p:nvSpPr>
          <p:cNvPr id="203" name="Google Shape;203;p14"/>
          <p:cNvSpPr txBox="1"/>
          <p:nvPr/>
        </p:nvSpPr>
        <p:spPr>
          <a:xfrm>
            <a:off x="731520" y="5029200"/>
            <a:ext cx="9144000" cy="9144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rgbClr val="CCCCCC"/>
                </a:solidFill>
                <a:latin typeface="Calibri"/>
                <a:ea typeface="Calibri"/>
                <a:cs typeface="Calibri"/>
                <a:sym typeface="Calibri"/>
              </a:rPr>
              <a:t>[PRODUCT SCREENSHOT]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5"/>
          <p:cNvSpPr txBox="1"/>
          <p:nvPr/>
        </p:nvSpPr>
        <p:spPr>
          <a:xfrm>
            <a:off x="731520" y="457200"/>
            <a:ext cx="10058400"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dirty="0">
                <a:solidFill>
                  <a:srgbClr val="007BA1"/>
                </a:solidFill>
                <a:latin typeface="Calibri"/>
                <a:ea typeface="Calibri"/>
                <a:cs typeface="Calibri"/>
                <a:sym typeface="Calibri"/>
              </a:rPr>
              <a:t>4. Create reports and share</a:t>
            </a:r>
            <a:endParaRPr dirty="0"/>
          </a:p>
        </p:txBody>
      </p:sp>
      <p:sp>
        <p:nvSpPr>
          <p:cNvPr id="209" name="Google Shape;209;p15"/>
          <p:cNvSpPr txBox="1"/>
          <p:nvPr/>
        </p:nvSpPr>
        <p:spPr>
          <a:xfrm>
            <a:off x="731519" y="1645920"/>
            <a:ext cx="9908771" cy="110795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Font typeface="Arial" panose="020B0604020202020204" pitchFamily="34" charset="0"/>
              <a:buChar char="•"/>
            </a:pPr>
            <a:r>
              <a:rPr lang="en-US" sz="2200" dirty="0">
                <a:solidFill>
                  <a:srgbClr val="6B7280"/>
                </a:solidFill>
                <a:latin typeface="Calibri"/>
                <a:cs typeface="Calibri"/>
                <a:sym typeface="Calibri"/>
              </a:rPr>
              <a:t>Output anything from individual KPIs to sophisticated charts and tables.</a:t>
            </a:r>
          </a:p>
          <a:p>
            <a:pPr marL="342900" marR="0" lvl="0" indent="-342900" algn="l" rtl="0">
              <a:spcBef>
                <a:spcPts val="0"/>
              </a:spcBef>
              <a:spcAft>
                <a:spcPts val="0"/>
              </a:spcAft>
              <a:buFont typeface="Arial" panose="020B0604020202020204" pitchFamily="34" charset="0"/>
              <a:buChar char="•"/>
            </a:pPr>
            <a:r>
              <a:rPr lang="en-US" sz="2200" dirty="0">
                <a:solidFill>
                  <a:srgbClr val="6B7280"/>
                </a:solidFill>
                <a:latin typeface="Calibri"/>
                <a:cs typeface="Calibri"/>
                <a:sym typeface="Calibri"/>
              </a:rPr>
              <a:t>Drag and drop outputs into a dashboard/report format. </a:t>
            </a:r>
          </a:p>
          <a:p>
            <a:pPr marL="342900" marR="0" lvl="0" indent="-342900" algn="l" rtl="0">
              <a:spcBef>
                <a:spcPts val="0"/>
              </a:spcBef>
              <a:spcAft>
                <a:spcPts val="0"/>
              </a:spcAft>
              <a:buFont typeface="Arial" panose="020B0604020202020204" pitchFamily="34" charset="0"/>
              <a:buChar char="•"/>
            </a:pPr>
            <a:r>
              <a:rPr lang="en-US" sz="2200" dirty="0">
                <a:solidFill>
                  <a:srgbClr val="6B7280"/>
                </a:solidFill>
                <a:latin typeface="Calibri"/>
                <a:cs typeface="Calibri"/>
                <a:sym typeface="Calibri"/>
              </a:rPr>
              <a:t>Share self-service interactive dashboards; email one-off and periodic reports.</a:t>
            </a:r>
            <a:endParaRPr dirty="0"/>
          </a:p>
        </p:txBody>
      </p:sp>
      <p:sp>
        <p:nvSpPr>
          <p:cNvPr id="210" name="Google Shape;210;p15"/>
          <p:cNvSpPr txBox="1"/>
          <p:nvPr/>
        </p:nvSpPr>
        <p:spPr>
          <a:xfrm>
            <a:off x="731520" y="5029200"/>
            <a:ext cx="9144000" cy="9144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rgbClr val="CCCCCC"/>
                </a:solidFill>
                <a:latin typeface="Calibri"/>
                <a:ea typeface="Calibri"/>
                <a:cs typeface="Calibri"/>
                <a:sym typeface="Calibri"/>
              </a:rPr>
              <a:t>[PRODUCT SCREENSHOT]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6"/>
          <p:cNvSpPr txBox="1"/>
          <p:nvPr/>
        </p:nvSpPr>
        <p:spPr>
          <a:xfrm>
            <a:off x="731520" y="274320"/>
            <a:ext cx="10058400"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11827"/>
                </a:solidFill>
                <a:latin typeface="Calibri"/>
                <a:ea typeface="Calibri"/>
                <a:cs typeface="Calibri"/>
                <a:sym typeface="Calibri"/>
              </a:rPr>
              <a:t>Built for trust. Designed for privacy.</a:t>
            </a:r>
            <a:endParaRPr/>
          </a:p>
        </p:txBody>
      </p:sp>
      <p:sp>
        <p:nvSpPr>
          <p:cNvPr id="216" name="Google Shape;216;p16"/>
          <p:cNvSpPr txBox="1"/>
          <p:nvPr/>
        </p:nvSpPr>
        <p:spPr>
          <a:xfrm>
            <a:off x="731520" y="1188720"/>
            <a:ext cx="9144000" cy="365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111827"/>
                </a:solidFill>
                <a:latin typeface="Calibri"/>
                <a:ea typeface="Calibri"/>
                <a:cs typeface="Calibri"/>
                <a:sym typeface="Calibri"/>
              </a:rPr>
              <a:t>🔒  AI never sees your raw data</a:t>
            </a:r>
            <a:endParaRPr/>
          </a:p>
        </p:txBody>
      </p:sp>
      <p:sp>
        <p:nvSpPr>
          <p:cNvPr id="217" name="Google Shape;217;p16"/>
          <p:cNvSpPr txBox="1"/>
          <p:nvPr/>
        </p:nvSpPr>
        <p:spPr>
          <a:xfrm>
            <a:off x="1097280" y="1600200"/>
            <a:ext cx="9144000" cy="8229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rgbClr val="6B7280"/>
                </a:solidFill>
                <a:latin typeface="Calibri"/>
                <a:ea typeface="Calibri"/>
                <a:cs typeface="Calibri"/>
                <a:sym typeface="Calibri"/>
              </a:rPr>
              <a:t>The AI only sees field names and schema — never the actual values in your database.</a:t>
            </a:r>
            <a:endParaRPr/>
          </a:p>
        </p:txBody>
      </p:sp>
      <p:sp>
        <p:nvSpPr>
          <p:cNvPr id="218" name="Google Shape;218;p16"/>
          <p:cNvSpPr txBox="1"/>
          <p:nvPr/>
        </p:nvSpPr>
        <p:spPr>
          <a:xfrm>
            <a:off x="731520" y="2560320"/>
            <a:ext cx="9144000" cy="365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111827"/>
                </a:solidFill>
                <a:latin typeface="Calibri"/>
                <a:ea typeface="Calibri"/>
                <a:cs typeface="Calibri"/>
                <a:sym typeface="Calibri"/>
              </a:rPr>
              <a:t>📐  Deterministic reports</a:t>
            </a:r>
            <a:endParaRPr/>
          </a:p>
        </p:txBody>
      </p:sp>
      <p:sp>
        <p:nvSpPr>
          <p:cNvPr id="219" name="Google Shape;219;p16"/>
          <p:cNvSpPr txBox="1"/>
          <p:nvPr/>
        </p:nvSpPr>
        <p:spPr>
          <a:xfrm>
            <a:off x="1097280" y="2971800"/>
            <a:ext cx="9144000" cy="8229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rgbClr val="6B7280"/>
                </a:solidFill>
                <a:latin typeface="Calibri"/>
                <a:ea typeface="Calibri"/>
                <a:cs typeface="Calibri"/>
                <a:sym typeface="Calibri"/>
              </a:rPr>
              <a:t>The AI writes a SQL query once. After that, it's a traditional report.</a:t>
            </a:r>
            <a:br>
              <a:rPr lang="en-US" sz="1600" b="0" i="0" u="none" strike="noStrike" cap="none">
                <a:solidFill>
                  <a:srgbClr val="6B7280"/>
                </a:solidFill>
                <a:latin typeface="Calibri"/>
                <a:ea typeface="Calibri"/>
                <a:cs typeface="Calibri"/>
                <a:sym typeface="Calibri"/>
              </a:rPr>
            </a:br>
            <a:r>
              <a:rPr lang="en-US" sz="1600" b="0" i="0" u="none" strike="noStrike" cap="none">
                <a:solidFill>
                  <a:srgbClr val="6B7280"/>
                </a:solidFill>
                <a:latin typeface="Calibri"/>
                <a:ea typeface="Calibri"/>
                <a:cs typeface="Calibri"/>
                <a:sym typeface="Calibri"/>
              </a:rPr>
              <a:t>Same question, same answer, every time.</a:t>
            </a:r>
            <a:endParaRPr/>
          </a:p>
        </p:txBody>
      </p:sp>
      <p:sp>
        <p:nvSpPr>
          <p:cNvPr id="220" name="Google Shape;220;p16"/>
          <p:cNvSpPr txBox="1"/>
          <p:nvPr/>
        </p:nvSpPr>
        <p:spPr>
          <a:xfrm>
            <a:off x="731520" y="3931920"/>
            <a:ext cx="9144000" cy="365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111827"/>
                </a:solidFill>
                <a:latin typeface="Calibri"/>
                <a:ea typeface="Calibri"/>
                <a:cs typeface="Calibri"/>
                <a:sym typeface="Calibri"/>
              </a:rPr>
              <a:t>📋  Full audit trail</a:t>
            </a:r>
            <a:endParaRPr/>
          </a:p>
        </p:txBody>
      </p:sp>
      <p:sp>
        <p:nvSpPr>
          <p:cNvPr id="221" name="Google Shape;221;p16"/>
          <p:cNvSpPr txBox="1"/>
          <p:nvPr/>
        </p:nvSpPr>
        <p:spPr>
          <a:xfrm>
            <a:off x="1097280" y="4343400"/>
            <a:ext cx="9144000" cy="8229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rgbClr val="6B7280"/>
                </a:solidFill>
                <a:latin typeface="Calibri"/>
                <a:ea typeface="Calibri"/>
                <a:cs typeface="Calibri"/>
                <a:sym typeface="Calibri"/>
              </a:rPr>
              <a:t>Every data import is tracked and can be rolled back.</a:t>
            </a:r>
            <a:br>
              <a:rPr lang="en-US" sz="1600" b="0" i="0" u="none" strike="noStrike" cap="none">
                <a:solidFill>
                  <a:srgbClr val="6B7280"/>
                </a:solidFill>
                <a:latin typeface="Calibri"/>
                <a:ea typeface="Calibri"/>
                <a:cs typeface="Calibri"/>
                <a:sym typeface="Calibri"/>
              </a:rPr>
            </a:br>
            <a:r>
              <a:rPr lang="en-US" sz="1600" b="0" i="0" u="none" strike="noStrike" cap="none">
                <a:solidFill>
                  <a:srgbClr val="6B7280"/>
                </a:solidFill>
                <a:latin typeface="Calibri"/>
                <a:ea typeface="Calibri"/>
                <a:cs typeface="Calibri"/>
                <a:sym typeface="Calibri"/>
              </a:rPr>
              <a:t>Your data stays in your database or in Dashbud's managed infrastructure.</a:t>
            </a:r>
            <a:endParaRPr/>
          </a:p>
        </p:txBody>
      </p:sp>
      <p:sp>
        <p:nvSpPr>
          <p:cNvPr id="222" name="Google Shape;222;p16"/>
          <p:cNvSpPr txBox="1"/>
          <p:nvPr/>
        </p:nvSpPr>
        <p:spPr>
          <a:xfrm>
            <a:off x="731520" y="5303520"/>
            <a:ext cx="9144000" cy="365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111827"/>
                </a:solidFill>
                <a:latin typeface="Calibri"/>
                <a:ea typeface="Calibri"/>
                <a:cs typeface="Calibri"/>
                <a:sym typeface="Calibri"/>
              </a:rPr>
              <a:t>🚫  No third-party sharing</a:t>
            </a:r>
            <a:endParaRPr/>
          </a:p>
        </p:txBody>
      </p:sp>
      <p:sp>
        <p:nvSpPr>
          <p:cNvPr id="223" name="Google Shape;223;p16"/>
          <p:cNvSpPr txBox="1"/>
          <p:nvPr/>
        </p:nvSpPr>
        <p:spPr>
          <a:xfrm>
            <a:off x="1097280" y="5715000"/>
            <a:ext cx="9144000" cy="8229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rgbClr val="6B7280"/>
                </a:solidFill>
                <a:latin typeface="Calibri"/>
                <a:ea typeface="Calibri"/>
                <a:cs typeface="Calibri"/>
                <a:sym typeface="Calibri"/>
              </a:rPr>
              <a:t>We don't share your data with third parties.</a:t>
            </a:r>
            <a:br>
              <a:rPr lang="en-US" sz="1600" b="0" i="0" u="none" strike="noStrike" cap="none">
                <a:solidFill>
                  <a:srgbClr val="6B7280"/>
                </a:solidFill>
                <a:latin typeface="Calibri"/>
                <a:ea typeface="Calibri"/>
                <a:cs typeface="Calibri"/>
                <a:sym typeface="Calibri"/>
              </a:rPr>
            </a:br>
            <a:r>
              <a:rPr lang="en-US" sz="1600" b="0" i="0" u="none" strike="noStrike" cap="none">
                <a:solidFill>
                  <a:srgbClr val="6B7280"/>
                </a:solidFill>
                <a:latin typeface="Calibri"/>
                <a:ea typeface="Calibri"/>
                <a:cs typeface="Calibri"/>
                <a:sym typeface="Calibri"/>
              </a:rPr>
              <a:t>We don't use it for AI training.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7BA1"/>
        </a:solidFill>
        <a:effectLst/>
      </p:bgPr>
    </p:bg>
    <p:spTree>
      <p:nvGrpSpPr>
        <p:cNvPr id="1" name="Shape 227"/>
        <p:cNvGrpSpPr/>
        <p:nvPr/>
      </p:nvGrpSpPr>
      <p:grpSpPr>
        <a:xfrm>
          <a:off x="0" y="0"/>
          <a:ext cx="0" cy="0"/>
          <a:chOff x="0" y="0"/>
          <a:chExt cx="0" cy="0"/>
        </a:xfrm>
      </p:grpSpPr>
      <p:sp>
        <p:nvSpPr>
          <p:cNvPr id="228" name="Google Shape;228;p17"/>
          <p:cNvSpPr txBox="1"/>
          <p:nvPr/>
        </p:nvSpPr>
        <p:spPr>
          <a:xfrm>
            <a:off x="1371600" y="2286000"/>
            <a:ext cx="9144000" cy="1371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i="0" u="none" strike="noStrike" cap="none">
                <a:solidFill>
                  <a:srgbClr val="FFFFFF"/>
                </a:solidFill>
                <a:latin typeface="Calibri"/>
                <a:ea typeface="Calibri"/>
                <a:cs typeface="Calibri"/>
                <a:sym typeface="Calibri"/>
              </a:rPr>
              <a:t>Live demo</a:t>
            </a:r>
            <a:endParaRPr/>
          </a:p>
        </p:txBody>
      </p:sp>
      <p:sp>
        <p:nvSpPr>
          <p:cNvPr id="229" name="Google Shape;229;p17"/>
          <p:cNvSpPr txBox="1"/>
          <p:nvPr/>
        </p:nvSpPr>
        <p:spPr>
          <a:xfrm>
            <a:off x="1371600" y="3840480"/>
            <a:ext cx="9144000"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0" i="0" u="none" strike="noStrike" cap="none">
                <a:solidFill>
                  <a:srgbClr val="E0F4F9"/>
                </a:solidFill>
                <a:latin typeface="Calibri"/>
                <a:ea typeface="Calibri"/>
                <a:cs typeface="Calibri"/>
                <a:sym typeface="Calibri"/>
              </a:rPr>
              <a:t>Let's see it in action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8"/>
          <p:cNvSpPr txBox="1"/>
          <p:nvPr/>
        </p:nvSpPr>
        <p:spPr>
          <a:xfrm>
            <a:off x="1828800" y="2743200"/>
            <a:ext cx="8229600"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rgbClr val="6B7280"/>
                </a:solidFill>
                <a:latin typeface="Calibri"/>
                <a:cs typeface="Calibri"/>
                <a:sym typeface="Calibri"/>
              </a:rPr>
              <a:t>[Live Demo]</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7BA1"/>
        </a:solidFill>
        <a:effectLst/>
      </p:bgPr>
    </p:bg>
    <p:spTree>
      <p:nvGrpSpPr>
        <p:cNvPr id="1" name="Shape 238"/>
        <p:cNvGrpSpPr/>
        <p:nvPr/>
      </p:nvGrpSpPr>
      <p:grpSpPr>
        <a:xfrm>
          <a:off x="0" y="0"/>
          <a:ext cx="0" cy="0"/>
          <a:chOff x="0" y="0"/>
          <a:chExt cx="0" cy="0"/>
        </a:xfrm>
      </p:grpSpPr>
      <p:sp>
        <p:nvSpPr>
          <p:cNvPr id="239" name="Google Shape;239;p19"/>
          <p:cNvSpPr txBox="1"/>
          <p:nvPr/>
        </p:nvSpPr>
        <p:spPr>
          <a:xfrm>
            <a:off x="1371600" y="2286000"/>
            <a:ext cx="9144000" cy="1371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i="0" u="none" strike="noStrike" cap="none">
                <a:solidFill>
                  <a:srgbClr val="FFFFFF"/>
                </a:solidFill>
                <a:latin typeface="Calibri"/>
                <a:ea typeface="Calibri"/>
                <a:cs typeface="Calibri"/>
                <a:sym typeface="Calibri"/>
              </a:rPr>
              <a:t>Use cases</a:t>
            </a:r>
            <a:endParaRPr/>
          </a:p>
        </p:txBody>
      </p:sp>
      <p:sp>
        <p:nvSpPr>
          <p:cNvPr id="240" name="Google Shape;240;p19"/>
          <p:cNvSpPr txBox="1"/>
          <p:nvPr/>
        </p:nvSpPr>
        <p:spPr>
          <a:xfrm>
            <a:off x="1371600" y="3840480"/>
            <a:ext cx="9144000"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0" i="0" u="none" strike="noStrike" cap="none">
                <a:solidFill>
                  <a:srgbClr val="E0F4F9"/>
                </a:solidFill>
                <a:latin typeface="Calibri"/>
                <a:ea typeface="Calibri"/>
                <a:cs typeface="Calibri"/>
                <a:sym typeface="Calibri"/>
              </a:rPr>
              <a:t>How businesses like yours use Dashbud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0"/>
          <p:cNvSpPr txBox="1"/>
          <p:nvPr/>
        </p:nvSpPr>
        <p:spPr>
          <a:xfrm>
            <a:off x="731520" y="274320"/>
            <a:ext cx="10058400"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11827"/>
                </a:solidFill>
                <a:latin typeface="Calibri"/>
                <a:ea typeface="Calibri"/>
                <a:cs typeface="Calibri"/>
                <a:sym typeface="Calibri"/>
              </a:rPr>
              <a:t>Who is Dashbud for?</a:t>
            </a:r>
            <a:endParaRPr/>
          </a:p>
        </p:txBody>
      </p:sp>
      <p:sp>
        <p:nvSpPr>
          <p:cNvPr id="246" name="Google Shape;246;p20"/>
          <p:cNvSpPr/>
          <p:nvPr/>
        </p:nvSpPr>
        <p:spPr>
          <a:xfrm>
            <a:off x="731520" y="1371600"/>
            <a:ext cx="3474720" cy="2563091"/>
          </a:xfrm>
          <a:prstGeom prst="rect">
            <a:avLst/>
          </a:prstGeom>
          <a:solidFill>
            <a:srgbClr val="F3F4F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7" name="Google Shape;247;p20"/>
          <p:cNvSpPr txBox="1"/>
          <p:nvPr/>
        </p:nvSpPr>
        <p:spPr>
          <a:xfrm>
            <a:off x="1005840" y="1645920"/>
            <a:ext cx="2926080" cy="5486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007BA1"/>
                </a:solidFill>
                <a:latin typeface="Calibri"/>
                <a:ea typeface="Calibri"/>
                <a:cs typeface="Calibri"/>
                <a:sym typeface="Calibri"/>
              </a:rPr>
              <a:t>Product-based business</a:t>
            </a:r>
            <a:endParaRPr/>
          </a:p>
        </p:txBody>
      </p:sp>
      <p:sp>
        <p:nvSpPr>
          <p:cNvPr id="248" name="Google Shape;248;p20"/>
          <p:cNvSpPr txBox="1"/>
          <p:nvPr/>
        </p:nvSpPr>
        <p:spPr>
          <a:xfrm>
            <a:off x="1005839" y="2286000"/>
            <a:ext cx="2926079" cy="107717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dirty="0">
                <a:solidFill>
                  <a:srgbClr val="6B7280"/>
                </a:solidFill>
                <a:latin typeface="Calibri"/>
                <a:ea typeface="Calibri"/>
                <a:cs typeface="Calibri"/>
                <a:sym typeface="Calibri"/>
              </a:rPr>
              <a:t>Sales trends by channel, inventory tracking,</a:t>
            </a:r>
            <a:br>
              <a:rPr lang="en-US" sz="1600" b="0" i="0" u="none" strike="noStrike" cap="none" dirty="0">
                <a:solidFill>
                  <a:srgbClr val="6B7280"/>
                </a:solidFill>
                <a:latin typeface="Calibri"/>
                <a:ea typeface="Calibri"/>
                <a:cs typeface="Calibri"/>
                <a:sym typeface="Calibri"/>
              </a:rPr>
            </a:br>
            <a:r>
              <a:rPr lang="en-US" sz="1600" b="0" i="0" u="none" strike="noStrike" cap="none" dirty="0">
                <a:solidFill>
                  <a:srgbClr val="6B7280"/>
                </a:solidFill>
                <a:latin typeface="Calibri"/>
                <a:ea typeface="Calibri"/>
                <a:cs typeface="Calibri"/>
                <a:sym typeface="Calibri"/>
              </a:rPr>
              <a:t>customer purchasing behavior, sales rep performance</a:t>
            </a:r>
            <a:endParaRPr dirty="0"/>
          </a:p>
        </p:txBody>
      </p:sp>
      <p:sp>
        <p:nvSpPr>
          <p:cNvPr id="249" name="Google Shape;249;p20"/>
          <p:cNvSpPr/>
          <p:nvPr/>
        </p:nvSpPr>
        <p:spPr>
          <a:xfrm>
            <a:off x="4572000" y="1371600"/>
            <a:ext cx="3566158" cy="2563091"/>
          </a:xfrm>
          <a:prstGeom prst="rect">
            <a:avLst/>
          </a:prstGeom>
          <a:solidFill>
            <a:srgbClr val="F3F4F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0" name="Google Shape;250;p20"/>
          <p:cNvSpPr txBox="1"/>
          <p:nvPr/>
        </p:nvSpPr>
        <p:spPr>
          <a:xfrm>
            <a:off x="4846320" y="1645920"/>
            <a:ext cx="2926080" cy="5486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007BA1"/>
                </a:solidFill>
                <a:latin typeface="Calibri"/>
                <a:ea typeface="Calibri"/>
                <a:cs typeface="Calibri"/>
                <a:sym typeface="Calibri"/>
              </a:rPr>
              <a:t>Service-based business</a:t>
            </a:r>
            <a:endParaRPr/>
          </a:p>
        </p:txBody>
      </p:sp>
      <p:sp>
        <p:nvSpPr>
          <p:cNvPr id="251" name="Google Shape;251;p20"/>
          <p:cNvSpPr txBox="1"/>
          <p:nvPr/>
        </p:nvSpPr>
        <p:spPr>
          <a:xfrm>
            <a:off x="4846320" y="2286000"/>
            <a:ext cx="2926080"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dirty="0">
                <a:solidFill>
                  <a:srgbClr val="6B7280"/>
                </a:solidFill>
                <a:latin typeface="Calibri"/>
                <a:ea typeface="Calibri"/>
                <a:cs typeface="Calibri"/>
                <a:sym typeface="Calibri"/>
              </a:rPr>
              <a:t>Profitability by client, utilization,</a:t>
            </a:r>
            <a:br>
              <a:rPr lang="en-US" sz="1600" b="0" i="0" u="none" strike="noStrike" cap="none" dirty="0">
                <a:solidFill>
                  <a:srgbClr val="6B7280"/>
                </a:solidFill>
                <a:latin typeface="Calibri"/>
                <a:ea typeface="Calibri"/>
                <a:cs typeface="Calibri"/>
                <a:sym typeface="Calibri"/>
              </a:rPr>
            </a:br>
            <a:r>
              <a:rPr lang="en-US" sz="1600" b="0" i="0" u="none" strike="noStrike" cap="none" dirty="0">
                <a:solidFill>
                  <a:srgbClr val="6B7280"/>
                </a:solidFill>
                <a:latin typeface="Calibri"/>
                <a:ea typeface="Calibri"/>
                <a:cs typeface="Calibri"/>
                <a:sym typeface="Calibri"/>
              </a:rPr>
              <a:t>marketing ROI, monthly stakeholder reports</a:t>
            </a:r>
            <a:endParaRPr dirty="0"/>
          </a:p>
        </p:txBody>
      </p:sp>
      <p:sp>
        <p:nvSpPr>
          <p:cNvPr id="252" name="Google Shape;252;p20"/>
          <p:cNvSpPr/>
          <p:nvPr/>
        </p:nvSpPr>
        <p:spPr>
          <a:xfrm>
            <a:off x="8412480" y="1371600"/>
            <a:ext cx="3447011" cy="2563091"/>
          </a:xfrm>
          <a:prstGeom prst="rect">
            <a:avLst/>
          </a:prstGeom>
          <a:solidFill>
            <a:srgbClr val="F3F4F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3" name="Google Shape;253;p20"/>
          <p:cNvSpPr txBox="1"/>
          <p:nvPr/>
        </p:nvSpPr>
        <p:spPr>
          <a:xfrm>
            <a:off x="8686800" y="1645920"/>
            <a:ext cx="2926080"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rgbClr val="007BA1"/>
                </a:solidFill>
                <a:latin typeface="Calibri"/>
                <a:ea typeface="Calibri"/>
                <a:cs typeface="Calibri"/>
                <a:sym typeface="Calibri"/>
              </a:rPr>
              <a:t>Healthcare and regulated industries</a:t>
            </a:r>
            <a:endParaRPr dirty="0"/>
          </a:p>
        </p:txBody>
      </p:sp>
      <p:sp>
        <p:nvSpPr>
          <p:cNvPr id="254" name="Google Shape;254;p20"/>
          <p:cNvSpPr txBox="1"/>
          <p:nvPr/>
        </p:nvSpPr>
        <p:spPr>
          <a:xfrm>
            <a:off x="8686800" y="2286000"/>
            <a:ext cx="2926080"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dirty="0">
                <a:solidFill>
                  <a:srgbClr val="6B7280"/>
                </a:solidFill>
                <a:latin typeface="Calibri"/>
                <a:ea typeface="Calibri"/>
                <a:cs typeface="Calibri"/>
                <a:sym typeface="Calibri"/>
              </a:rPr>
              <a:t>Operational reports from EMR data without exposing sensitive data to AI platforms</a:t>
            </a:r>
            <a:endParaRPr dirty="0"/>
          </a:p>
        </p:txBody>
      </p:sp>
      <p:sp>
        <p:nvSpPr>
          <p:cNvPr id="2" name="TextBox 1">
            <a:extLst>
              <a:ext uri="{FF2B5EF4-FFF2-40B4-BE49-F238E27FC236}">
                <a16:creationId xmlns:a16="http://schemas.microsoft.com/office/drawing/2014/main" id="{46CCE79F-06D0-A745-8468-18096EF4AAA6}"/>
              </a:ext>
            </a:extLst>
          </p:cNvPr>
          <p:cNvSpPr txBox="1"/>
          <p:nvPr/>
        </p:nvSpPr>
        <p:spPr>
          <a:xfrm>
            <a:off x="1246909" y="4686181"/>
            <a:ext cx="8520546" cy="1815882"/>
          </a:xfrm>
          <a:prstGeom prst="rect">
            <a:avLst/>
          </a:prstGeom>
          <a:noFill/>
        </p:spPr>
        <p:txBody>
          <a:bodyPr wrap="square" rtlCol="0">
            <a:spAutoFit/>
          </a:bodyPr>
          <a:lstStyle/>
          <a:p>
            <a:r>
              <a:rPr lang="en-US" dirty="0"/>
              <a:t>Dashbud shines with: </a:t>
            </a:r>
          </a:p>
          <a:p>
            <a:pPr marL="285750" indent="-285750">
              <a:buFont typeface="Arial" panose="020B0604020202020204" pitchFamily="34" charset="0"/>
              <a:buChar char="•"/>
            </a:pPr>
            <a:r>
              <a:rPr lang="en-US" dirty="0"/>
              <a:t>Calculated KPIs: e.g. “sales rep performance” – not just a single number, but a calculated KPI</a:t>
            </a:r>
          </a:p>
          <a:p>
            <a:pPr marL="285750" indent="-285750">
              <a:buFont typeface="Arial" panose="020B0604020202020204" pitchFamily="34" charset="0"/>
              <a:buChar char="•"/>
            </a:pPr>
            <a:r>
              <a:rPr lang="en-US" dirty="0"/>
              <a:t>Critical business rules: e.g. “profit” is based on one or more accounting conventions; you can teach Dashbud preferred methodologies once and share this rule across your organization.</a:t>
            </a:r>
          </a:p>
          <a:p>
            <a:pPr marL="285750" indent="-285750">
              <a:buFont typeface="Arial" panose="020B0604020202020204" pitchFamily="34" charset="0"/>
              <a:buChar char="•"/>
            </a:pPr>
            <a:r>
              <a:rPr lang="en-US" dirty="0"/>
              <a:t>Legacy systems and complex tabular data sets: Dashbud helps import dirty data formats automatically. It’s </a:t>
            </a:r>
            <a:r>
              <a:rPr lang="en-US" dirty="0" err="1"/>
              <a:t>PostgresDB</a:t>
            </a:r>
            <a:r>
              <a:rPr lang="en-US" dirty="0"/>
              <a:t> backend is lightning-fast and optimized up to millions of rows.</a:t>
            </a:r>
          </a:p>
          <a:p>
            <a:pPr marL="285750" indent="-285750">
              <a:buFont typeface="Arial" panose="020B0604020202020204" pitchFamily="34" charset="0"/>
              <a:buChar char="•"/>
            </a:pPr>
            <a:r>
              <a:rPr lang="en-US" dirty="0"/>
              <a:t>Private, sensitive data: Dashbud stores private data securely, and never stores data unnecessarily. Your data </a:t>
            </a:r>
            <a:r>
              <a:rPr lang="en-US"/>
              <a:t>is yours. </a:t>
            </a:r>
            <a:r>
              <a:rPr lang="en-US" dirty="0"/>
              <a:t>No AI agent ever views your data.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7BA1"/>
        </a:solidFill>
        <a:effectLst/>
      </p:bgPr>
    </p:bg>
    <p:spTree>
      <p:nvGrpSpPr>
        <p:cNvPr id="1" name="Shape 258"/>
        <p:cNvGrpSpPr/>
        <p:nvPr/>
      </p:nvGrpSpPr>
      <p:grpSpPr>
        <a:xfrm>
          <a:off x="0" y="0"/>
          <a:ext cx="0" cy="0"/>
          <a:chOff x="0" y="0"/>
          <a:chExt cx="0" cy="0"/>
        </a:xfrm>
      </p:grpSpPr>
      <p:sp>
        <p:nvSpPr>
          <p:cNvPr id="259" name="Google Shape;259;p21"/>
          <p:cNvSpPr txBox="1"/>
          <p:nvPr/>
        </p:nvSpPr>
        <p:spPr>
          <a:xfrm>
            <a:off x="1371600" y="2286000"/>
            <a:ext cx="9144000" cy="1371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i="0" u="none" strike="noStrike" cap="none">
                <a:solidFill>
                  <a:srgbClr val="FFFFFF"/>
                </a:solidFill>
                <a:latin typeface="Calibri"/>
                <a:ea typeface="Calibri"/>
                <a:cs typeface="Calibri"/>
                <a:sym typeface="Calibri"/>
              </a:rPr>
              <a:t>Q&amp;A</a:t>
            </a:r>
            <a:endParaRPr/>
          </a:p>
        </p:txBody>
      </p:sp>
      <p:sp>
        <p:nvSpPr>
          <p:cNvPr id="260" name="Google Shape;260;p21"/>
          <p:cNvSpPr txBox="1"/>
          <p:nvPr/>
        </p:nvSpPr>
        <p:spPr>
          <a:xfrm>
            <a:off x="1371600" y="3840480"/>
            <a:ext cx="9144000"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0" i="0" u="none" strike="noStrike" cap="none">
                <a:solidFill>
                  <a:srgbClr val="E0F4F9"/>
                </a:solidFill>
                <a:latin typeface="Calibri"/>
                <a:ea typeface="Calibri"/>
                <a:cs typeface="Calibri"/>
                <a:sym typeface="Calibri"/>
              </a:rPr>
              <a:t>What questions do you have?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546E"/>
        </a:solidFill>
        <a:effectLst/>
      </p:bgPr>
    </p:bg>
    <p:spTree>
      <p:nvGrpSpPr>
        <p:cNvPr id="1" name="Shape 264"/>
        <p:cNvGrpSpPr/>
        <p:nvPr/>
      </p:nvGrpSpPr>
      <p:grpSpPr>
        <a:xfrm>
          <a:off x="0" y="0"/>
          <a:ext cx="0" cy="0"/>
          <a:chOff x="0" y="0"/>
          <a:chExt cx="0" cy="0"/>
        </a:xfrm>
      </p:grpSpPr>
      <p:sp>
        <p:nvSpPr>
          <p:cNvPr id="265" name="Google Shape;265;p22"/>
          <p:cNvSpPr txBox="1"/>
          <p:nvPr/>
        </p:nvSpPr>
        <p:spPr>
          <a:xfrm>
            <a:off x="762000" y="571500"/>
            <a:ext cx="10668000" cy="1238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4200" b="1">
                <a:solidFill>
                  <a:srgbClr val="FFFFFF"/>
                </a:solidFill>
                <a:latin typeface="Calibri"/>
                <a:ea typeface="Calibri"/>
                <a:cs typeface="Calibri"/>
                <a:sym typeface="Calibri"/>
              </a:rPr>
              <a:t>Get started today</a:t>
            </a:r>
            <a:endParaRPr sz="4200" b="1">
              <a:solidFill>
                <a:srgbClr val="FFFFFF"/>
              </a:solidFill>
              <a:latin typeface="Calibri"/>
              <a:ea typeface="Calibri"/>
              <a:cs typeface="Calibri"/>
              <a:sym typeface="Calibri"/>
            </a:endParaRPr>
          </a:p>
          <a:p>
            <a:pPr marL="0" lvl="0" indent="0" algn="ctr" rtl="0">
              <a:spcBef>
                <a:spcPts val="750"/>
              </a:spcBef>
              <a:spcAft>
                <a:spcPts val="0"/>
              </a:spcAft>
              <a:buNone/>
            </a:pPr>
            <a:r>
              <a:rPr lang="en-US" sz="2200" b="0">
                <a:solidFill>
                  <a:srgbClr val="E0F4F9"/>
                </a:solidFill>
                <a:latin typeface="Calibri"/>
                <a:ea typeface="Calibri"/>
                <a:cs typeface="Calibri"/>
                <a:sym typeface="Calibri"/>
              </a:rPr>
              <a:t>getdashbud.com</a:t>
            </a:r>
            <a:endParaRPr sz="2200" b="0">
              <a:solidFill>
                <a:srgbClr val="E0F4F9"/>
              </a:solidFill>
              <a:latin typeface="Calibri"/>
              <a:ea typeface="Calibri"/>
              <a:cs typeface="Calibri"/>
              <a:sym typeface="Calibri"/>
            </a:endParaRPr>
          </a:p>
        </p:txBody>
      </p:sp>
      <p:grpSp>
        <p:nvGrpSpPr>
          <p:cNvPr id="266" name="Google Shape;266;p22"/>
          <p:cNvGrpSpPr/>
          <p:nvPr/>
        </p:nvGrpSpPr>
        <p:grpSpPr>
          <a:xfrm>
            <a:off x="762000" y="2286000"/>
            <a:ext cx="3238500" cy="2286000"/>
            <a:chOff x="0" y="0"/>
            <a:chExt cx="3238500" cy="2286000"/>
          </a:xfrm>
        </p:grpSpPr>
        <p:sp>
          <p:nvSpPr>
            <p:cNvPr id="267" name="Google Shape;267;p22"/>
            <p:cNvSpPr/>
            <p:nvPr/>
          </p:nvSpPr>
          <p:spPr>
            <a:xfrm>
              <a:off x="0" y="0"/>
              <a:ext cx="3238500" cy="2286000"/>
            </a:xfrm>
            <a:prstGeom prst="roundRect">
              <a:avLst>
                <a:gd name="adj" fmla="val 5000"/>
              </a:avLst>
            </a:prstGeom>
            <a:solidFill>
              <a:srgbClr val="00465C"/>
            </a:solidFill>
            <a:ln w="14300" cap="flat" cmpd="sng">
              <a:solidFill>
                <a:srgbClr val="007BA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8" name="Google Shape;268;p22"/>
            <p:cNvSpPr txBox="1"/>
            <p:nvPr/>
          </p:nvSpPr>
          <p:spPr>
            <a:xfrm>
              <a:off x="0" y="0"/>
              <a:ext cx="3238500" cy="2286000"/>
            </a:xfrm>
            <a:prstGeom prst="rect">
              <a:avLst/>
            </a:prstGeom>
            <a:noFill/>
            <a:ln>
              <a:noFill/>
            </a:ln>
          </p:spPr>
          <p:txBody>
            <a:bodyPr spcFirstLastPara="1" wrap="square" lIns="228600" tIns="285750" rIns="228600" bIns="285750" anchor="ctr" anchorCtr="0">
              <a:noAutofit/>
            </a:bodyPr>
            <a:lstStyle/>
            <a:p>
              <a:pPr marL="0" lvl="0" indent="0" algn="ctr" rtl="0">
                <a:spcBef>
                  <a:spcPts val="0"/>
                </a:spcBef>
                <a:spcAft>
                  <a:spcPts val="0"/>
                </a:spcAft>
                <a:buNone/>
              </a:pPr>
              <a:r>
                <a:rPr lang="en-US" sz="3600">
                  <a:solidFill>
                    <a:srgbClr val="E0F4F9"/>
                  </a:solidFill>
                  <a:latin typeface="Material Icons"/>
                  <a:ea typeface="Material Icons"/>
                  <a:cs typeface="Material Icons"/>
                  <a:sym typeface="Material Icons"/>
                </a:rPr>
                <a:t>rocket_launch</a:t>
              </a:r>
              <a:endParaRPr sz="3600">
                <a:solidFill>
                  <a:srgbClr val="E0F4F9"/>
                </a:solidFill>
                <a:latin typeface="Material Icons"/>
                <a:ea typeface="Material Icons"/>
                <a:cs typeface="Material Icons"/>
                <a:sym typeface="Material Icons"/>
              </a:endParaRPr>
            </a:p>
            <a:p>
              <a:pPr marL="0" lvl="0" indent="0" algn="ctr" rtl="0">
                <a:spcBef>
                  <a:spcPts val="1125"/>
                </a:spcBef>
                <a:spcAft>
                  <a:spcPts val="0"/>
                </a:spcAft>
                <a:buNone/>
              </a:pPr>
              <a:r>
                <a:rPr lang="en-US" sz="2000" b="1">
                  <a:solidFill>
                    <a:srgbClr val="FFFFFF"/>
                  </a:solidFill>
                  <a:latin typeface="Calibri"/>
                  <a:ea typeface="Calibri"/>
                  <a:cs typeface="Calibri"/>
                  <a:sym typeface="Calibri"/>
                </a:rPr>
                <a:t>Free Trial</a:t>
              </a:r>
              <a:endParaRPr sz="2000" b="1">
                <a:solidFill>
                  <a:srgbClr val="FFFFFF"/>
                </a:solidFill>
                <a:latin typeface="Calibri"/>
                <a:ea typeface="Calibri"/>
                <a:cs typeface="Calibri"/>
                <a:sym typeface="Calibri"/>
              </a:endParaRPr>
            </a:p>
            <a:p>
              <a:pPr marL="0" lvl="0" indent="0" algn="ctr" rtl="0">
                <a:spcBef>
                  <a:spcPts val="750"/>
                </a:spcBef>
                <a:spcAft>
                  <a:spcPts val="0"/>
                </a:spcAft>
                <a:buNone/>
              </a:pPr>
              <a:r>
                <a:rPr lang="en-US" sz="1300">
                  <a:solidFill>
                    <a:srgbClr val="80BBCE"/>
                  </a:solidFill>
                  <a:latin typeface="Calibri"/>
                  <a:ea typeface="Calibri"/>
                  <a:cs typeface="Calibri"/>
                  <a:sym typeface="Calibri"/>
                </a:rPr>
                <a:t>getdashbud.com/signup</a:t>
              </a:r>
              <a:endParaRPr sz="1300">
                <a:solidFill>
                  <a:srgbClr val="80BBCE"/>
                </a:solidFill>
                <a:latin typeface="Calibri"/>
                <a:ea typeface="Calibri"/>
                <a:cs typeface="Calibri"/>
                <a:sym typeface="Calibri"/>
              </a:endParaRPr>
            </a:p>
          </p:txBody>
        </p:sp>
      </p:grpSp>
      <p:grpSp>
        <p:nvGrpSpPr>
          <p:cNvPr id="269" name="Google Shape;269;p22"/>
          <p:cNvGrpSpPr/>
          <p:nvPr/>
        </p:nvGrpSpPr>
        <p:grpSpPr>
          <a:xfrm>
            <a:off x="4476750" y="2286000"/>
            <a:ext cx="3238500" cy="2286000"/>
            <a:chOff x="0" y="0"/>
            <a:chExt cx="3238500" cy="2286000"/>
          </a:xfrm>
        </p:grpSpPr>
        <p:sp>
          <p:nvSpPr>
            <p:cNvPr id="270" name="Google Shape;270;p22"/>
            <p:cNvSpPr/>
            <p:nvPr/>
          </p:nvSpPr>
          <p:spPr>
            <a:xfrm>
              <a:off x="0" y="0"/>
              <a:ext cx="3238500" cy="2286000"/>
            </a:xfrm>
            <a:prstGeom prst="roundRect">
              <a:avLst>
                <a:gd name="adj" fmla="val 5000"/>
              </a:avLst>
            </a:prstGeom>
            <a:solidFill>
              <a:srgbClr val="00465C"/>
            </a:solidFill>
            <a:ln w="14300" cap="flat" cmpd="sng">
              <a:solidFill>
                <a:srgbClr val="007BA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1" name="Google Shape;271;p22"/>
            <p:cNvSpPr txBox="1"/>
            <p:nvPr/>
          </p:nvSpPr>
          <p:spPr>
            <a:xfrm>
              <a:off x="0" y="0"/>
              <a:ext cx="3238500" cy="2286000"/>
            </a:xfrm>
            <a:prstGeom prst="rect">
              <a:avLst/>
            </a:prstGeom>
            <a:noFill/>
            <a:ln>
              <a:noFill/>
            </a:ln>
          </p:spPr>
          <p:txBody>
            <a:bodyPr spcFirstLastPara="1" wrap="square" lIns="228600" tIns="285750" rIns="228600" bIns="285750" anchor="ctr" anchorCtr="0">
              <a:noAutofit/>
            </a:bodyPr>
            <a:lstStyle/>
            <a:p>
              <a:pPr marL="0" lvl="0" indent="0" algn="ctr" rtl="0">
                <a:spcBef>
                  <a:spcPts val="0"/>
                </a:spcBef>
                <a:spcAft>
                  <a:spcPts val="0"/>
                </a:spcAft>
                <a:buNone/>
              </a:pPr>
              <a:r>
                <a:rPr lang="en-US" sz="3600">
                  <a:solidFill>
                    <a:srgbClr val="E0F4F9"/>
                  </a:solidFill>
                  <a:latin typeface="Material Icons"/>
                  <a:ea typeface="Material Icons"/>
                  <a:cs typeface="Material Icons"/>
                  <a:sym typeface="Material Icons"/>
                </a:rPr>
                <a:t>calendar_today</a:t>
              </a:r>
              <a:endParaRPr sz="3600">
                <a:solidFill>
                  <a:srgbClr val="E0F4F9"/>
                </a:solidFill>
                <a:latin typeface="Material Icons"/>
                <a:ea typeface="Material Icons"/>
                <a:cs typeface="Material Icons"/>
                <a:sym typeface="Material Icons"/>
              </a:endParaRPr>
            </a:p>
            <a:p>
              <a:pPr marL="0" lvl="0" indent="0" algn="ctr" rtl="0">
                <a:spcBef>
                  <a:spcPts val="1125"/>
                </a:spcBef>
                <a:spcAft>
                  <a:spcPts val="0"/>
                </a:spcAft>
                <a:buNone/>
              </a:pPr>
              <a:r>
                <a:rPr lang="en-US" sz="2000" b="1">
                  <a:solidFill>
                    <a:srgbClr val="FFFFFF"/>
                  </a:solidFill>
                  <a:latin typeface="Calibri"/>
                  <a:ea typeface="Calibri"/>
                  <a:cs typeface="Calibri"/>
                  <a:sym typeface="Calibri"/>
                </a:rPr>
                <a:t>Book a Demo</a:t>
              </a:r>
              <a:endParaRPr sz="2000" b="1">
                <a:solidFill>
                  <a:srgbClr val="FFFFFF"/>
                </a:solidFill>
                <a:latin typeface="Calibri"/>
                <a:ea typeface="Calibri"/>
                <a:cs typeface="Calibri"/>
                <a:sym typeface="Calibri"/>
              </a:endParaRPr>
            </a:p>
            <a:p>
              <a:pPr marL="0" lvl="0" indent="0" algn="ctr" rtl="0">
                <a:spcBef>
                  <a:spcPts val="750"/>
                </a:spcBef>
                <a:spcAft>
                  <a:spcPts val="0"/>
                </a:spcAft>
                <a:buNone/>
              </a:pPr>
              <a:r>
                <a:rPr lang="en-US" sz="1150">
                  <a:solidFill>
                    <a:srgbClr val="80BBCE"/>
                  </a:solidFill>
                  <a:latin typeface="Calibri"/>
                  <a:ea typeface="Calibri"/>
                  <a:cs typeface="Calibri"/>
                  <a:sym typeface="Calibri"/>
                </a:rPr>
                <a:t>calendly.com/arthur-evolytix/</a:t>
              </a:r>
              <a:br>
                <a:rPr lang="en-US" sz="1150">
                  <a:solidFill>
                    <a:srgbClr val="80BBCE"/>
                  </a:solidFill>
                  <a:latin typeface="Calibri"/>
                  <a:ea typeface="Calibri"/>
                  <a:cs typeface="Calibri"/>
                  <a:sym typeface="Calibri"/>
                </a:rPr>
              </a:br>
              <a:r>
                <a:rPr lang="en-US" sz="1150">
                  <a:solidFill>
                    <a:srgbClr val="80BBCE"/>
                  </a:solidFill>
                  <a:latin typeface="Calibri"/>
                  <a:ea typeface="Calibri"/>
                  <a:cs typeface="Calibri"/>
                  <a:sym typeface="Calibri"/>
                </a:rPr>
                <a:t>dashbud-demo-and-setup</a:t>
              </a:r>
              <a:endParaRPr sz="1150">
                <a:solidFill>
                  <a:srgbClr val="80BBCE"/>
                </a:solidFill>
                <a:latin typeface="Calibri"/>
                <a:ea typeface="Calibri"/>
                <a:cs typeface="Calibri"/>
                <a:sym typeface="Calibri"/>
              </a:endParaRPr>
            </a:p>
          </p:txBody>
        </p:sp>
      </p:grpSp>
      <p:grpSp>
        <p:nvGrpSpPr>
          <p:cNvPr id="272" name="Google Shape;272;p22"/>
          <p:cNvGrpSpPr/>
          <p:nvPr/>
        </p:nvGrpSpPr>
        <p:grpSpPr>
          <a:xfrm>
            <a:off x="8191500" y="2286000"/>
            <a:ext cx="3238500" cy="2286000"/>
            <a:chOff x="0" y="0"/>
            <a:chExt cx="3238500" cy="2286000"/>
          </a:xfrm>
        </p:grpSpPr>
        <p:sp>
          <p:nvSpPr>
            <p:cNvPr id="273" name="Google Shape;273;p22"/>
            <p:cNvSpPr/>
            <p:nvPr/>
          </p:nvSpPr>
          <p:spPr>
            <a:xfrm>
              <a:off x="0" y="0"/>
              <a:ext cx="3238500" cy="2286000"/>
            </a:xfrm>
            <a:prstGeom prst="roundRect">
              <a:avLst>
                <a:gd name="adj" fmla="val 5000"/>
              </a:avLst>
            </a:prstGeom>
            <a:solidFill>
              <a:srgbClr val="00465C"/>
            </a:solidFill>
            <a:ln w="14300" cap="flat" cmpd="sng">
              <a:solidFill>
                <a:srgbClr val="007BA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4" name="Google Shape;274;p22"/>
            <p:cNvSpPr txBox="1"/>
            <p:nvPr/>
          </p:nvSpPr>
          <p:spPr>
            <a:xfrm>
              <a:off x="0" y="0"/>
              <a:ext cx="3238500" cy="2286000"/>
            </a:xfrm>
            <a:prstGeom prst="rect">
              <a:avLst/>
            </a:prstGeom>
            <a:noFill/>
            <a:ln>
              <a:noFill/>
            </a:ln>
          </p:spPr>
          <p:txBody>
            <a:bodyPr spcFirstLastPara="1" wrap="square" lIns="228600" tIns="285750" rIns="228600" bIns="285750" anchor="ctr" anchorCtr="0">
              <a:noAutofit/>
            </a:bodyPr>
            <a:lstStyle/>
            <a:p>
              <a:pPr marL="0" lvl="0" indent="0" algn="ctr" rtl="0">
                <a:spcBef>
                  <a:spcPts val="0"/>
                </a:spcBef>
                <a:spcAft>
                  <a:spcPts val="0"/>
                </a:spcAft>
                <a:buNone/>
              </a:pPr>
              <a:r>
                <a:rPr lang="en-US" sz="3600">
                  <a:solidFill>
                    <a:srgbClr val="E0F4F9"/>
                  </a:solidFill>
                  <a:latin typeface="Material Icons"/>
                  <a:ea typeface="Material Icons"/>
                  <a:cs typeface="Material Icons"/>
                  <a:sym typeface="Material Icons"/>
                </a:rPr>
                <a:t>mail</a:t>
              </a:r>
              <a:endParaRPr sz="3600">
                <a:solidFill>
                  <a:srgbClr val="E0F4F9"/>
                </a:solidFill>
                <a:latin typeface="Material Icons"/>
                <a:ea typeface="Material Icons"/>
                <a:cs typeface="Material Icons"/>
                <a:sym typeface="Material Icons"/>
              </a:endParaRPr>
            </a:p>
            <a:p>
              <a:pPr marL="0" lvl="0" indent="0" algn="ctr" rtl="0">
                <a:spcBef>
                  <a:spcPts val="1125"/>
                </a:spcBef>
                <a:spcAft>
                  <a:spcPts val="0"/>
                </a:spcAft>
                <a:buNone/>
              </a:pPr>
              <a:r>
                <a:rPr lang="en-US" sz="2000" b="1">
                  <a:solidFill>
                    <a:srgbClr val="FFFFFF"/>
                  </a:solidFill>
                  <a:latin typeface="Calibri"/>
                  <a:ea typeface="Calibri"/>
                  <a:cs typeface="Calibri"/>
                  <a:sym typeface="Calibri"/>
                </a:rPr>
                <a:t>Contact</a:t>
              </a:r>
              <a:endParaRPr sz="2000" b="1">
                <a:solidFill>
                  <a:srgbClr val="FFFFFF"/>
                </a:solidFill>
                <a:latin typeface="Calibri"/>
                <a:ea typeface="Calibri"/>
                <a:cs typeface="Calibri"/>
                <a:sym typeface="Calibri"/>
              </a:endParaRPr>
            </a:p>
            <a:p>
              <a:pPr marL="0" lvl="0" indent="0" algn="ctr" rtl="0">
                <a:spcBef>
                  <a:spcPts val="750"/>
                </a:spcBef>
                <a:spcAft>
                  <a:spcPts val="0"/>
                </a:spcAft>
                <a:buNone/>
              </a:pPr>
              <a:r>
                <a:rPr lang="en-US" sz="1300">
                  <a:solidFill>
                    <a:srgbClr val="80BBCE"/>
                  </a:solidFill>
                  <a:latin typeface="Calibri"/>
                  <a:ea typeface="Calibri"/>
                  <a:cs typeface="Calibri"/>
                  <a:sym typeface="Calibri"/>
                </a:rPr>
                <a:t>hello@mail.getdashbud.com</a:t>
              </a:r>
              <a:endParaRPr sz="1300">
                <a:solidFill>
                  <a:srgbClr val="80BBCE"/>
                </a:solidFill>
                <a:latin typeface="Calibri"/>
                <a:ea typeface="Calibri"/>
                <a:cs typeface="Calibri"/>
                <a:sym typeface="Calibri"/>
              </a:endParaRPr>
            </a:p>
          </p:txBody>
        </p:sp>
      </p:grpSp>
      <p:sp>
        <p:nvSpPr>
          <p:cNvPr id="275" name="Google Shape;275;p22"/>
          <p:cNvSpPr txBox="1"/>
          <p:nvPr/>
        </p:nvSpPr>
        <p:spPr>
          <a:xfrm>
            <a:off x="762000" y="4953000"/>
            <a:ext cx="10668000" cy="1333500"/>
          </a:xfrm>
          <a:prstGeom prst="rect">
            <a:avLst/>
          </a:prstGeom>
          <a:noFill/>
          <a:ln>
            <a:noFill/>
          </a:ln>
        </p:spPr>
        <p:txBody>
          <a:bodyPr spcFirstLastPara="1" wrap="square" lIns="381000" tIns="0" rIns="381000" bIns="0" anchor="ctr" anchorCtr="0">
            <a:noAutofit/>
          </a:bodyPr>
          <a:lstStyle/>
          <a:p>
            <a:pPr marL="0" lvl="0" indent="0" algn="ctr" rtl="0">
              <a:spcBef>
                <a:spcPts val="0"/>
              </a:spcBef>
              <a:spcAft>
                <a:spcPts val="0"/>
              </a:spcAft>
              <a:buNone/>
            </a:pPr>
            <a:r>
              <a:rPr lang="en-US" sz="1600" b="0" i="1">
                <a:solidFill>
                  <a:srgbClr val="E0F4F9"/>
                </a:solidFill>
                <a:latin typeface="Calibri"/>
                <a:ea typeface="Calibri"/>
                <a:cs typeface="Calibri"/>
                <a:sym typeface="Calibri"/>
              </a:rPr>
              <a:t>"If you've got data and you're spending too much time wrangling it into answers — that's what we built Dashbud for."</a:t>
            </a:r>
            <a:endParaRPr sz="1600" b="0" i="1">
              <a:solidFill>
                <a:srgbClr val="E0F4F9"/>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g38b88611d91_0_614"/>
          <p:cNvSpPr txBox="1"/>
          <p:nvPr/>
        </p:nvSpPr>
        <p:spPr>
          <a:xfrm>
            <a:off x="731520" y="274320"/>
            <a:ext cx="100584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11827"/>
                </a:solidFill>
                <a:latin typeface="Calibri"/>
                <a:ea typeface="Calibri"/>
                <a:cs typeface="Calibri"/>
                <a:sym typeface="Calibri"/>
              </a:rPr>
              <a:t>Start simple. Scale when ready.</a:t>
            </a:r>
            <a:endParaRPr/>
          </a:p>
        </p:txBody>
      </p:sp>
      <p:sp>
        <p:nvSpPr>
          <p:cNvPr id="162" name="Google Shape;162;g38b88611d91_0_614"/>
          <p:cNvSpPr txBox="1"/>
          <p:nvPr/>
        </p:nvSpPr>
        <p:spPr>
          <a:xfrm>
            <a:off x="731520" y="1188720"/>
            <a:ext cx="36576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007BA1"/>
                </a:solidFill>
                <a:latin typeface="Calibri"/>
                <a:ea typeface="Calibri"/>
                <a:cs typeface="Calibri"/>
                <a:sym typeface="Calibri"/>
              </a:rPr>
              <a:t>Start with one analysis</a:t>
            </a:r>
            <a:endParaRPr/>
          </a:p>
        </p:txBody>
      </p:sp>
      <p:sp>
        <p:nvSpPr>
          <p:cNvPr id="163" name="Google Shape;163;g38b88611d91_0_614"/>
          <p:cNvSpPr txBox="1"/>
          <p:nvPr/>
        </p:nvSpPr>
        <p:spPr>
          <a:xfrm>
            <a:off x="731520" y="1554480"/>
            <a:ext cx="100584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rgbClr val="6B7280"/>
                </a:solidFill>
                <a:latin typeface="Calibri"/>
                <a:ea typeface="Calibri"/>
                <a:cs typeface="Calibri"/>
                <a:sym typeface="Calibri"/>
              </a:rPr>
              <a:t>Upload a spreadsheet, ask a question, get a chart.</a:t>
            </a:r>
            <a:br>
              <a:rPr lang="en-US" sz="1600" b="0" i="0" u="none" strike="noStrike" cap="none">
                <a:solidFill>
                  <a:srgbClr val="6B7280"/>
                </a:solidFill>
                <a:latin typeface="Calibri"/>
                <a:ea typeface="Calibri"/>
                <a:cs typeface="Calibri"/>
                <a:sym typeface="Calibri"/>
              </a:rPr>
            </a:br>
            <a:r>
              <a:rPr lang="en-US" sz="1600" b="0" i="0" u="none" strike="noStrike" cap="none">
                <a:solidFill>
                  <a:srgbClr val="6B7280"/>
                </a:solidFill>
                <a:latin typeface="Calibri"/>
                <a:ea typeface="Calibri"/>
                <a:cs typeface="Calibri"/>
                <a:sym typeface="Calibri"/>
              </a:rPr>
              <a:t>Five minutes from signup to your first insight.</a:t>
            </a:r>
            <a:endParaRPr/>
          </a:p>
        </p:txBody>
      </p:sp>
      <p:sp>
        <p:nvSpPr>
          <p:cNvPr id="164" name="Google Shape;164;g38b88611d91_0_614"/>
          <p:cNvSpPr txBox="1"/>
          <p:nvPr/>
        </p:nvSpPr>
        <p:spPr>
          <a:xfrm>
            <a:off x="731520" y="2560320"/>
            <a:ext cx="36576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007BA1"/>
                </a:solidFill>
                <a:latin typeface="Calibri"/>
                <a:ea typeface="Calibri"/>
                <a:cs typeface="Calibri"/>
                <a:sym typeface="Calibri"/>
              </a:rPr>
              <a:t>Share your work — free</a:t>
            </a:r>
            <a:endParaRPr/>
          </a:p>
        </p:txBody>
      </p:sp>
      <p:sp>
        <p:nvSpPr>
          <p:cNvPr id="165" name="Google Shape;165;g38b88611d91_0_614"/>
          <p:cNvSpPr txBox="1"/>
          <p:nvPr/>
        </p:nvSpPr>
        <p:spPr>
          <a:xfrm>
            <a:off x="731520" y="2926079"/>
            <a:ext cx="100584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rgbClr val="6B7280"/>
                </a:solidFill>
                <a:latin typeface="Calibri"/>
                <a:ea typeface="Calibri"/>
                <a:cs typeface="Calibri"/>
                <a:sym typeface="Calibri"/>
              </a:rPr>
              <a:t>Read-only dashboard access is free. Your stakeholders</a:t>
            </a:r>
            <a:br>
              <a:rPr lang="en-US" sz="1600" b="0" i="0" u="none" strike="noStrike" cap="none">
                <a:solidFill>
                  <a:srgbClr val="6B7280"/>
                </a:solidFill>
                <a:latin typeface="Calibri"/>
                <a:ea typeface="Calibri"/>
                <a:cs typeface="Calibri"/>
                <a:sym typeface="Calibri"/>
              </a:rPr>
            </a:br>
            <a:r>
              <a:rPr lang="en-US" sz="1600" b="0" i="0" u="none" strike="noStrike" cap="none">
                <a:solidFill>
                  <a:srgbClr val="6B7280"/>
                </a:solidFill>
                <a:latin typeface="Calibri"/>
                <a:ea typeface="Calibri"/>
                <a:cs typeface="Calibri"/>
                <a:sym typeface="Calibri"/>
              </a:rPr>
              <a:t>don't need to learn the tool — they just see the results.</a:t>
            </a:r>
            <a:endParaRPr/>
          </a:p>
        </p:txBody>
      </p:sp>
      <p:sp>
        <p:nvSpPr>
          <p:cNvPr id="166" name="Google Shape;166;g38b88611d91_0_614"/>
          <p:cNvSpPr txBox="1"/>
          <p:nvPr/>
        </p:nvSpPr>
        <p:spPr>
          <a:xfrm>
            <a:off x="731520" y="3931920"/>
            <a:ext cx="36576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007BA1"/>
                </a:solidFill>
                <a:latin typeface="Calibri"/>
                <a:ea typeface="Calibri"/>
                <a:cs typeface="Calibri"/>
                <a:sym typeface="Calibri"/>
              </a:rPr>
              <a:t>Scale with your team</a:t>
            </a:r>
            <a:endParaRPr/>
          </a:p>
        </p:txBody>
      </p:sp>
      <p:sp>
        <p:nvSpPr>
          <p:cNvPr id="167" name="Google Shape;167;g38b88611d91_0_614"/>
          <p:cNvSpPr txBox="1"/>
          <p:nvPr/>
        </p:nvSpPr>
        <p:spPr>
          <a:xfrm>
            <a:off x="731520" y="4297680"/>
            <a:ext cx="100584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rgbClr val="6B7280"/>
                </a:solidFill>
                <a:latin typeface="Calibri"/>
                <a:ea typeface="Calibri"/>
                <a:cs typeface="Calibri"/>
                <a:sym typeface="Calibri"/>
              </a:rPr>
              <a:t>Add data sources. Build workspaces for different teams.</a:t>
            </a:r>
            <a:br>
              <a:rPr lang="en-US" sz="1600" b="0" i="0" u="none" strike="noStrike" cap="none">
                <a:solidFill>
                  <a:srgbClr val="6B7280"/>
                </a:solidFill>
                <a:latin typeface="Calibri"/>
                <a:ea typeface="Calibri"/>
                <a:cs typeface="Calibri"/>
                <a:sym typeface="Calibri"/>
              </a:rPr>
            </a:br>
            <a:r>
              <a:rPr lang="en-US" sz="1600" b="0" i="0" u="none" strike="noStrike" cap="none">
                <a:solidFill>
                  <a:srgbClr val="6B7280"/>
                </a:solidFill>
                <a:latin typeface="Calibri"/>
                <a:ea typeface="Calibri"/>
                <a:cs typeface="Calibri"/>
                <a:sym typeface="Calibri"/>
              </a:rPr>
              <a:t>Clone a data model without starting over.</a:t>
            </a:r>
            <a:br>
              <a:rPr lang="en-US" sz="1600" b="0" i="0" u="none" strike="noStrike" cap="none">
                <a:solidFill>
                  <a:srgbClr val="6B7280"/>
                </a:solidFill>
                <a:latin typeface="Calibri"/>
                <a:ea typeface="Calibri"/>
                <a:cs typeface="Calibri"/>
                <a:sym typeface="Calibri"/>
              </a:rPr>
            </a:br>
            <a:r>
              <a:rPr lang="en-US" sz="1600" b="0" i="0" u="none" strike="noStrike" cap="none">
                <a:solidFill>
                  <a:srgbClr val="6B7280"/>
                </a:solidFill>
                <a:latin typeface="Calibri"/>
                <a:ea typeface="Calibri"/>
                <a:cs typeface="Calibri"/>
                <a:sym typeface="Calibri"/>
              </a:rPr>
              <a:t>Everyone gets the right access.</a:t>
            </a:r>
            <a:endParaRPr/>
          </a:p>
        </p:txBody>
      </p:sp>
      <p:sp>
        <p:nvSpPr>
          <p:cNvPr id="168" name="Google Shape;168;g38b88611d91_0_614"/>
          <p:cNvSpPr txBox="1"/>
          <p:nvPr/>
        </p:nvSpPr>
        <p:spPr>
          <a:xfrm>
            <a:off x="731520" y="5303520"/>
            <a:ext cx="36576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007BA1"/>
                </a:solidFill>
                <a:latin typeface="Calibri"/>
                <a:ea typeface="Calibri"/>
                <a:cs typeface="Calibri"/>
                <a:sym typeface="Calibri"/>
              </a:rPr>
              <a:t>Non-technical people get real answers</a:t>
            </a:r>
            <a:endParaRPr/>
          </a:p>
        </p:txBody>
      </p:sp>
      <p:sp>
        <p:nvSpPr>
          <p:cNvPr id="169" name="Google Shape;169;g38b88611d91_0_614"/>
          <p:cNvSpPr txBox="1"/>
          <p:nvPr/>
        </p:nvSpPr>
        <p:spPr>
          <a:xfrm>
            <a:off x="731520" y="5669280"/>
            <a:ext cx="100584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rgbClr val="6B7280"/>
                </a:solidFill>
                <a:latin typeface="Calibri"/>
                <a:ea typeface="Calibri"/>
                <a:cs typeface="Calibri"/>
                <a:sym typeface="Calibri"/>
              </a:rPr>
              <a:t>Dashbud's semantic model means the AI understands your</a:t>
            </a:r>
            <a:br>
              <a:rPr lang="en-US" sz="1600" b="0" i="0" u="none" strike="noStrike" cap="none">
                <a:solidFill>
                  <a:srgbClr val="6B7280"/>
                </a:solidFill>
                <a:latin typeface="Calibri"/>
                <a:ea typeface="Calibri"/>
                <a:cs typeface="Calibri"/>
                <a:sym typeface="Calibri"/>
              </a:rPr>
            </a:br>
            <a:r>
              <a:rPr lang="en-US" sz="1600" b="0" i="0" u="none" strike="noStrike" cap="none">
                <a:solidFill>
                  <a:srgbClr val="6B7280"/>
                </a:solidFill>
                <a:latin typeface="Calibri"/>
                <a:ea typeface="Calibri"/>
                <a:cs typeface="Calibri"/>
                <a:sym typeface="Calibri"/>
              </a:rPr>
              <a:t>business context. Anyone can ask questions in plain English</a:t>
            </a:r>
            <a:br>
              <a:rPr lang="en-US" sz="1600" b="0" i="0" u="none" strike="noStrike" cap="none">
                <a:solidFill>
                  <a:srgbClr val="6B7280"/>
                </a:solidFill>
                <a:latin typeface="Calibri"/>
                <a:ea typeface="Calibri"/>
                <a:cs typeface="Calibri"/>
                <a:sym typeface="Calibri"/>
              </a:rPr>
            </a:br>
            <a:r>
              <a:rPr lang="en-US" sz="1600" b="0" i="0" u="none" strike="noStrike" cap="none">
                <a:solidFill>
                  <a:srgbClr val="6B7280"/>
                </a:solidFill>
                <a:latin typeface="Calibri"/>
                <a:ea typeface="Calibri"/>
                <a:cs typeface="Calibri"/>
                <a:sym typeface="Calibri"/>
              </a:rPr>
              <a:t>and get accurate, trustworthy answers.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0"/>
          <p:cNvSpPr txBox="1"/>
          <p:nvPr/>
        </p:nvSpPr>
        <p:spPr>
          <a:xfrm>
            <a:off x="731520" y="274320"/>
            <a:ext cx="10058400"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11827"/>
                </a:solidFill>
                <a:latin typeface="Calibri"/>
                <a:ea typeface="Calibri"/>
                <a:cs typeface="Calibri"/>
                <a:sym typeface="Calibri"/>
              </a:rPr>
              <a:t>What you're NOT giving up</a:t>
            </a:r>
            <a:endParaRPr/>
          </a:p>
        </p:txBody>
      </p:sp>
      <p:sp>
        <p:nvSpPr>
          <p:cNvPr id="175" name="Google Shape;175;p10"/>
          <p:cNvSpPr txBox="1"/>
          <p:nvPr/>
        </p:nvSpPr>
        <p:spPr>
          <a:xfrm>
            <a:off x="731520" y="1371600"/>
            <a:ext cx="9144000"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0" i="0" u="none" strike="noStrike" cap="none">
                <a:solidFill>
                  <a:srgbClr val="111827"/>
                </a:solidFill>
                <a:latin typeface="Calibri"/>
                <a:ea typeface="Calibri"/>
                <a:cs typeface="Calibri"/>
                <a:sym typeface="Calibri"/>
              </a:rPr>
              <a:t>❌  You're NOT replacing your ERP, CRM, or any existing system</a:t>
            </a:r>
            <a:endParaRPr/>
          </a:p>
          <a:p>
            <a:pPr marL="0" marR="0" lvl="0" indent="0" algn="l" rtl="0">
              <a:spcBef>
                <a:spcPts val="1800"/>
              </a:spcBef>
              <a:spcAft>
                <a:spcPts val="0"/>
              </a:spcAft>
              <a:buNone/>
            </a:pPr>
            <a:r>
              <a:rPr lang="en-US" sz="2200" b="0" i="0" u="none" strike="noStrike" cap="none">
                <a:solidFill>
                  <a:srgbClr val="111827"/>
                </a:solidFill>
                <a:latin typeface="Calibri"/>
                <a:ea typeface="Calibri"/>
                <a:cs typeface="Calibri"/>
                <a:sym typeface="Calibri"/>
              </a:rPr>
              <a:t>❌  You're NOT learning SQL or a new query language</a:t>
            </a:r>
            <a:endParaRPr/>
          </a:p>
          <a:p>
            <a:pPr marL="0" marR="0" lvl="0" indent="0" algn="l" rtl="0">
              <a:spcBef>
                <a:spcPts val="1800"/>
              </a:spcBef>
              <a:spcAft>
                <a:spcPts val="0"/>
              </a:spcAft>
              <a:buNone/>
            </a:pPr>
            <a:r>
              <a:rPr lang="en-US" sz="2200" b="0" i="0" u="none" strike="noStrike" cap="none">
                <a:solidFill>
                  <a:srgbClr val="111827"/>
                </a:solidFill>
                <a:latin typeface="Calibri"/>
                <a:ea typeface="Calibri"/>
                <a:cs typeface="Calibri"/>
                <a:sym typeface="Calibri"/>
              </a:rPr>
              <a:t>❌  You're NOT hiring a data team</a:t>
            </a:r>
            <a:endParaRPr/>
          </a:p>
          <a:p>
            <a:pPr marL="0" marR="0" lvl="0" indent="0" algn="l" rtl="0">
              <a:spcBef>
                <a:spcPts val="1800"/>
              </a:spcBef>
              <a:spcAft>
                <a:spcPts val="0"/>
              </a:spcAft>
              <a:buNone/>
            </a:pPr>
            <a:r>
              <a:rPr lang="en-US" sz="2200" b="0" i="0" u="none" strike="noStrike" cap="none">
                <a:solidFill>
                  <a:srgbClr val="111827"/>
                </a:solidFill>
                <a:latin typeface="Calibri"/>
                <a:ea typeface="Calibri"/>
                <a:cs typeface="Calibri"/>
                <a:sym typeface="Calibri"/>
              </a:rPr>
              <a:t>❌  You're NOT building a data warehouse</a:t>
            </a:r>
            <a:endParaRPr/>
          </a:p>
          <a:p>
            <a:pPr marL="0" marR="0" lvl="0" indent="0" algn="l" rtl="0">
              <a:spcBef>
                <a:spcPts val="1800"/>
              </a:spcBef>
              <a:spcAft>
                <a:spcPts val="0"/>
              </a:spcAft>
              <a:buNone/>
            </a:pPr>
            <a:r>
              <a:rPr lang="en-US" sz="2200" b="0" i="0" u="none" strike="noStrike" cap="none">
                <a:solidFill>
                  <a:srgbClr val="111827"/>
                </a:solidFill>
                <a:latin typeface="Calibri"/>
                <a:ea typeface="Calibri"/>
                <a:cs typeface="Calibri"/>
                <a:sym typeface="Calibri"/>
              </a:rPr>
              <a:t>❌  You're NOT committing to a six-month implementation</a:t>
            </a:r>
            <a:endParaRPr/>
          </a:p>
        </p:txBody>
      </p:sp>
      <p:sp>
        <p:nvSpPr>
          <p:cNvPr id="176" name="Google Shape;176;p10"/>
          <p:cNvSpPr txBox="1"/>
          <p:nvPr/>
        </p:nvSpPr>
        <p:spPr>
          <a:xfrm>
            <a:off x="731520" y="5029200"/>
            <a:ext cx="9144000"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007BA1"/>
                </a:solidFill>
                <a:latin typeface="Calibri"/>
                <a:ea typeface="Calibri"/>
                <a:cs typeface="Calibri"/>
                <a:sym typeface="Calibri"/>
              </a:rPr>
              <a:t>Most teams are up and running in days.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TotalTime>
  <Words>1764</Words>
  <Application>Microsoft Macintosh PowerPoint</Application>
  <PresentationFormat>Widescreen</PresentationFormat>
  <Paragraphs>183</Paragraphs>
  <Slides>26</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Inter</vt:lpstr>
      <vt:lpstr>Calibri</vt:lpstr>
      <vt:lpstr>Arial</vt:lpstr>
      <vt:lpstr>Wingdings</vt:lpstr>
      <vt:lpstr>Material Icons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Arthur Dobelis</cp:lastModifiedBy>
  <cp:revision>6</cp:revision>
  <dcterms:created xsi:type="dcterms:W3CDTF">2013-01-27T09:14:16Z</dcterms:created>
  <dcterms:modified xsi:type="dcterms:W3CDTF">2026-07-22T15:25:37Z</dcterms:modified>
</cp:coreProperties>
</file>